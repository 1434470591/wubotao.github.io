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handoutMasterIdLst>
    <p:handoutMasterId r:id="rId13"/>
  </p:handoutMasterIdLst>
  <p:sldIdLst>
    <p:sldId id="256" r:id="rId3"/>
    <p:sldId id="257" r:id="rId5"/>
    <p:sldId id="258" r:id="rId6"/>
    <p:sldId id="259" r:id="rId7"/>
    <p:sldId id="263" r:id="rId8"/>
    <p:sldId id="264" r:id="rId9"/>
    <p:sldId id="260" r:id="rId10"/>
    <p:sldId id="262" r:id="rId11"/>
    <p:sldId id="261" r:id="rId12"/>
  </p:sldIdLst>
  <p:sldSz cx="12192000" cy="6858000"/>
  <p:notesSz cx="7103745" cy="10234295"/>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B2B2B2"/>
    <a:srgbClr val="202020"/>
    <a:srgbClr val="323232"/>
    <a:srgbClr val="CC3300"/>
    <a:srgbClr val="CC0000"/>
    <a:srgbClr val="FF3300"/>
    <a:srgbClr val="990000"/>
    <a:srgbClr val="FF8D41"/>
    <a:srgbClr val="FF66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480" autoAdjust="0"/>
    <p:restoredTop sz="86374"/>
  </p:normalViewPr>
  <p:slideViewPr>
    <p:cSldViewPr snapToGrid="0" showGuides="1">
      <p:cViewPr varScale="1">
        <p:scale>
          <a:sx n="127" d="100"/>
          <a:sy n="127" d="100"/>
        </p:scale>
        <p:origin x="1952" y="184"/>
      </p:cViewPr>
      <p:guideLst>
        <p:guide orient="horz" pos="2160"/>
        <p:guide pos="3840"/>
      </p:guideLst>
    </p:cSldViewPr>
  </p:slideViewPr>
  <p:outlineViewPr>
    <p:cViewPr>
      <p:scale>
        <a:sx n="33" d="100"/>
        <a:sy n="33" d="100"/>
      </p:scale>
      <p:origin x="0" y="0"/>
    </p:cViewPr>
  </p:outlineViewPr>
  <p:notesTextViewPr>
    <p:cViewPr>
      <p:scale>
        <a:sx n="3" d="2"/>
        <a:sy n="3" d="2"/>
      </p:scale>
      <p:origin x="0" y="0"/>
    </p:cViewPr>
  </p:notesTextViewPr>
  <p:gridSpacing cx="72000" cy="720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6" Type="http://schemas.openxmlformats.org/officeDocument/2006/relationships/tableStyles" Target="tableStyles.xml"/><Relationship Id="rId15" Type="http://schemas.openxmlformats.org/officeDocument/2006/relationships/viewProps" Target="viewProps.xml"/><Relationship Id="rId14" Type="http://schemas.openxmlformats.org/officeDocument/2006/relationships/presProps" Target="presProps.xml"/><Relationship Id="rId13" Type="http://schemas.openxmlformats.org/officeDocument/2006/relationships/handoutMaster" Target="handoutMasters/handoutMaster1.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8290" cy="513492"/>
          </a:xfrm>
          <a:prstGeom prst="rect">
            <a:avLst/>
          </a:prstGeom>
        </p:spPr>
        <p:txBody>
          <a:bodyPr vert="horz" lIns="91440" tIns="45720" rIns="91440" bIns="45720" rtlCol="0"/>
          <a:lstStyle>
            <a:lvl1pPr algn="l">
              <a:defRPr sz="1245"/>
            </a:lvl1pPr>
          </a:lstStyle>
          <a:p>
            <a:endParaRPr lang="zh-CN" altLang="en-US"/>
          </a:p>
        </p:txBody>
      </p:sp>
      <p:sp>
        <p:nvSpPr>
          <p:cNvPr id="3" name="日期占位符 2"/>
          <p:cNvSpPr>
            <a:spLocks noGrp="1"/>
          </p:cNvSpPr>
          <p:nvPr>
            <p:ph type="dt" sz="quarter" idx="1"/>
          </p:nvPr>
        </p:nvSpPr>
        <p:spPr>
          <a:xfrm>
            <a:off x="4023812" y="0"/>
            <a:ext cx="3078290" cy="513492"/>
          </a:xfrm>
          <a:prstGeom prst="rect">
            <a:avLst/>
          </a:prstGeom>
        </p:spPr>
        <p:txBody>
          <a:bodyPr vert="horz" lIns="91440" tIns="45720" rIns="91440" bIns="45720" rtlCol="0"/>
          <a:lstStyle>
            <a:lvl1pPr algn="r">
              <a:defRPr sz="1245"/>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9720804"/>
            <a:ext cx="3078290" cy="513491"/>
          </a:xfrm>
          <a:prstGeom prst="rect">
            <a:avLst/>
          </a:prstGeom>
        </p:spPr>
        <p:txBody>
          <a:bodyPr vert="horz" lIns="91440" tIns="45720" rIns="91440" bIns="45720" rtlCol="0" anchor="b"/>
          <a:lstStyle>
            <a:lvl1pPr algn="l">
              <a:defRPr sz="1245"/>
            </a:lvl1pPr>
          </a:lstStyle>
          <a:p>
            <a:endParaRPr lang="zh-CN" altLang="en-US"/>
          </a:p>
        </p:txBody>
      </p:sp>
      <p:sp>
        <p:nvSpPr>
          <p:cNvPr id="5" name="灯片编号占位符 4"/>
          <p:cNvSpPr>
            <a:spLocks noGrp="1"/>
          </p:cNvSpPr>
          <p:nvPr>
            <p:ph type="sldNum" sz="quarter" idx="3"/>
          </p:nvPr>
        </p:nvSpPr>
        <p:spPr>
          <a:xfrm>
            <a:off x="4023812" y="9720804"/>
            <a:ext cx="3078290" cy="513491"/>
          </a:xfrm>
          <a:prstGeom prst="rect">
            <a:avLst/>
          </a:prstGeom>
        </p:spPr>
        <p:txBody>
          <a:bodyPr vert="horz" lIns="91440" tIns="45720" rIns="91440" bIns="45720" rtlCol="0" anchor="b"/>
          <a:lstStyle>
            <a:lvl1pPr algn="r">
              <a:defRPr sz="1245"/>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8163" cy="512763"/>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4024313" y="0"/>
            <a:ext cx="3078162" cy="512763"/>
          </a:xfrm>
          <a:prstGeom prst="rect">
            <a:avLst/>
          </a:prstGeom>
        </p:spPr>
        <p:txBody>
          <a:bodyPr vert="horz" lIns="91440" tIns="45720" rIns="91440" bIns="45720" rtlCol="0"/>
          <a:lstStyle>
            <a:lvl1pPr algn="r">
              <a:defRPr sz="1200"/>
            </a:lvl1pPr>
          </a:lstStyle>
          <a:p>
            <a:fld id="{D6C8D182-E4C8-4120-9249-FC9774456FF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482600" y="1279525"/>
            <a:ext cx="6140450" cy="34544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711200" y="4926013"/>
            <a:ext cx="5683250" cy="4029075"/>
          </a:xfrm>
          <a:prstGeom prst="rect">
            <a:avLst/>
          </a:prstGeom>
        </p:spPr>
        <p:txBody>
          <a:bodyPr vert="horz" lIns="91440" tIns="45720" rIns="91440" bIns="45720" rtlCol="0"/>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9721850"/>
            <a:ext cx="3078163" cy="512763"/>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4024313" y="9721850"/>
            <a:ext cx="3078162" cy="512763"/>
          </a:xfrm>
          <a:prstGeom prst="rect">
            <a:avLst/>
          </a:prstGeom>
        </p:spPr>
        <p:txBody>
          <a:bodyPr vert="horz" lIns="91440" tIns="45720" rIns="91440" bIns="45720" rtlCol="0" anchor="b"/>
          <a:lstStyle>
            <a:lvl1pPr algn="r">
              <a:defRPr sz="1200"/>
            </a:lvl1pPr>
          </a:lstStyle>
          <a:p>
            <a:fld id="{85D0DACE-38E0-42D2-9336-2B707D34BC6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a:p>
        </p:txBody>
      </p:sp>
      <p:sp>
        <p:nvSpPr>
          <p:cNvPr id="4" name="灯片编号占位符 3"/>
          <p:cNvSpPr>
            <a:spLocks noGrp="1"/>
          </p:cNvSpPr>
          <p:nvPr>
            <p:ph type="sldNum" sz="quarter" idx="5"/>
          </p:nvPr>
        </p:nvSpPr>
        <p:spPr/>
        <p:txBody>
          <a:bodyPr/>
          <a:lstStyle/>
          <a:p>
            <a:fld id="{85D0DACE-38E0-42D2-9336-2B707D34BC6D}"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循环维纳滤波器 (Cyclic Wiener Filter)：特指无约束的、完全最优的 FRESH 滤波器。这意味着它包含了所有可能有用的频率搬移量（理论上可能需要无穷多个分支 $N, M \to \infty$），并且每个分支的滤波器 $A_m(f)$ 都是通过解公式 (16) 得到的理想传递函数。只有达到这个理论极限，才配称为“循环维纳滤波器”。受限最优 FRESH 滤波器 (Constrained optimum FRESH filter)：在实际工程中，我们不可能实现无穷多个分支。当我们人为通过硬件或算力限制，只选择有限个频率搬移量（例如只取 $\alpha = 0$ 和 $\alpha = 1/T_o$），或者限制滤波器为有限长（FIR）时，这种滤波器虽然在其约束条件下也是“最优”的，但它不应被称为循环维纳滤波器，而只能叫“受限最优 FRESH 滤波器”。</a:t>
            </a:r>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hasCustomPrompt="1"/>
          </p:nvPr>
        </p:nvSpPr>
        <p:spPr>
          <a:xfrm>
            <a:off x="1524000" y="1322962"/>
            <a:ext cx="9144000" cy="2187001"/>
          </a:xfrm>
        </p:spPr>
        <p:txBody>
          <a:bodyPr anchor="b">
            <a:normAutofit/>
          </a:bodyPr>
          <a:lstStyle>
            <a:lvl1pPr algn="ctr">
              <a:lnSpc>
                <a:spcPct val="130000"/>
              </a:lnSpc>
              <a:defRPr sz="6000">
                <a:effectLst/>
              </a:defRPr>
            </a:lvl1pPr>
          </a:lstStyle>
          <a:p>
            <a:r>
              <a:rPr lang="zh-CN" altLang="en-US" dirty="0"/>
              <a:t>单击此处添加标题</a:t>
            </a:r>
            <a:endParaRPr lang="zh-CN" altLang="en-US" dirty="0"/>
          </a:p>
        </p:txBody>
      </p:sp>
      <p:sp>
        <p:nvSpPr>
          <p:cNvPr id="4" name="日期占位符 3"/>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9AE70B2-8BF9-45C0-BB95-33D1B9D3A854}" type="slidenum">
              <a:rPr lang="zh-CN" altLang="en-US" smtClean="0"/>
            </a:fld>
            <a:endParaRPr lang="zh-CN" altLang="en-US"/>
          </a:p>
        </p:txBody>
      </p:sp>
      <p:sp>
        <p:nvSpPr>
          <p:cNvPr id="3" name="副标题 2"/>
          <p:cNvSpPr>
            <a:spLocks noGrp="1"/>
          </p:cNvSpPr>
          <p:nvPr>
            <p:ph type="subTitle" idx="1" hasCustomPrompt="1"/>
          </p:nvPr>
        </p:nvSpPr>
        <p:spPr>
          <a:xfrm>
            <a:off x="1524000" y="3602038"/>
            <a:ext cx="9144000" cy="1655762"/>
          </a:xfrm>
        </p:spPr>
        <p:txBody>
          <a:bodyPr>
            <a:normAutofit/>
          </a:bodyPr>
          <a:lstStyle>
            <a:lvl1pPr marL="0" indent="0" algn="ctr">
              <a:buNone/>
              <a:defRPr sz="2400">
                <a:solidFill>
                  <a:schemeClr val="tx1">
                    <a:lumMod val="75000"/>
                    <a:lumOff val="25000"/>
                  </a:schemeClr>
                </a:solidFill>
                <a:effectLst/>
                <a:latin typeface="+mn-ea"/>
                <a:ea typeface="+mn-ea"/>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单击此处添加副标题</a:t>
            </a:r>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47700" y="258445"/>
            <a:ext cx="10515600" cy="1325563"/>
          </a:xfrm>
        </p:spPr>
        <p:txBody>
          <a:bodyPr anchor="ctr" anchorCtr="0">
            <a:normAutofit/>
          </a:bodyPr>
          <a:lstStyle>
            <a:lvl1pPr>
              <a:defRPr sz="4400" b="0">
                <a:effectLst/>
              </a:defRPr>
            </a:lvl1pPr>
          </a:lstStyle>
          <a:p>
            <a:r>
              <a:rPr lang="zh-CN" altLang="en-US" dirty="0"/>
              <a:t>单击此处编辑母版标题样式</a:t>
            </a:r>
            <a:endParaRPr lang="zh-CN" altLang="en-US" dirty="0"/>
          </a:p>
        </p:txBody>
      </p:sp>
      <p:sp>
        <p:nvSpPr>
          <p:cNvPr id="3" name="内容占位符 2"/>
          <p:cNvSpPr>
            <a:spLocks noGrp="1"/>
          </p:cNvSpPr>
          <p:nvPr>
            <p:ph idx="1"/>
          </p:nvPr>
        </p:nvSpPr>
        <p:spPr>
          <a:xfrm>
            <a:off x="647700" y="1825625"/>
            <a:ext cx="10515600" cy="4351338"/>
          </a:xfrm>
        </p:spPr>
        <p:txBody>
          <a:bodyPr>
            <a:normAutofit/>
          </a:bodyPr>
          <a:lstStyle>
            <a:lvl1pPr>
              <a:defRPr sz="2800">
                <a:solidFill>
                  <a:schemeClr val="tx1">
                    <a:lumMod val="75000"/>
                    <a:lumOff val="25000"/>
                  </a:schemeClr>
                </a:solidFill>
              </a:defRPr>
            </a:lvl1pPr>
            <a:lvl2pPr>
              <a:defRPr sz="2400">
                <a:solidFill>
                  <a:schemeClr val="tx1">
                    <a:lumMod val="75000"/>
                    <a:lumOff val="25000"/>
                  </a:schemeClr>
                </a:solidFill>
              </a:defRPr>
            </a:lvl2pPr>
            <a:lvl3pPr>
              <a:defRPr sz="2000">
                <a:solidFill>
                  <a:schemeClr val="tx1">
                    <a:lumMod val="75000"/>
                    <a:lumOff val="25000"/>
                  </a:schemeClr>
                </a:solidFill>
              </a:defRPr>
            </a:lvl3pPr>
            <a:lvl4pPr>
              <a:defRPr sz="1800">
                <a:solidFill>
                  <a:schemeClr val="tx1">
                    <a:lumMod val="75000"/>
                    <a:lumOff val="25000"/>
                  </a:schemeClr>
                </a:solidFill>
              </a:defRPr>
            </a:lvl4pPr>
            <a:lvl5pPr>
              <a:defRPr sz="1800">
                <a:solidFill>
                  <a:schemeClr val="tx1">
                    <a:lumMod val="75000"/>
                    <a:lumOff val="25000"/>
                  </a:schemeClr>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49" y="469127"/>
            <a:ext cx="10307927" cy="4093347"/>
          </a:xfrm>
        </p:spPr>
        <p:txBody>
          <a:bodyPr anchor="b">
            <a:normAutofit/>
          </a:bodyPr>
          <a:lstStyle>
            <a:lvl1pPr>
              <a:defRPr sz="6000">
                <a:effectLst/>
              </a:defRPr>
            </a:lvl1pPr>
          </a:lstStyle>
          <a:p>
            <a:r>
              <a:rPr lang="zh-CN" altLang="en-US" dirty="0"/>
              <a:t>单击此处编辑母版标题样式</a:t>
            </a:r>
            <a:endParaRPr lang="zh-CN" altLang="en-US" dirty="0"/>
          </a:p>
        </p:txBody>
      </p:sp>
      <p:sp>
        <p:nvSpPr>
          <p:cNvPr id="3" name="文本占位符 2"/>
          <p:cNvSpPr>
            <a:spLocks noGrp="1"/>
          </p:cNvSpPr>
          <p:nvPr>
            <p:ph type="body" idx="1"/>
          </p:nvPr>
        </p:nvSpPr>
        <p:spPr>
          <a:xfrm>
            <a:off x="831850" y="4610028"/>
            <a:ext cx="10307926" cy="647555"/>
          </a:xfrm>
        </p:spPr>
        <p:txBody>
          <a:bodyPr>
            <a:normAutofit/>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单击此处编辑母版文本样式</a:t>
            </a:r>
            <a:endParaRPr lang="zh-CN" altLang="en-US" dirty="0"/>
          </a:p>
        </p:txBody>
      </p:sp>
      <p:sp>
        <p:nvSpPr>
          <p:cNvPr id="4" name="日期占位符 3"/>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647700" y="258445"/>
            <a:ext cx="10515600" cy="1325563"/>
          </a:xfrm>
        </p:spPr>
        <p:txBody>
          <a:bodyPr>
            <a:normAutofit/>
          </a:bodyPr>
          <a:lstStyle>
            <a:lvl1pPr>
              <a:defRPr sz="4400" b="0" i="0">
                <a:effectLst/>
              </a:defRPr>
            </a:lvl1pPr>
          </a:lstStyle>
          <a:p>
            <a:r>
              <a:rPr lang="zh-CN" altLang="en-US" dirty="0"/>
              <a:t>单击此处编辑母版标题样式</a:t>
            </a:r>
            <a:endParaRPr lang="zh-CN" altLang="en-US" dirty="0"/>
          </a:p>
        </p:txBody>
      </p:sp>
      <p:sp>
        <p:nvSpPr>
          <p:cNvPr id="3" name="内容占位符 2"/>
          <p:cNvSpPr>
            <a:spLocks noGrp="1"/>
          </p:cNvSpPr>
          <p:nvPr>
            <p:ph sz="half" idx="1"/>
          </p:nvPr>
        </p:nvSpPr>
        <p:spPr>
          <a:xfrm>
            <a:off x="647700" y="1825625"/>
            <a:ext cx="5181600" cy="4351338"/>
          </a:xfrm>
        </p:spPr>
        <p:txBody>
          <a:bodyPr>
            <a:normAutofit/>
          </a:bodyPr>
          <a:lstStyle>
            <a:lvl1pPr>
              <a:lnSpc>
                <a:spcPct val="90000"/>
              </a:lnSpc>
              <a:defRPr sz="2800">
                <a:solidFill>
                  <a:schemeClr val="tx1">
                    <a:lumMod val="75000"/>
                    <a:lumOff val="25000"/>
                  </a:schemeClr>
                </a:solidFill>
              </a:defRPr>
            </a:lvl1pPr>
            <a:lvl2pPr>
              <a:lnSpc>
                <a:spcPct val="90000"/>
              </a:lnSpc>
              <a:defRPr sz="2400">
                <a:solidFill>
                  <a:schemeClr val="tx1">
                    <a:lumMod val="75000"/>
                    <a:lumOff val="25000"/>
                  </a:schemeClr>
                </a:solidFill>
              </a:defRPr>
            </a:lvl2pPr>
            <a:lvl3pPr>
              <a:lnSpc>
                <a:spcPct val="90000"/>
              </a:lnSpc>
              <a:defRPr sz="2000">
                <a:solidFill>
                  <a:schemeClr val="tx1">
                    <a:lumMod val="75000"/>
                    <a:lumOff val="25000"/>
                  </a:schemeClr>
                </a:solidFill>
              </a:defRPr>
            </a:lvl3pPr>
            <a:lvl4pPr>
              <a:lnSpc>
                <a:spcPct val="90000"/>
              </a:lnSpc>
              <a:defRPr sz="1800">
                <a:solidFill>
                  <a:schemeClr val="tx1">
                    <a:lumMod val="75000"/>
                    <a:lumOff val="25000"/>
                  </a:schemeClr>
                </a:solidFill>
              </a:defRPr>
            </a:lvl4pPr>
            <a:lvl5pPr>
              <a:lnSpc>
                <a:spcPct val="90000"/>
              </a:lnSpc>
              <a:defRPr sz="1800">
                <a:solidFill>
                  <a:schemeClr val="tx1">
                    <a:lumMod val="75000"/>
                    <a:lumOff val="25000"/>
                  </a:schemeClr>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内容占位符 3"/>
          <p:cNvSpPr>
            <a:spLocks noGrp="1"/>
          </p:cNvSpPr>
          <p:nvPr>
            <p:ph sz="half" idx="2"/>
          </p:nvPr>
        </p:nvSpPr>
        <p:spPr>
          <a:xfrm>
            <a:off x="5981700" y="1825625"/>
            <a:ext cx="5181600" cy="4351338"/>
          </a:xfrm>
        </p:spPr>
        <p:txBody>
          <a:bodyPr>
            <a:normAutofit/>
          </a:bodyPr>
          <a:lstStyle>
            <a:lvl1pPr>
              <a:lnSpc>
                <a:spcPct val="90000"/>
              </a:lnSpc>
              <a:defRPr sz="2800">
                <a:solidFill>
                  <a:schemeClr val="tx1">
                    <a:lumMod val="75000"/>
                    <a:lumOff val="25000"/>
                  </a:schemeClr>
                </a:solidFill>
              </a:defRPr>
            </a:lvl1pPr>
            <a:lvl2pPr>
              <a:lnSpc>
                <a:spcPct val="90000"/>
              </a:lnSpc>
              <a:defRPr sz="2400">
                <a:solidFill>
                  <a:schemeClr val="tx1">
                    <a:lumMod val="75000"/>
                    <a:lumOff val="25000"/>
                  </a:schemeClr>
                </a:solidFill>
              </a:defRPr>
            </a:lvl2pPr>
            <a:lvl3pPr>
              <a:lnSpc>
                <a:spcPct val="90000"/>
              </a:lnSpc>
              <a:defRPr sz="2000">
                <a:solidFill>
                  <a:schemeClr val="tx1">
                    <a:lumMod val="75000"/>
                    <a:lumOff val="25000"/>
                  </a:schemeClr>
                </a:solidFill>
              </a:defRPr>
            </a:lvl3pPr>
            <a:lvl4pPr>
              <a:lnSpc>
                <a:spcPct val="90000"/>
              </a:lnSpc>
              <a:defRPr sz="1800">
                <a:solidFill>
                  <a:schemeClr val="tx1">
                    <a:lumMod val="75000"/>
                    <a:lumOff val="25000"/>
                  </a:schemeClr>
                </a:solidFill>
              </a:defRPr>
            </a:lvl4pPr>
            <a:lvl5pPr>
              <a:lnSpc>
                <a:spcPct val="90000"/>
              </a:lnSpc>
              <a:defRPr sz="1800">
                <a:solidFill>
                  <a:schemeClr val="tx1">
                    <a:lumMod val="75000"/>
                    <a:lumOff val="25000"/>
                  </a:schemeClr>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dirty="0"/>
              <a:t>单击此处编辑母版标题样式</a:t>
            </a:r>
            <a:endParaRPr lang="zh-CN" altLang="en-US" dirty="0"/>
          </a:p>
        </p:txBody>
      </p:sp>
      <p:sp>
        <p:nvSpPr>
          <p:cNvPr id="3" name="文本占位符 2"/>
          <p:cNvSpPr>
            <a:spLocks noGrp="1"/>
          </p:cNvSpPr>
          <p:nvPr>
            <p:ph type="body" idx="1"/>
          </p:nvPr>
        </p:nvSpPr>
        <p:spPr>
          <a:xfrm>
            <a:off x="839788" y="1744961"/>
            <a:ext cx="5157787" cy="823912"/>
          </a:xfrm>
        </p:spPr>
        <p:txBody>
          <a:bodyPr anchor="b">
            <a:norm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单击此处编辑母版文本样式</a:t>
            </a:r>
            <a:endParaRPr lang="zh-CN" altLang="en-US" dirty="0"/>
          </a:p>
        </p:txBody>
      </p:sp>
      <p:sp>
        <p:nvSpPr>
          <p:cNvPr id="4" name="内容占位符 3"/>
          <p:cNvSpPr>
            <a:spLocks noGrp="1"/>
          </p:cNvSpPr>
          <p:nvPr>
            <p:ph sz="half" idx="2"/>
          </p:nvPr>
        </p:nvSpPr>
        <p:spPr>
          <a:xfrm>
            <a:off x="839788" y="2615609"/>
            <a:ext cx="5157787" cy="3574054"/>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文本占位符 4"/>
          <p:cNvSpPr>
            <a:spLocks noGrp="1"/>
          </p:cNvSpPr>
          <p:nvPr>
            <p:ph type="body" sz="quarter" idx="3"/>
          </p:nvPr>
        </p:nvSpPr>
        <p:spPr>
          <a:xfrm>
            <a:off x="6172200" y="1744961"/>
            <a:ext cx="5183188" cy="823912"/>
          </a:xfrm>
        </p:spPr>
        <p:txBody>
          <a:bodyPr anchor="b">
            <a:norm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单击此处编辑母版文本样式</a:t>
            </a:r>
            <a:endParaRPr lang="zh-CN" altLang="en-US" dirty="0"/>
          </a:p>
        </p:txBody>
      </p:sp>
      <p:sp>
        <p:nvSpPr>
          <p:cNvPr id="6" name="内容占位符 5"/>
          <p:cNvSpPr>
            <a:spLocks noGrp="1"/>
          </p:cNvSpPr>
          <p:nvPr>
            <p:ph sz="quarter" idx="4"/>
          </p:nvPr>
        </p:nvSpPr>
        <p:spPr>
          <a:xfrm>
            <a:off x="6172200" y="2615609"/>
            <a:ext cx="5183188" cy="3574054"/>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7" name="日期占位符 6"/>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838200" y="2766219"/>
            <a:ext cx="10515600" cy="1325563"/>
          </a:xfrm>
        </p:spPr>
        <p:txBody>
          <a:bodyPr>
            <a:normAutofit/>
          </a:bodyPr>
          <a:lstStyle>
            <a:lvl1pPr algn="ctr">
              <a:defRPr sz="4400" b="0">
                <a:effectLst/>
              </a:defRPr>
            </a:lvl1pPr>
          </a:lstStyle>
          <a:p>
            <a:r>
              <a:rPr lang="zh-CN" altLang="en-US" dirty="0"/>
              <a:t>单击此处编辑母版标题样式</a:t>
            </a:r>
            <a:endParaRPr lang="zh-CN" altLang="en-US" dirty="0"/>
          </a:p>
        </p:txBody>
      </p:sp>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646747" y="127000"/>
            <a:ext cx="4165200" cy="1600200"/>
          </a:xfrm>
        </p:spPr>
        <p:txBody>
          <a:bodyPr anchor="ctr" anchorCtr="0">
            <a:normAutofit/>
          </a:bodyPr>
          <a:lstStyle>
            <a:lvl1pPr>
              <a:defRPr sz="3200" b="0">
                <a:effectLst/>
              </a:defRPr>
            </a:lvl1pPr>
          </a:lstStyle>
          <a:p>
            <a:r>
              <a:rPr lang="zh-CN" altLang="en-US" dirty="0"/>
              <a:t>单击此处编辑标题</a:t>
            </a:r>
            <a:endParaRPr lang="zh-CN" altLang="en-US" dirty="0"/>
          </a:p>
        </p:txBody>
      </p:sp>
      <p:sp>
        <p:nvSpPr>
          <p:cNvPr id="3" name="图片占位符 2"/>
          <p:cNvSpPr>
            <a:spLocks noGrp="1" noChangeAspect="1"/>
          </p:cNvSpPr>
          <p:nvPr>
            <p:ph type="pic" idx="1"/>
          </p:nvPr>
        </p:nvSpPr>
        <p:spPr>
          <a:xfrm>
            <a:off x="5184000" y="766354"/>
            <a:ext cx="5817375" cy="5094446"/>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dirty="0"/>
          </a:p>
        </p:txBody>
      </p:sp>
      <p:sp>
        <p:nvSpPr>
          <p:cNvPr id="4" name="文本占位符 3"/>
          <p:cNvSpPr>
            <a:spLocks noGrp="1"/>
          </p:cNvSpPr>
          <p:nvPr>
            <p:ph type="body" sz="half" idx="2"/>
          </p:nvPr>
        </p:nvSpPr>
        <p:spPr>
          <a:xfrm>
            <a:off x="651827" y="2057400"/>
            <a:ext cx="4165200" cy="3811588"/>
          </a:xfrm>
        </p:spPr>
        <p:txBody>
          <a:bodyPr>
            <a:normAutofit/>
          </a:bodyPr>
          <a:lstStyle>
            <a:lvl1pPr marL="0" indent="0">
              <a:lnSpc>
                <a:spcPct val="150000"/>
              </a:lnSpc>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dirty="0"/>
              <a:t>单击此处编辑母版文本样式</a:t>
            </a:r>
            <a:endParaRPr lang="zh-CN" altLang="en-US" dirty="0"/>
          </a:p>
        </p:txBody>
      </p:sp>
      <p:sp>
        <p:nvSpPr>
          <p:cNvPr id="5" name="日期占位符 4"/>
          <p:cNvSpPr>
            <a:spLocks noGrp="1"/>
          </p:cNvSpPr>
          <p:nvPr>
            <p:ph type="dt" sz="half" idx="10"/>
          </p:nvPr>
        </p:nvSpPr>
        <p:spPr/>
        <p:txBody>
          <a:body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nvPr>
        </p:nvSpPr>
        <p:spPr/>
        <p:txBody>
          <a:bodyPr/>
          <a:lstStyle/>
          <a:p>
            <a:endParaRPr lang="zh-CN" altLang="en-US" dirty="0"/>
          </a:p>
        </p:txBody>
      </p:sp>
      <p:sp>
        <p:nvSpPr>
          <p:cNvPr id="7" name="灯片编号占位符 6"/>
          <p:cNvSpPr>
            <a:spLocks noGrp="1"/>
          </p:cNvSpPr>
          <p:nvPr>
            <p:ph type="sldNum" sz="quarter" idx="12"/>
          </p:nvPr>
        </p:nvSpPr>
        <p:spPr/>
        <p:txBody>
          <a:bodyPr/>
          <a:lstStyle/>
          <a:p>
            <a:fld id="{FABC47A4-756D-490B-A52F-7D9E2C9FC05F}"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9824484" y="365125"/>
            <a:ext cx="1529316" cy="5811838"/>
          </a:xfrm>
        </p:spPr>
        <p:txBody>
          <a:bodyPr vert="eaVert">
            <a:normAutofit/>
          </a:bodyPr>
          <a:lstStyle>
            <a:lvl1pPr>
              <a:defRPr sz="4400"/>
            </a:lvl1pPr>
          </a:lstStyle>
          <a:p>
            <a:r>
              <a:rPr lang="zh-CN" altLang="en-US" dirty="0"/>
              <a:t>单击此处编辑母版标题样式</a:t>
            </a:r>
            <a:endParaRPr lang="zh-CN" altLang="en-US" dirty="0"/>
          </a:p>
        </p:txBody>
      </p:sp>
      <p:sp>
        <p:nvSpPr>
          <p:cNvPr id="3" name="竖排文字占位符 2"/>
          <p:cNvSpPr>
            <a:spLocks noGrp="1"/>
          </p:cNvSpPr>
          <p:nvPr>
            <p:ph type="body" orient="vert" idx="1"/>
          </p:nvPr>
        </p:nvSpPr>
        <p:spPr>
          <a:xfrm>
            <a:off x="838200" y="365125"/>
            <a:ext cx="8879958" cy="5811838"/>
          </a:xfrm>
        </p:spPr>
        <p:txBody>
          <a:bodyPr vert="eaVert"/>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a:p>
        </p:txBody>
      </p:sp>
      <p:sp>
        <p:nvSpPr>
          <p:cNvPr id="7" name="内容占位符 6"/>
          <p:cNvSpPr>
            <a:spLocks noGrp="1"/>
          </p:cNvSpPr>
          <p:nvPr>
            <p:ph sz="quarter" idx="13"/>
          </p:nvPr>
        </p:nvSpPr>
        <p:spPr>
          <a:xfrm>
            <a:off x="838200" y="551543"/>
            <a:ext cx="10515600" cy="5558971"/>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1" Type="http://schemas.openxmlformats.org/officeDocument/2006/relationships/theme" Target="../theme/theme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dirty="0"/>
              <a:t>单击此处编辑母版标题样式</a:t>
            </a:r>
            <a:endParaRPr lang="zh-CN" altLang="en-US" dirty="0"/>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normAutofit/>
          </a:bodyPr>
          <a:lstStyle>
            <a:lvl1pPr algn="l">
              <a:defRPr sz="1200">
                <a:solidFill>
                  <a:schemeClr val="tx1">
                    <a:tint val="75000"/>
                  </a:schemeClr>
                </a:solidFill>
              </a:defRPr>
            </a:lvl1pPr>
          </a:lstStyle>
          <a:p>
            <a:fld id="{760FBDFE-C587-4B4C-A407-44438C67B59E}" type="datetimeFigureOut">
              <a:rPr lang="zh-CN" altLang="en-US" smtClean="0"/>
            </a:fld>
            <a:endParaRPr lang="zh-CN" altLang="en-US" dirty="0"/>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normAutofit/>
          </a:bodyP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normAutofit/>
          </a:bodyPr>
          <a:lstStyle>
            <a:lvl1pPr algn="r">
              <a:defRPr sz="1200">
                <a:solidFill>
                  <a:schemeClr val="tx1">
                    <a:tint val="75000"/>
                  </a:schemeClr>
                </a:solidFill>
              </a:defRPr>
            </a:lvl1pPr>
          </a:lstStyle>
          <a:p>
            <a:fld id="{49AE70B2-8BF9-45C0-BB95-33D1B9D3A854}"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jpeg"/><Relationship Id="rId1" Type="http://schemas.openxmlformats.org/officeDocument/2006/relationships/image" Target="../media/image1.png"/></Relationships>
</file>

<file path=ppt/slides/_rels/slide3.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image" Target="../media/image3.png"/></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6.xml.rels><?xml version="1.0" encoding="UTF-8" standalone="yes"?>
<Relationships xmlns="http://schemas.openxmlformats.org/package/2006/relationships"><Relationship Id="rId4" Type="http://schemas.openxmlformats.org/officeDocument/2006/relationships/notesSlide" Target="../notesSlides/notesSlide2.xml"/><Relationship Id="rId3" Type="http://schemas.openxmlformats.org/officeDocument/2006/relationships/slideLayout" Target="../slideLayouts/slideLayout2.xml"/><Relationship Id="rId2" Type="http://schemas.openxmlformats.org/officeDocument/2006/relationships/image" Target="../media/image9.png"/><Relationship Id="rId1" Type="http://schemas.openxmlformats.org/officeDocument/2006/relationships/image" Target="../media/image8.png"/></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pn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1.pn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normAutofit/>
          </a:bodyPr>
          <a:lstStyle/>
          <a:p>
            <a:r>
              <a:rPr lang="zh-CN" altLang="en-US" dirty="0">
                <a:effectLst/>
              </a:rPr>
              <a:t>循环维纳滤波器</a:t>
            </a:r>
            <a:endParaRPr lang="zh-CN" altLang="en-US" dirty="0">
              <a:effectLst/>
            </a:endParaRPr>
          </a:p>
        </p:txBody>
      </p:sp>
      <p:sp>
        <p:nvSpPr>
          <p:cNvPr id="5" name="副标题 4"/>
          <p:cNvSpPr>
            <a:spLocks noGrp="1"/>
          </p:cNvSpPr>
          <p:nvPr>
            <p:ph type="subTitle" idx="1"/>
          </p:nvPr>
        </p:nvSpPr>
        <p:spPr/>
        <p:txBody>
          <a:bodyPr/>
          <a:lstStyle/>
          <a:p>
            <a:r>
              <a:rPr lang="zh-CN" altLang="en-US" dirty="0">
                <a:latin typeface="+mn-lt"/>
              </a:rPr>
              <a:t>吴伯涛</a:t>
            </a:r>
            <a:endParaRPr lang="zh-CN" altLang="en-US" dirty="0">
              <a:latin typeface="+mn-lt"/>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维纳滤波器</a:t>
            </a:r>
            <a:endParaRPr lang="zh-CN" altLang="en-US"/>
          </a:p>
        </p:txBody>
      </p:sp>
      <mc:AlternateContent xmlns:mc="http://schemas.openxmlformats.org/markup-compatibility/2006">
        <mc:Choice xmlns:a14="http://schemas.microsoft.com/office/drawing/2010/main" Requires="a14">
          <p:sp>
            <p:nvSpPr>
              <p:cNvPr id="3" name="内容占位符 2"/>
              <p:cNvSpPr>
                <a:spLocks noGrp="1"/>
              </p:cNvSpPr>
              <p:nvPr>
                <p:ph idx="1"/>
              </p:nvPr>
            </p:nvSpPr>
            <p:spPr/>
            <p:txBody>
              <a:bodyPr/>
              <a:p>
                <a14:m>
                  <m:oMath xmlns:m="http://schemas.openxmlformats.org/officeDocument/2006/math">
                    <m:r>
                      <a:rPr lang="en-US" altLang="zh-CN" i="1">
                        <a:latin typeface="DejaVu Math TeX Gyre" panose="02000503000000000000" charset="0"/>
                        <a:cs typeface="DejaVu Math TeX Gyre" panose="02000503000000000000" charset="0"/>
                      </a:rPr>
                      <m:t>𝑥</m:t>
                    </m:r>
                    <m:r>
                      <a:rPr lang="en-US" altLang="zh-CN" i="1">
                        <a:latin typeface="DejaVu Math TeX Gyre" panose="02000503000000000000" charset="0"/>
                        <a:cs typeface="DejaVu Math TeX Gyre" panose="02000503000000000000" charset="0"/>
                      </a:rPr>
                      <m:t>[</m:t>
                    </m:r>
                    <m:r>
                      <a:rPr lang="en-US" altLang="zh-CN" i="1">
                        <a:latin typeface="DejaVu Math TeX Gyre" panose="02000503000000000000" charset="0"/>
                        <a:cs typeface="DejaVu Math TeX Gyre" panose="02000503000000000000" charset="0"/>
                      </a:rPr>
                      <m:t>𝑛</m:t>
                    </m:r>
                    <m:r>
                      <a:rPr lang="en-US" altLang="zh-CN" i="1">
                        <a:latin typeface="DejaVu Math TeX Gyre" panose="02000503000000000000" charset="0"/>
                        <a:cs typeface="DejaVu Math TeX Gyre" panose="02000503000000000000" charset="0"/>
                      </a:rPr>
                      <m:t>]=</m:t>
                    </m:r>
                    <m:r>
                      <a:rPr lang="en-US" altLang="zh-CN" i="1">
                        <a:latin typeface="DejaVu Math TeX Gyre" panose="02000503000000000000" charset="0"/>
                        <a:cs typeface="DejaVu Math TeX Gyre" panose="02000503000000000000" charset="0"/>
                      </a:rPr>
                      <m:t>𝑦</m:t>
                    </m:r>
                    <m:r>
                      <a:rPr lang="en-US" altLang="zh-CN" i="1">
                        <a:latin typeface="DejaVu Math TeX Gyre" panose="02000503000000000000" charset="0"/>
                        <a:cs typeface="DejaVu Math TeX Gyre" panose="02000503000000000000" charset="0"/>
                      </a:rPr>
                      <m:t>[</m:t>
                    </m:r>
                    <m:r>
                      <a:rPr lang="en-US" altLang="zh-CN" i="1">
                        <a:latin typeface="DejaVu Math TeX Gyre" panose="02000503000000000000" charset="0"/>
                        <a:cs typeface="DejaVu Math TeX Gyre" panose="02000503000000000000" charset="0"/>
                      </a:rPr>
                      <m:t>𝑛</m:t>
                    </m:r>
                    <m:r>
                      <a:rPr lang="en-US" altLang="zh-CN" i="1">
                        <a:latin typeface="DejaVu Math TeX Gyre" panose="02000503000000000000" charset="0"/>
                        <a:ea typeface="宋体" charset="0"/>
                        <a:cs typeface="DejaVu Math TeX Gyre" panose="02000503000000000000" charset="0"/>
                      </a:rPr>
                      <m:t>]+</m:t>
                    </m:r>
                    <m:r>
                      <a:rPr lang="en-US" altLang="zh-CN" i="1">
                        <a:latin typeface="DejaVu Math TeX Gyre" panose="02000503000000000000" charset="0"/>
                        <a:ea typeface="宋体" charset="0"/>
                        <a:cs typeface="DejaVu Math TeX Gyre" panose="02000503000000000000" charset="0"/>
                      </a:rPr>
                      <m:t>𝑣</m:t>
                    </m:r>
                    <m:r>
                      <a:rPr lang="en-US" altLang="zh-CN" i="1">
                        <a:latin typeface="DejaVu Math TeX Gyre" panose="02000503000000000000" charset="0"/>
                        <a:ea typeface="宋体" charset="0"/>
                        <a:cs typeface="DejaVu Math TeX Gyre" panose="02000503000000000000" charset="0"/>
                      </a:rPr>
                      <m:t>[</m:t>
                    </m:r>
                    <m:r>
                      <a:rPr lang="en-US" altLang="zh-CN" i="1">
                        <a:latin typeface="DejaVu Math TeX Gyre" panose="02000503000000000000" charset="0"/>
                        <a:ea typeface="宋体" charset="0"/>
                        <a:cs typeface="DejaVu Math TeX Gyre" panose="02000503000000000000" charset="0"/>
                      </a:rPr>
                      <m:t>𝑛</m:t>
                    </m:r>
                    <m:r>
                      <a:rPr lang="en-US" altLang="zh-CN" i="1">
                        <a:latin typeface="DejaVu Math TeX Gyre" panose="02000503000000000000" charset="0"/>
                        <a:ea typeface="宋体" charset="0"/>
                        <a:cs typeface="DejaVu Math TeX Gyre" panose="02000503000000000000" charset="0"/>
                      </a:rPr>
                      <m:t>]</m:t>
                    </m:r>
                  </m:oMath>
                </a14:m>
                <a:endParaRPr lang="zh-CN" altLang="en-US"/>
              </a:p>
              <a:p>
                <a:r>
                  <a:rPr lang="zh-CN" altLang="en-US"/>
                  <a:t>使得观测信号通过滤波器后能够得到的输出是实际信号的最小均方误差估计</a:t>
                </a:r>
                <a14:m>
                  <m:oMath xmlns:m="http://schemas.openxmlformats.org/officeDocument/2006/math">
                    <m:r>
                      <a:rPr lang="en-US" altLang="zh-CN" i="1">
                        <a:latin typeface="DejaVu Math TeX Gyre" panose="02000503000000000000" charset="0"/>
                        <a:cs typeface="DejaVu Math TeX Gyre" panose="02000503000000000000" charset="0"/>
                      </a:rPr>
                      <m:t>𝐸</m:t>
                    </m:r>
                    <m:r>
                      <a:rPr lang="en-US" altLang="zh-CN" i="1">
                        <a:latin typeface="DejaVu Math TeX Gyre" panose="02000503000000000000" charset="0"/>
                        <a:cs typeface="DejaVu Math TeX Gyre" panose="02000503000000000000" charset="0"/>
                      </a:rPr>
                      <m:t>(</m:t>
                    </m:r>
                    <m:sSup>
                      <m:sSupPr>
                        <m:ctrlPr>
                          <a:rPr lang="en-US" altLang="zh-CN" i="1">
                            <a:latin typeface="DejaVu Math TeX Gyre" panose="02000503000000000000" charset="0"/>
                            <a:cs typeface="DejaVu Math TeX Gyre" panose="02000503000000000000" charset="0"/>
                          </a:rPr>
                        </m:ctrlPr>
                      </m:sSupPr>
                      <m:e>
                        <m:r>
                          <a:rPr lang="en-US" altLang="zh-CN" i="1">
                            <a:latin typeface="DejaVu Math TeX Gyre" panose="02000503000000000000" charset="0"/>
                            <a:cs typeface="DejaVu Math TeX Gyre" panose="02000503000000000000" charset="0"/>
                          </a:rPr>
                          <m:t>(</m:t>
                        </m:r>
                        <m:r>
                          <a:rPr lang="en-US" altLang="zh-CN" i="1">
                            <a:latin typeface="DejaVu Math TeX Gyre" panose="02000503000000000000" charset="0"/>
                            <a:cs typeface="DejaVu Math TeX Gyre" panose="02000503000000000000" charset="0"/>
                          </a:rPr>
                          <m:t>𝑦</m:t>
                        </m:r>
                        <m:r>
                          <a:rPr lang="en-US" altLang="zh-CN" i="1">
                            <a:latin typeface="DejaVu Math TeX Gyre" panose="02000503000000000000" charset="0"/>
                            <a:cs typeface="DejaVu Math TeX Gyre" panose="02000503000000000000" charset="0"/>
                          </a:rPr>
                          <m:t>[</m:t>
                        </m:r>
                        <m:r>
                          <a:rPr lang="en-US" altLang="zh-CN" i="1">
                            <a:latin typeface="DejaVu Math TeX Gyre" panose="02000503000000000000" charset="0"/>
                            <a:cs typeface="DejaVu Math TeX Gyre" panose="02000503000000000000" charset="0"/>
                          </a:rPr>
                          <m:t>𝑛</m:t>
                        </m:r>
                        <m:r>
                          <a:rPr lang="en-US" altLang="zh-CN" i="1">
                            <a:latin typeface="DejaVu Math TeX Gyre" panose="02000503000000000000" charset="0"/>
                            <a:cs typeface="DejaVu Math TeX Gyre" panose="02000503000000000000" charset="0"/>
                          </a:rPr>
                          <m:t>]−</m:t>
                        </m:r>
                        <m:acc>
                          <m:accPr>
                            <m:ctrlPr>
                              <a:rPr lang="en-US" altLang="zh-CN" i="1">
                                <a:latin typeface="DejaVu Math TeX Gyre" panose="02000503000000000000" charset="0"/>
                                <a:cs typeface="DejaVu Math TeX Gyre" panose="02000503000000000000" charset="0"/>
                              </a:rPr>
                            </m:ctrlPr>
                          </m:accPr>
                          <m:e>
                            <m:r>
                              <a:rPr lang="en-US" altLang="zh-CN" i="1">
                                <a:latin typeface="DejaVu Math TeX Gyre" panose="02000503000000000000" charset="0"/>
                                <a:cs typeface="DejaVu Math TeX Gyre" panose="02000503000000000000" charset="0"/>
                              </a:rPr>
                              <m:t>𝑦</m:t>
                            </m:r>
                          </m:e>
                        </m:acc>
                        <m:r>
                          <a:rPr lang="en-US" altLang="zh-CN" i="1">
                            <a:latin typeface="DejaVu Math TeX Gyre" panose="02000503000000000000" charset="0"/>
                            <a:cs typeface="DejaVu Math TeX Gyre" panose="02000503000000000000" charset="0"/>
                          </a:rPr>
                          <m:t>[</m:t>
                        </m:r>
                        <m:r>
                          <a:rPr lang="en-US" altLang="zh-CN" i="1">
                            <a:latin typeface="DejaVu Math TeX Gyre" panose="02000503000000000000" charset="0"/>
                            <a:cs typeface="DejaVu Math TeX Gyre" panose="02000503000000000000" charset="0"/>
                          </a:rPr>
                          <m:t>𝑛</m:t>
                        </m:r>
                        <m:r>
                          <a:rPr lang="en-US" altLang="zh-CN" i="1">
                            <a:latin typeface="DejaVu Math TeX Gyre" panose="02000503000000000000" charset="0"/>
                            <a:cs typeface="DejaVu Math TeX Gyre" panose="02000503000000000000" charset="0"/>
                          </a:rPr>
                          <m:t>)</m:t>
                        </m:r>
                      </m:e>
                      <m:sup>
                        <m:r>
                          <a:rPr lang="en-US" altLang="zh-CN" i="1">
                            <a:latin typeface="DejaVu Math TeX Gyre" panose="02000503000000000000" charset="0"/>
                            <a:cs typeface="DejaVu Math TeX Gyre" panose="02000503000000000000" charset="0"/>
                          </a:rPr>
                          <m:t>2</m:t>
                        </m:r>
                      </m:sup>
                    </m:sSup>
                    <m:r>
                      <a:rPr lang="en-US" altLang="zh-CN" i="1">
                        <a:latin typeface="DejaVu Math TeX Gyre" panose="02000503000000000000" charset="0"/>
                        <a:cs typeface="DejaVu Math TeX Gyre" panose="02000503000000000000" charset="0"/>
                      </a:rPr>
                      <m:t>)</m:t>
                    </m:r>
                  </m:oMath>
                </a14:m>
                <a:endParaRPr lang="zh-CN" altLang="en-US"/>
              </a:p>
              <a:p>
                <a:r>
                  <a:rPr lang="zh-CN" altLang="en-US">
                    <a:sym typeface="+mn-ea"/>
                  </a:rPr>
                  <a:t>利用信号的时间相干性或功率谱密度（PSD）差异来区分信号与噪声，是线性时不变（Linear Time-Invariant, LTI）的系统</a:t>
                </a:r>
                <a:endParaRPr lang="zh-CN" altLang="en-US"/>
              </a:p>
              <a:p>
                <a:endParaRPr lang="zh-CN" altLang="en-US"/>
              </a:p>
            </p:txBody>
          </p:sp>
        </mc:Choice>
        <mc:Fallback>
          <p:sp>
            <p:nvSpPr>
              <p:cNvPr id="3" name="内容占位符 2"/>
              <p:cNvSpPr>
                <a:spLocks noRot="1" noChangeAspect="1" noMove="1" noResize="1" noEditPoints="1" noAdjustHandles="1" noChangeArrowheads="1" noChangeShapeType="1" noTextEdit="1"/>
              </p:cNvSpPr>
              <p:nvPr>
                <p:ph idx="1"/>
              </p:nvPr>
            </p:nvSpPr>
            <p:spPr>
              <a:blipFill rotWithShape="1">
                <a:blip r:embed="rId1"/>
                <a:stretch>
                  <a:fillRect b="7"/>
                </a:stretch>
              </a:blipFill>
            </p:spPr>
            <p:txBody>
              <a:bodyPr/>
              <a:lstStyle/>
              <a:p>
                <a:r>
                  <a:rPr lang="zh-CN" altLang="en-US">
                    <a:noFill/>
                  </a:rPr>
                  <a:t> </a:t>
                </a:r>
              </a:p>
            </p:txBody>
          </p:sp>
        </mc:Fallback>
      </mc:AlternateContent>
      <p:pic>
        <p:nvPicPr>
          <p:cNvPr id="5" name="图片 4"/>
          <p:cNvPicPr/>
          <p:nvPr/>
        </p:nvPicPr>
        <p:blipFill>
          <a:blip r:embed="rId2"/>
          <a:stretch>
            <a:fillRect/>
          </a:stretch>
        </p:blipFill>
        <p:spPr>
          <a:xfrm>
            <a:off x="723900" y="4448810"/>
            <a:ext cx="10363200" cy="1955800"/>
          </a:xfrm>
          <a:prstGeom prst="rect">
            <a:avLst/>
          </a:prstGeom>
        </p:spPr>
      </p:pic>
      <p:sp>
        <p:nvSpPr>
          <p:cNvPr id="6" name="矩形 5"/>
          <p:cNvSpPr/>
          <p:nvPr/>
        </p:nvSpPr>
        <p:spPr>
          <a:xfrm>
            <a:off x="6238240" y="5665470"/>
            <a:ext cx="5164455" cy="808355"/>
          </a:xfrm>
          <a:prstGeom prst="rect">
            <a:avLst/>
          </a:prstGeom>
          <a:solidFill>
            <a:schemeClr val="bg1"/>
          </a:solidFill>
          <a:ln w="12700" cap="flat" cmpd="sng">
            <a:solidFill>
              <a:schemeClr val="bg1"/>
            </a:solidFill>
            <a:prstDash val="solid"/>
            <a:miter lim="800000"/>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自相关函数</a:t>
            </a:r>
            <a:endParaRPr lang="zh-CN" altLang="en-US"/>
          </a:p>
        </p:txBody>
      </p:sp>
      <p:pic>
        <p:nvPicPr>
          <p:cNvPr id="4" name="内容占位符 3"/>
          <p:cNvPicPr>
            <a:picLocks noChangeAspect="1"/>
          </p:cNvPicPr>
          <p:nvPr>
            <p:ph idx="1"/>
          </p:nvPr>
        </p:nvPicPr>
        <p:blipFill>
          <a:blip r:embed="rId1"/>
          <a:stretch>
            <a:fillRect/>
          </a:stretch>
        </p:blipFill>
        <p:spPr>
          <a:xfrm>
            <a:off x="76200" y="1328420"/>
            <a:ext cx="10515600" cy="1231265"/>
          </a:xfrm>
          <a:prstGeom prst="rect">
            <a:avLst/>
          </a:prstGeom>
        </p:spPr>
      </p:pic>
      <p:pic>
        <p:nvPicPr>
          <p:cNvPr id="5" name="图片 4"/>
          <p:cNvPicPr>
            <a:picLocks noChangeAspect="1"/>
          </p:cNvPicPr>
          <p:nvPr/>
        </p:nvPicPr>
        <p:blipFill>
          <a:blip r:embed="rId2"/>
          <a:stretch>
            <a:fillRect/>
          </a:stretch>
        </p:blipFill>
        <p:spPr>
          <a:xfrm>
            <a:off x="325120" y="2370455"/>
            <a:ext cx="10408285" cy="1218565"/>
          </a:xfrm>
          <a:prstGeom prst="rect">
            <a:avLst/>
          </a:prstGeom>
        </p:spPr>
      </p:pic>
      <mc:AlternateContent xmlns:mc="http://schemas.openxmlformats.org/markup-compatibility/2006">
        <mc:Choice xmlns:a14="http://schemas.microsoft.com/office/drawing/2010/main" Requires="a14">
          <p:sp>
            <p:nvSpPr>
              <p:cNvPr id="7" name="内容占位符 2"/>
              <p:cNvSpPr>
                <a:spLocks noGrp="1"/>
              </p:cNvSpPr>
              <p:nvPr/>
            </p:nvSpPr>
            <p:spPr>
              <a:xfrm>
                <a:off x="647700" y="1825625"/>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lumMod val="75000"/>
                        <a:lumOff val="2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lumMod val="75000"/>
                        <a:lumOff val="2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lumMod val="75000"/>
                        <a:lumOff val="2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endParaRPr lang="zh-CN" altLang="en-US"/>
              </a:p>
              <a:p>
                <a:endParaRPr lang="zh-CN" altLang="en-US"/>
              </a:p>
              <a:p>
                <a:endParaRPr lang="zh-CN" altLang="en-US"/>
              </a:p>
              <a:p>
                <a:endParaRPr lang="zh-CN" altLang="en-US"/>
              </a:p>
              <a:p>
                <a:r>
                  <a:rPr lang="zh-CN" altLang="en-US"/>
                  <a:t>如果这两个函数在</a:t>
                </a:r>
                <a:r>
                  <a:rPr lang="en-US" altLang="zh-CN"/>
                  <a:t> </a:t>
                </a:r>
                <a14:m>
                  <m:oMath xmlns:m="http://schemas.openxmlformats.org/officeDocument/2006/math">
                    <m:r>
                      <a:rPr lang="en-US" altLang="zh-CN" i="1">
                        <a:latin typeface="DejaVu Math TeX Gyre" panose="02000503000000000000" charset="0"/>
                        <a:cs typeface="DejaVu Math TeX Gyre" panose="02000503000000000000" charset="0"/>
                      </a:rPr>
                      <m:t>𝛼</m:t>
                    </m:r>
                    <m:r>
                      <a:rPr lang="en-US" altLang="zh-CN" i="1">
                        <a:latin typeface="DejaVu Math TeX Gyre" panose="02000503000000000000" charset="0"/>
                        <a:cs typeface="DejaVu Math TeX Gyre" panose="02000503000000000000" charset="0"/>
                      </a:rPr>
                      <m:t>≠</m:t>
                    </m:r>
                    <m:r>
                      <a:rPr lang="en-US" altLang="zh-CN" i="1">
                        <a:latin typeface="DejaVu Math TeX Gyre" panose="02000503000000000000" charset="0"/>
                        <a:cs typeface="DejaVu Math TeX Gyre" panose="02000503000000000000" charset="0"/>
                      </a:rPr>
                      <m:t>0</m:t>
                    </m:r>
                  </m:oMath>
                </a14:m>
                <a:r>
                  <a:rPr lang="zh-CN" altLang="en-US"/>
                  <a:t> 时不为零，说明信号具有循环平稳性</a:t>
                </a:r>
                <a:r>
                  <a:rPr lang="en-US" altLang="zh-CN"/>
                  <a:t>。</a:t>
                </a:r>
                <a:r>
                  <a:rPr lang="zh-CN" altLang="en-US"/>
                  <a:t> </a:t>
                </a:r>
                <a:endParaRPr lang="zh-CN" altLang="en-US"/>
              </a:p>
            </p:txBody>
          </p:sp>
        </mc:Choice>
        <mc:Fallback>
          <p:sp>
            <p:nvSpPr>
              <p:cNvPr id="7" name="内容占位符 2"/>
              <p:cNvSpPr>
                <a:spLocks noRot="1" noChangeAspect="1" noMove="1" noResize="1" noEditPoints="1" noAdjustHandles="1" noChangeArrowheads="1" noChangeShapeType="1" noTextEdit="1"/>
              </p:cNvSpPr>
              <p:nvPr/>
            </p:nvSpPr>
            <p:spPr>
              <a:xfrm>
                <a:off x="647700" y="1825625"/>
                <a:ext cx="10515600" cy="4351338"/>
              </a:xfrm>
              <a:prstGeom prst="rect">
                <a:avLst/>
              </a:prstGeom>
              <a:blipFill rotWithShape="1">
                <a:blip r:embed="rId3"/>
                <a:stretch>
                  <a:fillRect b="7"/>
                </a:stretch>
              </a:blipFill>
            </p:spPr>
            <p:txBody>
              <a:bodyPr/>
              <a:lstStyle/>
              <a:p>
                <a:r>
                  <a:rPr lang="zh-CN" altLang="en-US">
                    <a:noFill/>
                  </a:rPr>
                  <a:t> </a:t>
                </a:r>
              </a:p>
            </p:txBody>
          </p:sp>
        </mc:Fallback>
      </mc:AlternateContent>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频移</a:t>
            </a:r>
            <a:endParaRPr lang="zh-CN" altLang="en-US"/>
          </a:p>
        </p:txBody>
      </p:sp>
      <p:sp>
        <p:nvSpPr>
          <p:cNvPr id="3" name="内容占位符 2"/>
          <p:cNvSpPr>
            <a:spLocks noGrp="1"/>
          </p:cNvSpPr>
          <p:nvPr>
            <p:ph idx="1"/>
          </p:nvPr>
        </p:nvSpPr>
        <p:spPr/>
        <p:txBody>
          <a:bodyPr/>
          <a:p>
            <a:endParaRPr lang="zh-CN" altLang="en-US"/>
          </a:p>
          <a:p>
            <a:endParaRPr lang="zh-CN" altLang="en-US"/>
          </a:p>
          <a:p>
            <a:endParaRPr lang="zh-CN" altLang="en-US"/>
          </a:p>
          <a:p>
            <a:r>
              <a:rPr lang="zh-CN" altLang="en-US"/>
              <a:t>这是FRESH滤波器的通用结构。输入信号 x(t) 首先</a:t>
            </a:r>
            <a:r>
              <a:rPr lang="zh-CN" altLang="en-US"/>
              <a:t>频移），然后通过一个线性时不变滤波器，最后将所有支路的结果相加</a:t>
            </a:r>
            <a:endParaRPr lang="zh-CN" altLang="en-US"/>
          </a:p>
        </p:txBody>
      </p:sp>
      <p:pic>
        <p:nvPicPr>
          <p:cNvPr id="4" name="图片 3"/>
          <p:cNvPicPr>
            <a:picLocks noChangeAspect="1"/>
          </p:cNvPicPr>
          <p:nvPr/>
        </p:nvPicPr>
        <p:blipFill>
          <a:blip r:embed="rId1"/>
          <a:stretch>
            <a:fillRect/>
          </a:stretch>
        </p:blipFill>
        <p:spPr>
          <a:xfrm>
            <a:off x="2247900" y="1285875"/>
            <a:ext cx="7696200" cy="20193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 线性-共轭线性结构</a:t>
            </a:r>
            <a:endParaRPr lang="zh-CN" altLang="en-US"/>
          </a:p>
        </p:txBody>
      </p:sp>
      <p:sp>
        <p:nvSpPr>
          <p:cNvPr id="3" name="内容占位符 2"/>
          <p:cNvSpPr>
            <a:spLocks noGrp="1"/>
          </p:cNvSpPr>
          <p:nvPr>
            <p:ph idx="1"/>
          </p:nvPr>
        </p:nvSpPr>
        <p:spPr/>
        <p:txBody>
          <a:bodyPr/>
          <a:p>
            <a:endParaRPr lang="zh-CN" altLang="en-US"/>
          </a:p>
          <a:p>
            <a:endParaRPr lang="zh-CN" altLang="en-US"/>
          </a:p>
          <a:p>
            <a:endParaRPr lang="zh-CN" altLang="en-US"/>
          </a:p>
          <a:p>
            <a:r>
              <a:rPr lang="zh-CN" altLang="en-US"/>
              <a:t>对于</a:t>
            </a:r>
            <a:r>
              <a:rPr lang="en-US" altLang="zh-CN"/>
              <a:t>BPSK</a:t>
            </a:r>
            <a:r>
              <a:rPr lang="zh-CN" altLang="en-US"/>
              <a:t>和</a:t>
            </a:r>
            <a:r>
              <a:rPr lang="en-US" altLang="zh-CN"/>
              <a:t>QAM，</a:t>
            </a:r>
            <a:r>
              <a:rPr lang="zh-CN" altLang="en-US"/>
              <a:t>利用了信号的共轭谱相关性</a:t>
            </a:r>
            <a:r>
              <a:rPr lang="en-US" altLang="zh-CN"/>
              <a:t>。</a:t>
            </a:r>
            <a:r>
              <a:rPr lang="zh-CN" altLang="en-US"/>
              <a:t>对于</a:t>
            </a:r>
            <a:r>
              <a:rPr lang="en-US" altLang="zh-CN"/>
              <a:t>QPSK，</a:t>
            </a:r>
            <a:r>
              <a:rPr lang="zh-CN" altLang="en-US"/>
              <a:t>利用了信号的</a:t>
            </a:r>
            <a:r>
              <a:rPr lang="zh-CN" altLang="en-US">
                <a:sym typeface="+mn-ea"/>
              </a:rPr>
              <a:t>谱相关性。</a:t>
            </a:r>
            <a:endParaRPr lang="zh-CN" altLang="en-US"/>
          </a:p>
        </p:txBody>
      </p:sp>
      <p:pic>
        <p:nvPicPr>
          <p:cNvPr id="5" name="图片 4"/>
          <p:cNvPicPr>
            <a:picLocks noChangeAspect="1"/>
          </p:cNvPicPr>
          <p:nvPr/>
        </p:nvPicPr>
        <p:blipFill>
          <a:blip r:embed="rId1"/>
          <a:stretch>
            <a:fillRect/>
          </a:stretch>
        </p:blipFill>
        <p:spPr>
          <a:xfrm>
            <a:off x="2200275" y="1718310"/>
            <a:ext cx="7791450" cy="120015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信号分离</a:t>
            </a:r>
            <a:endParaRPr lang="zh-CN" altLang="en-US"/>
          </a:p>
        </p:txBody>
      </p:sp>
      <p:pic>
        <p:nvPicPr>
          <p:cNvPr id="4" name="内容占位符 3"/>
          <p:cNvPicPr>
            <a:picLocks noChangeAspect="1"/>
          </p:cNvPicPr>
          <p:nvPr>
            <p:ph idx="1"/>
          </p:nvPr>
        </p:nvPicPr>
        <p:blipFill>
          <a:blip r:embed="rId1"/>
          <a:stretch>
            <a:fillRect/>
          </a:stretch>
        </p:blipFill>
        <p:spPr>
          <a:xfrm>
            <a:off x="7395845" y="178435"/>
            <a:ext cx="2941955" cy="6269355"/>
          </a:xfrm>
          <a:prstGeom prst="rect">
            <a:avLst/>
          </a:prstGeom>
        </p:spPr>
      </p:pic>
      <p:pic>
        <p:nvPicPr>
          <p:cNvPr id="5" name="图片 4"/>
          <p:cNvPicPr>
            <a:picLocks noChangeAspect="1"/>
          </p:cNvPicPr>
          <p:nvPr/>
        </p:nvPicPr>
        <p:blipFill>
          <a:blip r:embed="rId2"/>
          <a:stretch>
            <a:fillRect/>
          </a:stretch>
        </p:blipFill>
        <p:spPr>
          <a:xfrm>
            <a:off x="1163320" y="1805940"/>
            <a:ext cx="4705350" cy="38862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已知期望信号</a:t>
            </a:r>
            <a:endParaRPr lang="zh-CN" altLang="en-US"/>
          </a:p>
        </p:txBody>
      </p:sp>
      <p:pic>
        <p:nvPicPr>
          <p:cNvPr id="10" name="内容占位符 9"/>
          <p:cNvPicPr>
            <a:picLocks noChangeAspect="1"/>
          </p:cNvPicPr>
          <p:nvPr>
            <p:ph idx="1"/>
          </p:nvPr>
        </p:nvPicPr>
        <p:blipFill>
          <a:blip r:embed="rId1"/>
          <a:stretch>
            <a:fillRect/>
          </a:stretch>
        </p:blipFill>
        <p:spPr>
          <a:xfrm>
            <a:off x="2641600" y="1825625"/>
            <a:ext cx="6527165" cy="435165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未知期望信号</a:t>
            </a:r>
            <a:r>
              <a:rPr lang="en-US" altLang="zh-CN"/>
              <a:t>，</a:t>
            </a:r>
            <a:r>
              <a:rPr lang="zh-CN" altLang="en-US"/>
              <a:t>在时</a:t>
            </a:r>
            <a:r>
              <a:rPr lang="zh-CN" altLang="en-US"/>
              <a:t>域上训练</a:t>
            </a:r>
            <a:endParaRPr lang="zh-CN" altLang="en-US"/>
          </a:p>
        </p:txBody>
      </p:sp>
      <p:pic>
        <p:nvPicPr>
          <p:cNvPr id="6" name="内容占位符 5"/>
          <p:cNvPicPr>
            <a:picLocks noChangeAspect="1"/>
          </p:cNvPicPr>
          <p:nvPr>
            <p:ph idx="1"/>
          </p:nvPr>
        </p:nvPicPr>
        <p:blipFill>
          <a:blip r:embed="rId1"/>
          <a:stretch>
            <a:fillRect/>
          </a:stretch>
        </p:blipFill>
        <p:spPr>
          <a:xfrm>
            <a:off x="2641600" y="1825625"/>
            <a:ext cx="6527165" cy="4351655"/>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盲</a:t>
            </a:r>
            <a:r>
              <a:rPr lang="zh-CN" altLang="en-US"/>
              <a:t>分离</a:t>
            </a:r>
            <a:endParaRPr lang="zh-CN" altLang="en-US"/>
          </a:p>
        </p:txBody>
      </p:sp>
      <p:pic>
        <p:nvPicPr>
          <p:cNvPr id="6" name="内容占位符 5"/>
          <p:cNvPicPr>
            <a:picLocks noChangeAspect="1"/>
          </p:cNvPicPr>
          <p:nvPr>
            <p:ph idx="1"/>
          </p:nvPr>
        </p:nvPicPr>
        <p:blipFill>
          <a:blip r:embed="rId1"/>
          <a:stretch>
            <a:fillRect/>
          </a:stretch>
        </p:blipFill>
        <p:spPr>
          <a:xfrm>
            <a:off x="2641600" y="1825625"/>
            <a:ext cx="6527165" cy="4351655"/>
          </a:xfrm>
          <a:prstGeom prst="rect">
            <a:avLst/>
          </a:prstGeom>
        </p:spPr>
      </p:pic>
    </p:spTree>
  </p:cSld>
  <p:clrMapOvr>
    <a:masterClrMapping/>
  </p:clrMapOvr>
</p:sld>
</file>

<file path=ppt/theme/theme1.xml><?xml version="1.0" encoding="utf-8"?>
<a:theme xmlns:a="http://schemas.openxmlformats.org/drawingml/2006/main" name="WPS">
  <a:themeElements>
    <a:clrScheme name="WPS">
      <a:dk1>
        <a:sysClr val="windowText" lastClr="000000"/>
      </a:dk1>
      <a:lt1>
        <a:sysClr val="window" lastClr="FFFFFF"/>
      </a:lt1>
      <a:dk2>
        <a:srgbClr val="0F1423"/>
      </a:dk2>
      <a:lt2>
        <a:srgbClr val="FFFFFF"/>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Calibri"/>
        <a:ea typeface="宋体"/>
        <a:cs typeface=""/>
      </a:majorFont>
      <a:minorFont>
        <a:latin typeface="Calibri"/>
        <a:ea typeface="宋体"/>
        <a:cs typeface=""/>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宋体"/>
        <a:ea typeface=""/>
        <a:cs typeface=""/>
        <a:font script="Jpan" typeface="游ゴシック Light"/>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宋体"/>
        <a:ea typeface=""/>
        <a:cs typeface=""/>
        <a:font script="Jpan" typeface="游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340</Words>
  <Application>WPS 文字</Application>
  <PresentationFormat>宽屏</PresentationFormat>
  <Paragraphs>38</Paragraphs>
  <Slides>9</Slides>
  <Notes>1</Notes>
  <HiddenSlides>0</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9</vt:i4>
      </vt:variant>
    </vt:vector>
  </HeadingPairs>
  <TitlesOfParts>
    <vt:vector size="22" baseType="lpstr">
      <vt:lpstr>Arial</vt:lpstr>
      <vt:lpstr>宋体</vt:lpstr>
      <vt:lpstr>Wingdings</vt:lpstr>
      <vt:lpstr>Calibri</vt:lpstr>
      <vt:lpstr>Helvetica Neue</vt:lpstr>
      <vt:lpstr>汉仪书宋二KW</vt:lpstr>
      <vt:lpstr>微软雅黑</vt:lpstr>
      <vt:lpstr>汉仪旗黑</vt:lpstr>
      <vt:lpstr>宋体</vt:lpstr>
      <vt:lpstr>Arial Unicode MS</vt:lpstr>
      <vt:lpstr>DejaVu Math TeX Gyre</vt:lpstr>
      <vt:lpstr>宋体</vt:lpstr>
      <vt:lpstr>WPS</vt:lpstr>
      <vt:lpstr>PowerPoint 演示文稿</vt:lpstr>
      <vt:lpstr>PowerPoint 演示文稿</vt:lpstr>
      <vt:lpstr>维纳滤波器</vt:lpstr>
      <vt:lpstr>维纳滤波器</vt:lpstr>
      <vt:lpstr>频移</vt:lpstr>
      <vt:lpstr>PowerPoint 演示文稿</vt:lpstr>
      <vt:lpstr>频移</vt:lpstr>
      <vt:lpstr>未知期望信号，在时域上训练</vt:lpstr>
      <vt:lpstr>频移</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
  <cp:lastModifiedBy>吴伯涛</cp:lastModifiedBy>
  <cp:revision>18</cp:revision>
  <dcterms:created xsi:type="dcterms:W3CDTF">2025-12-01T00:51:05Z</dcterms:created>
  <dcterms:modified xsi:type="dcterms:W3CDTF">2025-12-01T00:51:05Z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2052-6.12.1.8902</vt:lpwstr>
  </property>
  <property fmtid="{D5CDD505-2E9C-101B-9397-08002B2CF9AE}" pid="3" name="ICV">
    <vt:lpwstr>6FF051160DB71ACD43DD2C690A3C7A86_42</vt:lpwstr>
  </property>
</Properties>
</file>
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7"/>
  </p:notesMasterIdLst>
  <p:handoutMasterIdLst>
    <p:handoutMasterId r:id="rId8"/>
  </p:handoutMasterIdLst>
  <p:sldIdLst>
    <p:sldId id="11478" r:id="rId3"/>
    <p:sldId id="11463" r:id="rId4"/>
    <p:sldId id="11479" r:id="rId5"/>
    <p:sldId id="11468" r:id="rId6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内容页" id="{EB11151C-0E14-47B0-8218-1431BF894351}">
          <p14:sldIdLst>
            <p14:sldId id="11478"/>
            <p14:sldId id="11463"/>
            <p14:sldId id="11479"/>
            <p14:sldId id="11468"/>
          </p14:sldIdLst>
        </p14:section>
      </p14:sectionLst>
    </p:ext>
    <p:ext uri="{EFAFB233-063F-42B5-8137-9DF3F51BA10A}">
      <p15:sldGuideLst xmlns:p15="http://schemas.microsoft.com/office/powerpoint/2012/main">
        <p15:guide id="4" pos="3786" userDrawn="1">
          <p15:clr>
            <a:srgbClr val="A4A3A4"/>
          </p15:clr>
        </p15:guide>
        <p15:guide id="5" orient="horz" pos="1032" userDrawn="1">
          <p15:clr>
            <a:srgbClr val="A4A3A4"/>
          </p15:clr>
        </p15:guide>
        <p15:guide id="6" orient="horz" pos="1564" userDrawn="1">
          <p15:clr>
            <a:srgbClr val="A4A3A4"/>
          </p15:clr>
        </p15:guide>
        <p15:guide id="7" orient="horz" pos="3387" userDrawn="1">
          <p15:clr>
            <a:srgbClr val="A4A3A4"/>
          </p15:clr>
        </p15:guide>
        <p15:guide id="8" pos="2172" userDrawn="1">
          <p15:clr>
            <a:srgbClr val="A4A3A4"/>
          </p15:clr>
        </p15:guide>
        <p15:guide id="9" pos="3970" userDrawn="1">
          <p15:clr>
            <a:srgbClr val="A4A3A4"/>
          </p15:clr>
        </p15:guide>
        <p15:guide id="10" pos="6138" userDrawn="1">
          <p15:clr>
            <a:srgbClr val="A4A3A4"/>
          </p15:clr>
        </p15:guide>
        <p15:guide id="11" pos="5312" userDrawn="1">
          <p15:clr>
            <a:srgbClr val="A4A3A4"/>
          </p15:clr>
        </p15:guide>
        <p15:guide id="12" pos="2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任 安然" initials="任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A8"/>
    <a:srgbClr val="006FBF"/>
    <a:srgbClr val="C8161E"/>
    <a:srgbClr val="3974D7"/>
    <a:srgbClr val="D94E5D"/>
    <a:srgbClr val="FFFFFF"/>
    <a:srgbClr val="E8E8EF"/>
    <a:srgbClr val="9CB9EB"/>
    <a:srgbClr val="E1EAF9"/>
    <a:srgbClr val="E2E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7417" autoAdjust="0"/>
  </p:normalViewPr>
  <p:slideViewPr>
    <p:cSldViewPr snapToGrid="0" showGuides="1">
      <p:cViewPr varScale="1">
        <p:scale>
          <a:sx n="92" d="100"/>
          <a:sy n="92" d="100"/>
        </p:scale>
        <p:origin x="80" y="64"/>
      </p:cViewPr>
      <p:guideLst>
        <p:guide pos="3786"/>
        <p:guide orient="horz" pos="1032"/>
        <p:guide orient="horz" pos="1564"/>
        <p:guide orient="horz" pos="3387"/>
        <p:guide pos="2172"/>
        <p:guide pos="3970"/>
        <p:guide pos="6138"/>
        <p:guide pos="5312"/>
        <p:guide pos="2360"/>
      </p:guideLst>
    </p:cSldViewPr>
  </p:slideViewPr>
  <p:outlineViewPr>
    <p:cViewPr>
      <p:scale>
        <a:sx n="33" d="100"/>
        <a:sy n="33" d="100"/>
      </p:scale>
      <p:origin x="0" y="-5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170"/>
    </p:cViewPr>
  </p:sorterViewPr>
  <p:notesViewPr>
    <p:cSldViewPr snapToGrid="0"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85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704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0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2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1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ttps://docer-ks3.wpscdn.cn/picture/115038869/45293764295a4d72ee03cfdc158ce9d3_612.jpg" descr="蓝色抽象现代背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"/>
            <a:ext cx="12192635" cy="68580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446010" y="-6350"/>
            <a:ext cx="3615690" cy="6864350"/>
            <a:chOff x="3110" y="-10"/>
            <a:chExt cx="5694" cy="10810"/>
          </a:xfrm>
        </p:grpSpPr>
        <p:sp>
          <p:nvSpPr>
            <p:cNvPr id="8" name="矩形 7"/>
            <p:cNvSpPr/>
            <p:nvPr/>
          </p:nvSpPr>
          <p:spPr>
            <a:xfrm>
              <a:off x="3110" y="0"/>
              <a:ext cx="5694" cy="108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603" y="-10"/>
              <a:ext cx="2612" cy="2807"/>
            </a:xfrm>
            <a:prstGeom prst="rect">
              <a:avLst/>
            </a:prstGeom>
            <a:solidFill>
              <a:srgbClr val="0043A8"/>
            </a:solidFill>
          </p:spPr>
          <p:txBody>
            <a:bodyPr wrap="none">
              <a:noAutofit/>
            </a:bodyPr>
            <a:lstStyle/>
            <a:p>
              <a:pPr lvl="0" algn="ctr"/>
              <a:endParaRPr lang="en-US" altLang="zh-CN" sz="9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603" y="830"/>
              <a:ext cx="2612" cy="2999"/>
            </a:xfrm>
            <a:prstGeom prst="rect">
              <a:avLst/>
            </a:prstGeom>
            <a:solidFill>
              <a:srgbClr val="0043A8"/>
            </a:solidFill>
          </p:spPr>
          <p:txBody>
            <a:bodyPr wrap="none">
              <a:noAutofit/>
            </a:bodyPr>
            <a:lstStyle/>
            <a:p>
              <a:pPr lvl="0" algn="ctr"/>
              <a:r>
                <a:rPr lang="en-US" altLang="zh-CN" sz="9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</a:p>
          </p:txBody>
        </p:sp>
        <p:sp>
          <p:nvSpPr>
            <p:cNvPr id="22" name="矩形 21"/>
            <p:cNvSpPr/>
            <p:nvPr/>
          </p:nvSpPr>
          <p:spPr>
            <a:xfrm rot="16200000">
              <a:off x="5934" y="6502"/>
              <a:ext cx="120" cy="2926"/>
            </a:xfrm>
            <a:prstGeom prst="rect">
              <a:avLst/>
            </a:prstGeom>
            <a:solidFill>
              <a:srgbClr val="0043A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020" y="4462"/>
              <a:ext cx="3947" cy="33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srgbClr val="003E9C"/>
                  </a:solidFill>
                  <a:cs typeface="+mj-cs"/>
                </a:rPr>
                <a:t>研究背景</a:t>
              </a:r>
            </a:p>
            <a:p>
              <a:pPr algn="ctr"/>
              <a:r>
                <a:rPr lang="zh-CN" altLang="en-US" sz="4400" b="1" dirty="0">
                  <a:solidFill>
                    <a:srgbClr val="003E9C"/>
                  </a:solidFill>
                  <a:cs typeface="+mj-cs"/>
                </a:rPr>
                <a:t>与</a:t>
              </a:r>
            </a:p>
            <a:p>
              <a:pPr algn="ctr"/>
              <a:r>
                <a:rPr lang="zh-CN" altLang="en-US" sz="4400" b="1" dirty="0">
                  <a:solidFill>
                    <a:srgbClr val="003E9C"/>
                  </a:solidFill>
                  <a:cs typeface="+mj-cs"/>
                </a:rPr>
                <a:t>研究需求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7109460" y="-5715"/>
            <a:ext cx="153035" cy="685673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66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 6"/>
          <p:cNvSpPr txBox="1"/>
          <p:nvPr>
            <p:custDataLst>
              <p:tags r:id="rId1"/>
            </p:custDataLst>
          </p:nvPr>
        </p:nvSpPr>
        <p:spPr>
          <a:xfrm>
            <a:off x="647700" y="83820"/>
            <a:ext cx="1877695" cy="762000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dirty="0">
                <a:solidFill>
                  <a:srgbClr val="0043A8"/>
                </a:solidFill>
              </a:rPr>
              <a:t>研究需求</a:t>
            </a:r>
          </a:p>
        </p:txBody>
      </p:sp>
      <p:cxnSp>
        <p:nvCxnSpPr>
          <p:cNvPr id="51" name="直接连接符 50"/>
          <p:cNvCxnSpPr/>
          <p:nvPr>
            <p:custDataLst>
              <p:tags r:id="rId2"/>
            </p:custDataLst>
          </p:nvPr>
        </p:nvCxnSpPr>
        <p:spPr>
          <a:xfrm>
            <a:off x="414024" y="245115"/>
            <a:ext cx="5080" cy="439420"/>
          </a:xfrm>
          <a:prstGeom prst="line">
            <a:avLst/>
          </a:prstGeom>
          <a:ln w="101600">
            <a:solidFill>
              <a:srgbClr val="004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666934" y="6069402"/>
            <a:ext cx="11314395" cy="58784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支撑</a:t>
            </a:r>
            <a:r>
              <a:rPr lang="en-US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XBDK</a:t>
            </a:r>
            <a:r>
              <a:rPr lang="zh-CN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这一新型</a:t>
            </a:r>
            <a:r>
              <a:rPr lang="en-US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ZZ</a:t>
            </a:r>
            <a:r>
              <a:rPr lang="zh-CN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样式以及</a:t>
            </a:r>
            <a:r>
              <a:rPr lang="en-US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TK</a:t>
            </a:r>
            <a:r>
              <a:rPr lang="zh-CN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电磁域</a:t>
            </a:r>
            <a:r>
              <a:rPr lang="en-US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ZZ</a:t>
            </a:r>
            <a:r>
              <a:rPr lang="zh-CN" altLang="zh-CN" sz="2400" b="1" kern="100" dirty="0">
                <a:solidFill>
                  <a:schemeClr val="tx1"/>
                </a:solidFill>
                <a:latin typeface="+mj-ea"/>
                <a:ea typeface="+mj-ea"/>
                <a:cs typeface="Times New Roman" panose="02020603050405020304" pitchFamily="18" charset="0"/>
              </a:rPr>
              <a:t>能力提升</a:t>
            </a:r>
            <a:endParaRPr lang="zh-CN" altLang="en-US" sz="2400" b="1" kern="100" dirty="0">
              <a:solidFill>
                <a:schemeClr val="tx1"/>
              </a:solidFill>
              <a:latin typeface="+mj-ea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箭头: 下 19"/>
          <p:cNvSpPr/>
          <p:nvPr/>
        </p:nvSpPr>
        <p:spPr>
          <a:xfrm>
            <a:off x="10037990" y="1088262"/>
            <a:ext cx="1914860" cy="4981140"/>
          </a:xfrm>
          <a:prstGeom prst="downArrow">
            <a:avLst>
              <a:gd name="adj1" fmla="val 50000"/>
              <a:gd name="adj2" fmla="val 33691"/>
            </a:avLst>
          </a:prstGeom>
          <a:solidFill>
            <a:srgbClr val="0043A8">
              <a:alpha val="50000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下 18"/>
          <p:cNvSpPr/>
          <p:nvPr/>
        </p:nvSpPr>
        <p:spPr>
          <a:xfrm>
            <a:off x="2491592" y="5672518"/>
            <a:ext cx="590550" cy="284042"/>
          </a:xfrm>
          <a:prstGeom prst="downArrow">
            <a:avLst/>
          </a:prstGeom>
          <a:solidFill>
            <a:srgbClr val="0043A8"/>
          </a:solidFill>
          <a:ln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3A8"/>
              </a:solidFill>
            </a:endParaRPr>
          </a:p>
        </p:txBody>
      </p:sp>
      <p:sp>
        <p:nvSpPr>
          <p:cNvPr id="69" name="箭头: 下 18">
            <a:extLst>
              <a:ext uri="{FF2B5EF4-FFF2-40B4-BE49-F238E27FC236}">
                <a16:creationId xmlns:a16="http://schemas.microsoft.com/office/drawing/2014/main" id="{4912304C-9C54-48BE-8A56-BB5E8D7CF3A2}"/>
              </a:ext>
            </a:extLst>
          </p:cNvPr>
          <p:cNvSpPr/>
          <p:nvPr/>
        </p:nvSpPr>
        <p:spPr>
          <a:xfrm>
            <a:off x="2491592" y="2388124"/>
            <a:ext cx="590550" cy="284531"/>
          </a:xfrm>
          <a:prstGeom prst="downArrow">
            <a:avLst/>
          </a:prstGeom>
          <a:solidFill>
            <a:srgbClr val="0043A8"/>
          </a:solidFill>
          <a:ln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3A8"/>
              </a:solidFill>
            </a:endParaRPr>
          </a:p>
        </p:txBody>
      </p:sp>
      <p:sp>
        <p:nvSpPr>
          <p:cNvPr id="70" name="箭头: 下 18">
            <a:extLst>
              <a:ext uri="{FF2B5EF4-FFF2-40B4-BE49-F238E27FC236}">
                <a16:creationId xmlns:a16="http://schemas.microsoft.com/office/drawing/2014/main" id="{79080FF8-520F-4CF2-B29A-E6C9CB9ADFD5}"/>
              </a:ext>
            </a:extLst>
          </p:cNvPr>
          <p:cNvSpPr/>
          <p:nvPr/>
        </p:nvSpPr>
        <p:spPr>
          <a:xfrm>
            <a:off x="2491592" y="4030320"/>
            <a:ext cx="590550" cy="284531"/>
          </a:xfrm>
          <a:prstGeom prst="downArrow">
            <a:avLst/>
          </a:prstGeom>
          <a:solidFill>
            <a:srgbClr val="0043A8"/>
          </a:solidFill>
          <a:ln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3A8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455420" y="4595915"/>
            <a:ext cx="1080000" cy="795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精准认知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AEBD64-35EE-4FAE-B1F1-FB66DE50FB04}"/>
              </a:ext>
            </a:extLst>
          </p:cNvPr>
          <p:cNvGrpSpPr/>
          <p:nvPr/>
        </p:nvGrpSpPr>
        <p:grpSpPr>
          <a:xfrm>
            <a:off x="626867" y="4372654"/>
            <a:ext cx="4320000" cy="1242058"/>
            <a:chOff x="73144" y="4319871"/>
            <a:chExt cx="4320000" cy="1297423"/>
          </a:xfrm>
        </p:grpSpPr>
        <p:sp>
          <p:nvSpPr>
            <p:cNvPr id="14" name="矩形: 圆角 13"/>
            <p:cNvSpPr/>
            <p:nvPr/>
          </p:nvSpPr>
          <p:spPr>
            <a:xfrm>
              <a:off x="73144" y="4319871"/>
              <a:ext cx="4320000" cy="1297423"/>
            </a:xfrm>
            <a:prstGeom prst="roundRect">
              <a:avLst/>
            </a:prstGeom>
            <a:noFill/>
            <a:ln w="28575">
              <a:solidFill>
                <a:srgbClr val="004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A8C92A3-B7E0-4244-A57D-4FCC1A27B849}"/>
                </a:ext>
              </a:extLst>
            </p:cNvPr>
            <p:cNvGrpSpPr/>
            <p:nvPr/>
          </p:nvGrpSpPr>
          <p:grpSpPr>
            <a:xfrm>
              <a:off x="330060" y="4446091"/>
              <a:ext cx="3806168" cy="1044983"/>
              <a:chOff x="217983" y="4383681"/>
              <a:chExt cx="3806168" cy="1044983"/>
            </a:xfrm>
          </p:grpSpPr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78A664E-C50A-42F8-9774-FF3F6121B31F}"/>
                  </a:ext>
                </a:extLst>
              </p:cNvPr>
              <p:cNvSpPr txBox="1"/>
              <p:nvPr/>
            </p:nvSpPr>
            <p:spPr>
              <a:xfrm>
                <a:off x="217983" y="4383681"/>
                <a:ext cx="3806168" cy="418191"/>
              </a:xfrm>
              <a:prstGeom prst="rect">
                <a:avLst/>
              </a:prstGeom>
              <a:noFill/>
            </p:spPr>
            <p:txBody>
              <a:bodyPr wrap="square" numCol="1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600" b="1" kern="100" dirty="0">
                    <a:latin typeface="+mn-ea"/>
                    <a:cs typeface="仿宋_GB2312"/>
                  </a:rPr>
                  <a:t>侦察目标</a:t>
                </a:r>
                <a:r>
                  <a:rPr lang="zh-CN" altLang="en-US" sz="1600" b="1" kern="100" dirty="0">
                    <a:effectLst/>
                    <a:latin typeface="+mn-ea"/>
                    <a:cs typeface="仿宋_GB2312"/>
                  </a:rPr>
                  <a:t>复杂异构</a:t>
                </a:r>
                <a:endParaRPr lang="zh-CN" altLang="en-US" sz="1600" b="1" dirty="0">
                  <a:latin typeface="+mn-ea"/>
                </a:endParaRPr>
              </a:p>
            </p:txBody>
          </p: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F24E4FAD-07F5-421B-8CB1-FF6A0F8FDA6B}"/>
                  </a:ext>
                </a:extLst>
              </p:cNvPr>
              <p:cNvGrpSpPr/>
              <p:nvPr/>
            </p:nvGrpSpPr>
            <p:grpSpPr>
              <a:xfrm>
                <a:off x="391116" y="4814970"/>
                <a:ext cx="3614807" cy="613694"/>
                <a:chOff x="391116" y="4814970"/>
                <a:chExt cx="3614807" cy="613694"/>
              </a:xfrm>
            </p:grpSpPr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A087D2D7-4B80-4731-BEE3-FF745C398EE2}"/>
                    </a:ext>
                  </a:extLst>
                </p:cNvPr>
                <p:cNvSpPr txBox="1"/>
                <p:nvPr/>
              </p:nvSpPr>
              <p:spPr>
                <a:xfrm>
                  <a:off x="391116" y="4814970"/>
                  <a:ext cx="1146140" cy="613694"/>
                </a:xfrm>
                <a:prstGeom prst="rect">
                  <a:avLst/>
                </a:prstGeom>
                <a:noFill/>
              </p:spPr>
              <p:txBody>
                <a:bodyPr wrap="square" numCol="1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en-US" sz="12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物理多变</a:t>
                  </a:r>
                  <a:endParaRPr lang="en-US" altLang="zh-CN" sz="12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en-US" sz="12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变换复杂</a:t>
                  </a:r>
                  <a:endParaRPr lang="en-US" altLang="zh-CN" sz="12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AA400C8-929B-4943-993C-81C865E27548}"/>
                    </a:ext>
                  </a:extLst>
                </p:cNvPr>
                <p:cNvSpPr txBox="1"/>
                <p:nvPr/>
              </p:nvSpPr>
              <p:spPr>
                <a:xfrm>
                  <a:off x="1649203" y="4814970"/>
                  <a:ext cx="1158232" cy="6136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en-US" sz="1200" kern="100" dirty="0">
                      <a:latin typeface="+mn-ea"/>
                      <a:cs typeface="Times New Roman" panose="02020603050405020304" pitchFamily="18" charset="0"/>
                    </a:rPr>
                    <a:t>无线动态</a:t>
                  </a:r>
                  <a:endParaRPr lang="en-US" altLang="zh-CN" sz="1200" kern="100" dirty="0"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en-US" sz="1200" kern="100" dirty="0">
                      <a:latin typeface="+mn-ea"/>
                      <a:cs typeface="Times New Roman" panose="02020603050405020304" pitchFamily="18" charset="0"/>
                    </a:rPr>
                    <a:t>标准异构</a:t>
                  </a:r>
                  <a:endParaRPr lang="en-US" altLang="zh-CN" sz="1200" kern="100" dirty="0">
                    <a:latin typeface="+mn-ea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A2AB8B47-F841-4676-B78C-168A6C037F2E}"/>
                    </a:ext>
                  </a:extLst>
                </p:cNvPr>
                <p:cNvSpPr txBox="1"/>
                <p:nvPr/>
              </p:nvSpPr>
              <p:spPr>
                <a:xfrm>
                  <a:off x="2919383" y="4814970"/>
                  <a:ext cx="1086540" cy="336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en-US" sz="1200" kern="100" dirty="0">
                      <a:latin typeface="+mn-ea"/>
                      <a:cs typeface="Times New Roman" panose="02020603050405020304" pitchFamily="18" charset="0"/>
                    </a:rPr>
                    <a:t>业务繁多</a:t>
                  </a:r>
                </a:p>
              </p:txBody>
            </p:sp>
          </p:grp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C25A086-B875-4EFA-BE96-1C2738413969}"/>
              </a:ext>
            </a:extLst>
          </p:cNvPr>
          <p:cNvGrpSpPr/>
          <p:nvPr/>
        </p:nvGrpSpPr>
        <p:grpSpPr>
          <a:xfrm>
            <a:off x="8433875" y="4595915"/>
            <a:ext cx="1980000" cy="795536"/>
            <a:chOff x="8325086" y="4552897"/>
            <a:chExt cx="2004262" cy="830997"/>
          </a:xfrm>
        </p:grpSpPr>
        <p:cxnSp>
          <p:nvCxnSpPr>
            <p:cNvPr id="28" name="直接箭头连接符 27"/>
            <p:cNvCxnSpPr>
              <a:cxnSpLocks/>
            </p:cNvCxnSpPr>
            <p:nvPr/>
          </p:nvCxnSpPr>
          <p:spPr>
            <a:xfrm flipV="1">
              <a:off x="8713450" y="4960598"/>
              <a:ext cx="1440000" cy="6463"/>
            </a:xfrm>
            <a:prstGeom prst="straightConnector1">
              <a:avLst/>
            </a:prstGeom>
            <a:ln w="25400">
              <a:solidFill>
                <a:srgbClr val="0043A8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F1751FA-3478-4A31-AF57-B9C5217A9891}"/>
                </a:ext>
              </a:extLst>
            </p:cNvPr>
            <p:cNvSpPr txBox="1"/>
            <p:nvPr/>
          </p:nvSpPr>
          <p:spPr>
            <a:xfrm>
              <a:off x="8325086" y="4552897"/>
              <a:ext cx="20042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zh-CN" sz="1600" b="1" dirty="0"/>
                <a:t>辐射源动态行为</a:t>
              </a:r>
              <a:endParaRPr lang="en-US" altLang="zh-CN" sz="1600" b="1" dirty="0"/>
            </a:p>
            <a:p>
              <a:pPr algn="ctr"/>
              <a:endParaRPr lang="en-US" altLang="zh-CN" sz="1600" b="1" dirty="0"/>
            </a:p>
            <a:p>
              <a:pPr algn="ctr"/>
              <a:r>
                <a:rPr lang="zh-CN" altLang="zh-CN" sz="1600" b="1" dirty="0"/>
                <a:t>意图认知</a:t>
              </a:r>
              <a:endParaRPr lang="en-US" altLang="zh-CN" sz="1600" b="1" dirty="0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A340951C-478A-4CAF-A071-6C63E2236796}"/>
              </a:ext>
            </a:extLst>
          </p:cNvPr>
          <p:cNvGrpSpPr/>
          <p:nvPr/>
        </p:nvGrpSpPr>
        <p:grpSpPr>
          <a:xfrm>
            <a:off x="5855539" y="4372654"/>
            <a:ext cx="2520000" cy="1242058"/>
            <a:chOff x="1079373" y="879673"/>
            <a:chExt cx="7490762" cy="1297423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B4C1E202-874B-45EA-8EC0-3EAF630B06DE}"/>
                </a:ext>
              </a:extLst>
            </p:cNvPr>
            <p:cNvSpPr/>
            <p:nvPr/>
          </p:nvSpPr>
          <p:spPr>
            <a:xfrm>
              <a:off x="1079373" y="879673"/>
              <a:ext cx="7490762" cy="1297423"/>
            </a:xfrm>
            <a:prstGeom prst="roundRect">
              <a:avLst/>
            </a:prstGeom>
            <a:noFill/>
            <a:ln w="28575">
              <a:solidFill>
                <a:srgbClr val="004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B3D35816-5762-4676-8906-CD8055914EEB}"/>
                </a:ext>
              </a:extLst>
            </p:cNvPr>
            <p:cNvSpPr txBox="1"/>
            <p:nvPr/>
          </p:nvSpPr>
          <p:spPr>
            <a:xfrm>
              <a:off x="1277552" y="981104"/>
              <a:ext cx="494570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zh-CN" altLang="en-US" sz="1600" b="1" kern="100" dirty="0">
                  <a:latin typeface="+mn-ea"/>
                </a:rPr>
                <a:t>混淆误判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C1BD0B5-7558-4628-AE18-74576010BD9F}"/>
                </a:ext>
              </a:extLst>
            </p:cNvPr>
            <p:cNvSpPr txBox="1"/>
            <p:nvPr/>
          </p:nvSpPr>
          <p:spPr>
            <a:xfrm>
              <a:off x="1926014" y="1246824"/>
              <a:ext cx="6457330" cy="890372"/>
            </a:xfrm>
            <a:prstGeom prst="rect">
              <a:avLst/>
            </a:prstGeom>
            <a:noFill/>
          </p:spPr>
          <p:txBody>
            <a:bodyPr wrap="square" numCol="1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/>
                <a:t>组合繁多难以分辨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>
                  <a:solidFill>
                    <a:schemeClr val="tx1"/>
                  </a:solidFill>
                </a:rPr>
                <a:t>目标行为隐蔽难以察觉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>
                  <a:solidFill>
                    <a:schemeClr val="tx1"/>
                  </a:solidFill>
                </a:rPr>
                <a:t>目标意图欺骗性强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AA87C2D-A0E8-4E6F-B3FD-108BD88A5471}"/>
              </a:ext>
            </a:extLst>
          </p:cNvPr>
          <p:cNvGrpSpPr/>
          <p:nvPr/>
        </p:nvGrpSpPr>
        <p:grpSpPr>
          <a:xfrm>
            <a:off x="5005203" y="4595915"/>
            <a:ext cx="792000" cy="795536"/>
            <a:chOff x="5037066" y="4559038"/>
            <a:chExt cx="757699" cy="830997"/>
          </a:xfrm>
        </p:grpSpPr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D4126518-64DD-4D57-A898-146B4E6BB702}"/>
                </a:ext>
              </a:extLst>
            </p:cNvPr>
            <p:cNvSpPr txBox="1"/>
            <p:nvPr/>
          </p:nvSpPr>
          <p:spPr>
            <a:xfrm>
              <a:off x="5037066" y="4559038"/>
              <a:ext cx="75769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/>
                <a:t>认知</a:t>
              </a:r>
              <a:endParaRPr lang="en-US" altLang="zh-CN" sz="1600" b="1" dirty="0"/>
            </a:p>
            <a:p>
              <a:pPr algn="ctr"/>
              <a:endParaRPr lang="en-US" altLang="zh-CN" sz="1600" b="1" dirty="0"/>
            </a:p>
            <a:p>
              <a:pPr algn="ctr"/>
              <a:r>
                <a:rPr lang="zh-CN" altLang="en-US" sz="1600" b="1" dirty="0"/>
                <a:t>困难</a:t>
              </a:r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A61AD09-6CAE-4933-B930-890EFD042763}"/>
                </a:ext>
              </a:extLst>
            </p:cNvPr>
            <p:cNvCxnSpPr>
              <a:cxnSpLocks/>
            </p:cNvCxnSpPr>
            <p:nvPr/>
          </p:nvCxnSpPr>
          <p:spPr>
            <a:xfrm>
              <a:off x="5145915" y="4969253"/>
              <a:ext cx="540000" cy="0"/>
            </a:xfrm>
            <a:prstGeom prst="straightConnector1">
              <a:avLst/>
            </a:prstGeom>
            <a:ln w="25400">
              <a:solidFill>
                <a:srgbClr val="0043A8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/>
          <p:cNvSpPr txBox="1"/>
          <p:nvPr/>
        </p:nvSpPr>
        <p:spPr>
          <a:xfrm>
            <a:off x="10455420" y="1311523"/>
            <a:ext cx="1080000" cy="795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无损采集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F76ACE8-538A-4BDE-A5F6-0E108CEC0E49}"/>
              </a:ext>
            </a:extLst>
          </p:cNvPr>
          <p:cNvGrpSpPr/>
          <p:nvPr/>
        </p:nvGrpSpPr>
        <p:grpSpPr>
          <a:xfrm>
            <a:off x="626867" y="1088262"/>
            <a:ext cx="4320000" cy="1242058"/>
            <a:chOff x="702958" y="879673"/>
            <a:chExt cx="4320000" cy="1297423"/>
          </a:xfrm>
        </p:grpSpPr>
        <p:sp>
          <p:nvSpPr>
            <p:cNvPr id="4" name="矩形: 圆角 3"/>
            <p:cNvSpPr/>
            <p:nvPr/>
          </p:nvSpPr>
          <p:spPr>
            <a:xfrm>
              <a:off x="702958" y="879673"/>
              <a:ext cx="4320000" cy="1297423"/>
            </a:xfrm>
            <a:prstGeom prst="roundRect">
              <a:avLst/>
            </a:prstGeom>
            <a:noFill/>
            <a:ln w="28575">
              <a:solidFill>
                <a:srgbClr val="004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2701CE6-0661-4718-8F05-9D16725DBCCE}"/>
                </a:ext>
              </a:extLst>
            </p:cNvPr>
            <p:cNvGrpSpPr/>
            <p:nvPr/>
          </p:nvGrpSpPr>
          <p:grpSpPr>
            <a:xfrm>
              <a:off x="785433" y="1047602"/>
              <a:ext cx="4155050" cy="961565"/>
              <a:chOff x="810732" y="1040127"/>
              <a:chExt cx="4282248" cy="961565"/>
            </a:xfrm>
          </p:grpSpPr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FE9AAF5A-8BE0-40F7-84D1-FE65E561B74D}"/>
                  </a:ext>
                </a:extLst>
              </p:cNvPr>
              <p:cNvSpPr txBox="1"/>
              <p:nvPr/>
            </p:nvSpPr>
            <p:spPr>
              <a:xfrm>
                <a:off x="810732" y="1040127"/>
                <a:ext cx="307052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n"/>
                </a:pPr>
                <a:r>
                  <a:rPr lang="zh-CN" altLang="en-US" sz="1600" b="1" kern="100" dirty="0">
                    <a:effectLst/>
                    <a:latin typeface="+mn-ea"/>
                    <a:cs typeface="仿宋_GB2312"/>
                  </a:rPr>
                  <a:t>侦收范围广</a:t>
                </a:r>
                <a:r>
                  <a:rPr lang="zh-CN" altLang="zh-CN" sz="1600" b="1" kern="100" dirty="0">
                    <a:effectLst/>
                    <a:latin typeface="+mn-ea"/>
                    <a:cs typeface="仿宋_GB2312"/>
                  </a:rPr>
                  <a:t>跨度大</a:t>
                </a:r>
                <a:endParaRPr lang="zh-CN" altLang="en-US" sz="1600" b="1" dirty="0">
                  <a:latin typeface="+mn-ea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877BC35-1556-433F-B26E-43CCC8B4DEF9}"/>
                  </a:ext>
                </a:extLst>
              </p:cNvPr>
              <p:cNvSpPr txBox="1"/>
              <p:nvPr/>
            </p:nvSpPr>
            <p:spPr>
              <a:xfrm>
                <a:off x="988527" y="1388319"/>
                <a:ext cx="4104453" cy="613373"/>
              </a:xfrm>
              <a:prstGeom prst="rect">
                <a:avLst/>
              </a:prstGeom>
              <a:noFill/>
            </p:spPr>
            <p:txBody>
              <a:bodyPr wrap="square" numCol="1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1200" dirty="0"/>
                  <a:t>12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GHz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以下：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L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波段、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波段、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C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波段、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波段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…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12GHz</a:t>
                </a:r>
                <a:r>
                  <a:rPr lang="zh-CN" altLang="en-US" sz="1200" dirty="0"/>
                  <a:t>以上：</a:t>
                </a:r>
                <a:r>
                  <a:rPr lang="en-US" altLang="zh-CN" sz="1200" dirty="0"/>
                  <a:t>Ku</a:t>
                </a:r>
                <a:r>
                  <a:rPr lang="zh-CN" altLang="en-US" sz="1200" dirty="0"/>
                  <a:t>波段、</a:t>
                </a:r>
                <a:r>
                  <a:rPr lang="en-US" altLang="zh-CN" sz="1200" dirty="0"/>
                  <a:t>K</a:t>
                </a:r>
                <a:r>
                  <a:rPr lang="zh-CN" altLang="en-US" sz="1200" dirty="0"/>
                  <a:t>、波段</a:t>
                </a:r>
                <a:r>
                  <a:rPr lang="en-US" altLang="zh-CN" sz="1200" dirty="0"/>
                  <a:t>Ka</a:t>
                </a:r>
                <a:r>
                  <a:rPr lang="zh-CN" altLang="en-US" sz="1200" dirty="0"/>
                  <a:t>波段、</a:t>
                </a:r>
                <a:r>
                  <a:rPr lang="en-US" altLang="zh-CN" sz="1200" dirty="0"/>
                  <a:t>Q/V</a:t>
                </a:r>
                <a:r>
                  <a:rPr lang="zh-CN" altLang="en-US" sz="1200" dirty="0"/>
                  <a:t>波段</a:t>
                </a:r>
                <a:r>
                  <a:rPr lang="en-US" altLang="zh-CN" sz="1200" dirty="0"/>
                  <a:t>…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4A1CDB1-1003-4B1F-8231-4015EA72CE5C}"/>
              </a:ext>
            </a:extLst>
          </p:cNvPr>
          <p:cNvGrpSpPr/>
          <p:nvPr/>
        </p:nvGrpSpPr>
        <p:grpSpPr>
          <a:xfrm>
            <a:off x="8433875" y="1311523"/>
            <a:ext cx="1980000" cy="795536"/>
            <a:chOff x="8289646" y="1079718"/>
            <a:chExt cx="2089638" cy="830997"/>
          </a:xfrm>
        </p:grpSpPr>
        <p:cxnSp>
          <p:nvCxnSpPr>
            <p:cNvPr id="24" name="直接箭头连接符 23"/>
            <p:cNvCxnSpPr>
              <a:cxnSpLocks/>
            </p:cNvCxnSpPr>
            <p:nvPr/>
          </p:nvCxnSpPr>
          <p:spPr>
            <a:xfrm>
              <a:off x="8676626" y="1515131"/>
              <a:ext cx="1440000" cy="10136"/>
            </a:xfrm>
            <a:prstGeom prst="straightConnector1">
              <a:avLst/>
            </a:prstGeom>
            <a:ln w="25400">
              <a:solidFill>
                <a:srgbClr val="0043A8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73DF8FF-68EF-4ED4-B713-52C052CE65DD}"/>
                </a:ext>
              </a:extLst>
            </p:cNvPr>
            <p:cNvSpPr txBox="1"/>
            <p:nvPr/>
          </p:nvSpPr>
          <p:spPr>
            <a:xfrm>
              <a:off x="8289646" y="1079718"/>
              <a:ext cx="208963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/>
                <a:t>全频段超宽带信号</a:t>
              </a:r>
              <a:endParaRPr lang="en-US" altLang="zh-CN" sz="1600" b="1" dirty="0"/>
            </a:p>
            <a:p>
              <a:pPr algn="ctr"/>
              <a:endParaRPr lang="en-US" altLang="zh-CN" sz="1600" b="1" dirty="0"/>
            </a:p>
            <a:p>
              <a:pPr algn="ctr"/>
              <a:r>
                <a:rPr lang="zh-CN" altLang="en-US" sz="1600" b="1" dirty="0"/>
                <a:t>采集与处理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BC4DA08-CFD6-46B5-AFD5-C047B3769E0C}"/>
              </a:ext>
            </a:extLst>
          </p:cNvPr>
          <p:cNvGrpSpPr/>
          <p:nvPr/>
        </p:nvGrpSpPr>
        <p:grpSpPr>
          <a:xfrm>
            <a:off x="5855539" y="1088262"/>
            <a:ext cx="2520000" cy="1242058"/>
            <a:chOff x="1079373" y="879673"/>
            <a:chExt cx="7490762" cy="1297423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DA6D91DF-F195-4539-98AF-FCA3AAE9B4D8}"/>
                </a:ext>
              </a:extLst>
            </p:cNvPr>
            <p:cNvSpPr/>
            <p:nvPr/>
          </p:nvSpPr>
          <p:spPr>
            <a:xfrm>
              <a:off x="1079373" y="879673"/>
              <a:ext cx="7490762" cy="1297423"/>
            </a:xfrm>
            <a:prstGeom prst="roundRect">
              <a:avLst/>
            </a:prstGeom>
            <a:noFill/>
            <a:ln w="28575">
              <a:solidFill>
                <a:srgbClr val="004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DADE4417-9987-49DA-8DB0-07F224344BCB}"/>
                </a:ext>
              </a:extLst>
            </p:cNvPr>
            <p:cNvSpPr txBox="1"/>
            <p:nvPr/>
          </p:nvSpPr>
          <p:spPr>
            <a:xfrm>
              <a:off x="1277551" y="981104"/>
              <a:ext cx="467855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zh-CN" altLang="en-US" sz="1600" b="1" kern="100" dirty="0">
                  <a:effectLst/>
                  <a:latin typeface="+mn-ea"/>
                  <a:cs typeface="仿宋_GB2312"/>
                </a:rPr>
                <a:t>残缺失真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0A3532F-FDD0-4C11-9C28-A752ED13C5F9}"/>
                </a:ext>
              </a:extLst>
            </p:cNvPr>
            <p:cNvSpPr txBox="1"/>
            <p:nvPr/>
          </p:nvSpPr>
          <p:spPr>
            <a:xfrm>
              <a:off x="1926014" y="1246824"/>
              <a:ext cx="6426777" cy="890372"/>
            </a:xfrm>
            <a:prstGeom prst="rect">
              <a:avLst/>
            </a:prstGeom>
            <a:noFill/>
          </p:spPr>
          <p:txBody>
            <a:bodyPr wrap="square" numCol="1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>
                  <a:solidFill>
                    <a:schemeClr val="tx1"/>
                  </a:solidFill>
                </a:rPr>
                <a:t>扫描方式丢失信号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>
                  <a:solidFill>
                    <a:schemeClr val="tx1"/>
                  </a:solidFill>
                </a:rPr>
                <a:t>高速器件卡脖子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/>
                <a:t>宽带信号失真严重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F024ECE-BE7D-47A8-AD3D-725952C882E4}"/>
              </a:ext>
            </a:extLst>
          </p:cNvPr>
          <p:cNvGrpSpPr/>
          <p:nvPr/>
        </p:nvGrpSpPr>
        <p:grpSpPr>
          <a:xfrm>
            <a:off x="5005203" y="1311523"/>
            <a:ext cx="792000" cy="795536"/>
            <a:chOff x="5037066" y="1099632"/>
            <a:chExt cx="757699" cy="830997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82596812-6EA9-4F97-BFE9-35E9EDE66B46}"/>
                </a:ext>
              </a:extLst>
            </p:cNvPr>
            <p:cNvSpPr txBox="1"/>
            <p:nvPr/>
          </p:nvSpPr>
          <p:spPr>
            <a:xfrm>
              <a:off x="5037066" y="1099632"/>
              <a:ext cx="75769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/>
                <a:t>采集</a:t>
              </a:r>
              <a:endParaRPr lang="en-US" altLang="zh-CN" sz="1600" b="1" dirty="0"/>
            </a:p>
            <a:p>
              <a:pPr algn="ctr"/>
              <a:endParaRPr lang="en-US" altLang="zh-CN" sz="1600" b="1" dirty="0"/>
            </a:p>
            <a:p>
              <a:pPr algn="ctr"/>
              <a:r>
                <a:rPr lang="zh-CN" altLang="en-US" sz="1600" b="1" dirty="0"/>
                <a:t>受限</a:t>
              </a:r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5D5E6B52-283A-4D10-88C5-EC4ECB73DF98}"/>
                </a:ext>
              </a:extLst>
            </p:cNvPr>
            <p:cNvCxnSpPr>
              <a:cxnSpLocks/>
            </p:cNvCxnSpPr>
            <p:nvPr/>
          </p:nvCxnSpPr>
          <p:spPr>
            <a:xfrm>
              <a:off x="5145915" y="1499486"/>
              <a:ext cx="540000" cy="0"/>
            </a:xfrm>
            <a:prstGeom prst="straightConnector1">
              <a:avLst/>
            </a:prstGeom>
            <a:ln w="25400">
              <a:solidFill>
                <a:srgbClr val="0043A8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/>
          <p:cNvSpPr txBox="1"/>
          <p:nvPr/>
        </p:nvSpPr>
        <p:spPr>
          <a:xfrm>
            <a:off x="10455420" y="2953719"/>
            <a:ext cx="1080000" cy="795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敏捷嗅测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F8DA51D-E28B-4E7C-A2C1-E4868AB6867E}"/>
              </a:ext>
            </a:extLst>
          </p:cNvPr>
          <p:cNvGrpSpPr/>
          <p:nvPr/>
        </p:nvGrpSpPr>
        <p:grpSpPr>
          <a:xfrm>
            <a:off x="626867" y="2730458"/>
            <a:ext cx="4320000" cy="1242058"/>
            <a:chOff x="645782" y="2606262"/>
            <a:chExt cx="4320000" cy="1297423"/>
          </a:xfrm>
        </p:grpSpPr>
        <p:sp>
          <p:nvSpPr>
            <p:cNvPr id="9" name="矩形: 圆角 8"/>
            <p:cNvSpPr/>
            <p:nvPr/>
          </p:nvSpPr>
          <p:spPr>
            <a:xfrm>
              <a:off x="645782" y="2606262"/>
              <a:ext cx="4320000" cy="1297423"/>
            </a:xfrm>
            <a:prstGeom prst="roundRect">
              <a:avLst/>
            </a:prstGeom>
            <a:noFill/>
            <a:ln w="28575">
              <a:solidFill>
                <a:srgbClr val="004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4562BD9-8114-4250-8D07-5F25202A724C}"/>
                </a:ext>
              </a:extLst>
            </p:cNvPr>
            <p:cNvGrpSpPr/>
            <p:nvPr/>
          </p:nvGrpSpPr>
          <p:grpSpPr>
            <a:xfrm>
              <a:off x="850383" y="2755829"/>
              <a:ext cx="3900015" cy="943802"/>
              <a:chOff x="895823" y="2784736"/>
              <a:chExt cx="3995355" cy="943802"/>
            </a:xfrm>
          </p:grpSpPr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655E11CC-C2BB-41A1-BE1E-5FF52E91D0A6}"/>
                  </a:ext>
                </a:extLst>
              </p:cNvPr>
              <p:cNvGrpSpPr/>
              <p:nvPr/>
            </p:nvGrpSpPr>
            <p:grpSpPr>
              <a:xfrm>
                <a:off x="1071260" y="3115165"/>
                <a:ext cx="3819918" cy="613373"/>
                <a:chOff x="276528" y="2944375"/>
                <a:chExt cx="3819918" cy="613373"/>
              </a:xfrm>
            </p:grpSpPr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89991200-C160-4284-8785-0B486700AFD6}"/>
                    </a:ext>
                  </a:extLst>
                </p:cNvPr>
                <p:cNvSpPr txBox="1"/>
                <p:nvPr/>
              </p:nvSpPr>
              <p:spPr>
                <a:xfrm>
                  <a:off x="276528" y="2944375"/>
                  <a:ext cx="1907878" cy="613373"/>
                </a:xfrm>
                <a:prstGeom prst="rect">
                  <a:avLst/>
                </a:prstGeom>
                <a:noFill/>
              </p:spPr>
              <p:txBody>
                <a:bodyPr wrap="square" numCol="1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时域快速跳频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空域动态波束</a:t>
                  </a:r>
                </a:p>
              </p:txBody>
            </p: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BEDECBE-ACCD-4481-951D-E03A728C84DA}"/>
                    </a:ext>
                  </a:extLst>
                </p:cNvPr>
                <p:cNvSpPr txBox="1"/>
                <p:nvPr/>
              </p:nvSpPr>
              <p:spPr>
                <a:xfrm>
                  <a:off x="2188568" y="2944375"/>
                  <a:ext cx="1907878" cy="613373"/>
                </a:xfrm>
                <a:prstGeom prst="rect">
                  <a:avLst/>
                </a:prstGeom>
                <a:noFill/>
              </p:spPr>
              <p:txBody>
                <a:bodyPr wrap="square" numCol="1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编码方式复杂多变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p"/>
                  </a:pPr>
                  <a:r>
                    <a:rPr lang="zh-CN" altLang="zh-CN" sz="1200" dirty="0"/>
                    <a:t>能量域精细管控</a:t>
                  </a:r>
                  <a:endParaRPr lang="zh-CN" altLang="en-US" sz="1200" dirty="0"/>
                </a:p>
              </p:txBody>
            </p:sp>
          </p:grp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CD3E3EF-CAE9-44A7-BFFE-5E9DDB1FC371}"/>
                  </a:ext>
                </a:extLst>
              </p:cNvPr>
              <p:cNvSpPr txBox="1"/>
              <p:nvPr/>
            </p:nvSpPr>
            <p:spPr>
              <a:xfrm>
                <a:off x="895823" y="2784736"/>
                <a:ext cx="249568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n"/>
                </a:pPr>
                <a:r>
                  <a:rPr lang="zh-CN" altLang="en-US" sz="1600" b="1" kern="100" dirty="0">
                    <a:effectLst/>
                    <a:latin typeface="+mn-ea"/>
                    <a:cs typeface="仿宋_GB2312"/>
                  </a:rPr>
                  <a:t>侦测信号变化多端</a:t>
                </a:r>
                <a:endParaRPr lang="zh-CN" altLang="en-US" sz="1600" b="1" dirty="0">
                  <a:latin typeface="+mn-ea"/>
                </a:endParaRPr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477EBBF-921B-4D47-986E-5503FF64E5EA}"/>
              </a:ext>
            </a:extLst>
          </p:cNvPr>
          <p:cNvGrpSpPr/>
          <p:nvPr/>
        </p:nvGrpSpPr>
        <p:grpSpPr>
          <a:xfrm>
            <a:off x="8433875" y="2953719"/>
            <a:ext cx="1980000" cy="795536"/>
            <a:chOff x="8361524" y="2824101"/>
            <a:chExt cx="1896833" cy="830997"/>
          </a:xfrm>
        </p:grpSpPr>
        <p:cxnSp>
          <p:nvCxnSpPr>
            <p:cNvPr id="26" name="直接箭头连接符 25"/>
            <p:cNvCxnSpPr>
              <a:cxnSpLocks/>
            </p:cNvCxnSpPr>
            <p:nvPr/>
          </p:nvCxnSpPr>
          <p:spPr>
            <a:xfrm flipV="1">
              <a:off x="8676626" y="3243927"/>
              <a:ext cx="1440000" cy="22509"/>
            </a:xfrm>
            <a:prstGeom prst="straightConnector1">
              <a:avLst/>
            </a:prstGeom>
            <a:ln w="25400">
              <a:solidFill>
                <a:srgbClr val="0043A8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6EAD4DE-33C2-4FCB-9251-81C5FE65A8FD}"/>
                </a:ext>
              </a:extLst>
            </p:cNvPr>
            <p:cNvSpPr txBox="1"/>
            <p:nvPr/>
          </p:nvSpPr>
          <p:spPr>
            <a:xfrm>
              <a:off x="8361524" y="2824101"/>
              <a:ext cx="189683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/>
                <a:t>航天多域捷变信号</a:t>
              </a:r>
              <a:endParaRPr lang="en-US" altLang="zh-CN" sz="1600" b="1" dirty="0"/>
            </a:p>
            <a:p>
              <a:pPr algn="ctr"/>
              <a:endParaRPr lang="en-US" altLang="zh-CN" sz="1600" b="1" dirty="0"/>
            </a:p>
            <a:p>
              <a:pPr algn="ctr"/>
              <a:r>
                <a:rPr lang="zh-CN" altLang="en-US" sz="1600" b="1" dirty="0"/>
                <a:t>动态嗅测</a:t>
              </a:r>
              <a:endParaRPr lang="en-US" altLang="zh-CN" sz="1600" b="1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7BF99E0-04B0-4106-9CC4-6E1A8CC1636C}"/>
              </a:ext>
            </a:extLst>
          </p:cNvPr>
          <p:cNvGrpSpPr/>
          <p:nvPr/>
        </p:nvGrpSpPr>
        <p:grpSpPr>
          <a:xfrm>
            <a:off x="5855539" y="2730458"/>
            <a:ext cx="2520000" cy="1242058"/>
            <a:chOff x="1079373" y="879673"/>
            <a:chExt cx="7490762" cy="1297423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F8D2B0B7-8494-4249-A7FC-B47F6576BB65}"/>
                </a:ext>
              </a:extLst>
            </p:cNvPr>
            <p:cNvSpPr/>
            <p:nvPr/>
          </p:nvSpPr>
          <p:spPr>
            <a:xfrm>
              <a:off x="1079373" y="879673"/>
              <a:ext cx="7490762" cy="1297423"/>
            </a:xfrm>
            <a:prstGeom prst="roundRect">
              <a:avLst/>
            </a:prstGeom>
            <a:noFill/>
            <a:ln w="28575">
              <a:solidFill>
                <a:srgbClr val="004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AE1338E-D5A5-4414-9C17-92B3EFC63B43}"/>
                </a:ext>
              </a:extLst>
            </p:cNvPr>
            <p:cNvSpPr txBox="1"/>
            <p:nvPr/>
          </p:nvSpPr>
          <p:spPr>
            <a:xfrm>
              <a:off x="1277554" y="981104"/>
              <a:ext cx="455166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n"/>
              </a:pPr>
              <a:r>
                <a:rPr lang="zh-CN" altLang="en-US" sz="1600" b="1" kern="100" dirty="0">
                  <a:latin typeface="+mn-ea"/>
                </a:rPr>
                <a:t>笨拙迟钝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8401880-D616-46B0-A89B-6B0EFF982D80}"/>
                </a:ext>
              </a:extLst>
            </p:cNvPr>
            <p:cNvSpPr txBox="1"/>
            <p:nvPr/>
          </p:nvSpPr>
          <p:spPr>
            <a:xfrm>
              <a:off x="1926014" y="1246824"/>
              <a:ext cx="6402693" cy="890372"/>
            </a:xfrm>
            <a:prstGeom prst="rect">
              <a:avLst/>
            </a:prstGeom>
            <a:noFill/>
          </p:spPr>
          <p:txBody>
            <a:bodyPr wrap="square" numCol="1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>
                  <a:solidFill>
                    <a:schemeClr val="tx1"/>
                  </a:solidFill>
                </a:rPr>
                <a:t>毫秒级跳变难以捕捉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/>
                <a:t>空间采样费时费力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200" dirty="0">
                  <a:solidFill>
                    <a:schemeClr val="tx1"/>
                  </a:solidFill>
                </a:rPr>
                <a:t>近场调制信号难以反演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1DC8C61-946B-42C6-8498-CA25E3E3700E}"/>
              </a:ext>
            </a:extLst>
          </p:cNvPr>
          <p:cNvGrpSpPr/>
          <p:nvPr/>
        </p:nvGrpSpPr>
        <p:grpSpPr>
          <a:xfrm>
            <a:off x="5005203" y="2953719"/>
            <a:ext cx="792000" cy="795536"/>
            <a:chOff x="5037066" y="2870990"/>
            <a:chExt cx="757699" cy="830997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897E5D4D-4704-437E-8A5D-1B1EB7C870AA}"/>
                </a:ext>
              </a:extLst>
            </p:cNvPr>
            <p:cNvSpPr txBox="1"/>
            <p:nvPr/>
          </p:nvSpPr>
          <p:spPr>
            <a:xfrm>
              <a:off x="5037066" y="2870990"/>
              <a:ext cx="75769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/>
                <a:t>嗅测</a:t>
              </a:r>
              <a:endParaRPr lang="en-US" altLang="zh-CN" sz="1600" b="1" dirty="0"/>
            </a:p>
            <a:p>
              <a:pPr algn="ctr"/>
              <a:endParaRPr lang="en-US" altLang="zh-CN" sz="1600" b="1" dirty="0"/>
            </a:p>
            <a:p>
              <a:pPr algn="ctr"/>
              <a:r>
                <a:rPr lang="zh-CN" altLang="en-US" sz="1600" b="1" dirty="0"/>
                <a:t>失灵</a:t>
              </a: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992C5D1F-A151-4AC0-866C-E257E20A89DD}"/>
                </a:ext>
              </a:extLst>
            </p:cNvPr>
            <p:cNvCxnSpPr>
              <a:cxnSpLocks/>
            </p:cNvCxnSpPr>
            <p:nvPr/>
          </p:nvCxnSpPr>
          <p:spPr>
            <a:xfrm>
              <a:off x="5145915" y="3285765"/>
              <a:ext cx="540000" cy="0"/>
            </a:xfrm>
            <a:prstGeom prst="straightConnector1">
              <a:avLst/>
            </a:prstGeom>
            <a:ln w="25400">
              <a:solidFill>
                <a:srgbClr val="0043A8"/>
              </a:solidFill>
              <a:prstDash val="dash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4ABBD2FF-4BDC-4791-B333-EA876812BAAB}"/>
              </a:ext>
            </a:extLst>
          </p:cNvPr>
          <p:cNvSpPr txBox="1"/>
          <p:nvPr/>
        </p:nvSpPr>
        <p:spPr>
          <a:xfrm>
            <a:off x="2386758" y="692712"/>
            <a:ext cx="80021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43A8"/>
                </a:solidFill>
              </a:rPr>
              <a:t>特点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771CC67-A355-4E31-8A9E-20B680114B4A}"/>
              </a:ext>
            </a:extLst>
          </p:cNvPr>
          <p:cNvSpPr txBox="1"/>
          <p:nvPr/>
        </p:nvSpPr>
        <p:spPr>
          <a:xfrm>
            <a:off x="6715430" y="692712"/>
            <a:ext cx="80021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43A8"/>
                </a:solidFill>
              </a:rPr>
              <a:t>难点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1DBFD23-2050-422C-BA6C-6E63C00BD920}"/>
              </a:ext>
            </a:extLst>
          </p:cNvPr>
          <p:cNvSpPr txBox="1"/>
          <p:nvPr/>
        </p:nvSpPr>
        <p:spPr>
          <a:xfrm>
            <a:off x="10452433" y="692712"/>
            <a:ext cx="10859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43A8"/>
                </a:solidFill>
              </a:rPr>
              <a:t>需求</a:t>
            </a:r>
          </a:p>
        </p:txBody>
      </p:sp>
    </p:spTree>
    <p:extLst>
      <p:ext uri="{BB962C8B-B14F-4D97-AF65-F5344CB8AC3E}">
        <p14:creationId xmlns:p14="http://schemas.microsoft.com/office/powerpoint/2010/main" val="392406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ttps://docer-ks3.wpscdn.cn/picture/115038869/45293764295a4d72ee03cfdc158ce9d3_612.jpg" descr="蓝色抽象现代背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"/>
            <a:ext cx="12192635" cy="68580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446010" y="-6350"/>
            <a:ext cx="3615690" cy="6864350"/>
            <a:chOff x="3110" y="-10"/>
            <a:chExt cx="5694" cy="10810"/>
          </a:xfrm>
        </p:grpSpPr>
        <p:sp>
          <p:nvSpPr>
            <p:cNvPr id="8" name="矩形 7"/>
            <p:cNvSpPr/>
            <p:nvPr/>
          </p:nvSpPr>
          <p:spPr>
            <a:xfrm>
              <a:off x="3110" y="0"/>
              <a:ext cx="5694" cy="108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603" y="-10"/>
              <a:ext cx="2612" cy="2807"/>
            </a:xfrm>
            <a:prstGeom prst="rect">
              <a:avLst/>
            </a:prstGeom>
            <a:solidFill>
              <a:srgbClr val="0043A8"/>
            </a:solidFill>
          </p:spPr>
          <p:txBody>
            <a:bodyPr wrap="none">
              <a:noAutofit/>
            </a:bodyPr>
            <a:lstStyle/>
            <a:p>
              <a:pPr lvl="0" algn="ctr"/>
              <a:endParaRPr lang="en-US" altLang="zh-CN" sz="9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603" y="830"/>
              <a:ext cx="2612" cy="2999"/>
            </a:xfrm>
            <a:prstGeom prst="rect">
              <a:avLst/>
            </a:prstGeom>
            <a:solidFill>
              <a:srgbClr val="0043A8"/>
            </a:solidFill>
          </p:spPr>
          <p:txBody>
            <a:bodyPr wrap="none">
              <a:noAutofit/>
            </a:bodyPr>
            <a:lstStyle/>
            <a:p>
              <a:pPr lvl="0" algn="ctr"/>
              <a:r>
                <a:rPr lang="en-US" altLang="zh-CN" sz="9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</a:p>
          </p:txBody>
        </p:sp>
        <p:sp>
          <p:nvSpPr>
            <p:cNvPr id="22" name="矩形 21"/>
            <p:cNvSpPr/>
            <p:nvPr/>
          </p:nvSpPr>
          <p:spPr>
            <a:xfrm rot="16200000">
              <a:off x="5934" y="6502"/>
              <a:ext cx="120" cy="2926"/>
            </a:xfrm>
            <a:prstGeom prst="rect">
              <a:avLst/>
            </a:prstGeom>
            <a:solidFill>
              <a:srgbClr val="0043A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020" y="4462"/>
              <a:ext cx="3947" cy="33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srgbClr val="003E9C"/>
                  </a:solidFill>
                  <a:cs typeface="+mj-cs"/>
                </a:rPr>
                <a:t>研究内容</a:t>
              </a:r>
            </a:p>
            <a:p>
              <a:pPr algn="ctr"/>
              <a:r>
                <a:rPr lang="zh-CN" altLang="en-US" sz="4400" b="1" dirty="0">
                  <a:solidFill>
                    <a:srgbClr val="003E9C"/>
                  </a:solidFill>
                  <a:cs typeface="+mj-cs"/>
                </a:rPr>
                <a:t>与</a:t>
              </a:r>
            </a:p>
            <a:p>
              <a:pPr algn="ctr"/>
              <a:r>
                <a:rPr lang="zh-CN" altLang="en-US" sz="4400" b="1" dirty="0">
                  <a:solidFill>
                    <a:srgbClr val="003E9C"/>
                  </a:solidFill>
                  <a:cs typeface="+mj-cs"/>
                </a:rPr>
                <a:t>技术路线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7109460" y="-5715"/>
            <a:ext cx="153035" cy="685673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31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6"/>
          <p:cNvSpPr txBox="1"/>
          <p:nvPr>
            <p:custDataLst>
              <p:tags r:id="rId1"/>
            </p:custDataLst>
          </p:nvPr>
        </p:nvSpPr>
        <p:spPr>
          <a:xfrm>
            <a:off x="647700" y="83820"/>
            <a:ext cx="2364858" cy="762000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dirty="0">
                <a:solidFill>
                  <a:srgbClr val="0043A8"/>
                </a:solidFill>
              </a:rPr>
              <a:t>研究内容分解</a:t>
            </a:r>
          </a:p>
        </p:txBody>
      </p:sp>
      <p:cxnSp>
        <p:nvCxnSpPr>
          <p:cNvPr id="74" name="直接连接符 73"/>
          <p:cNvCxnSpPr/>
          <p:nvPr>
            <p:custDataLst>
              <p:tags r:id="rId2"/>
            </p:custDataLst>
          </p:nvPr>
        </p:nvCxnSpPr>
        <p:spPr>
          <a:xfrm>
            <a:off x="414024" y="245115"/>
            <a:ext cx="5080" cy="439420"/>
          </a:xfrm>
          <a:prstGeom prst="line">
            <a:avLst/>
          </a:prstGeom>
          <a:ln w="101600">
            <a:solidFill>
              <a:srgbClr val="004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6FC3B3-70E0-490C-A661-7478ADE3E753}"/>
              </a:ext>
            </a:extLst>
          </p:cNvPr>
          <p:cNvGrpSpPr/>
          <p:nvPr/>
        </p:nvGrpSpPr>
        <p:grpSpPr>
          <a:xfrm>
            <a:off x="2008039" y="5129171"/>
            <a:ext cx="8175923" cy="209795"/>
            <a:chOff x="2080336" y="5127905"/>
            <a:chExt cx="8175923" cy="209795"/>
          </a:xfrm>
          <a:solidFill>
            <a:schemeClr val="accent3">
              <a:lumMod val="40000"/>
              <a:lumOff val="60000"/>
            </a:schemeClr>
          </a:solidFill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C5245A7-5E11-4AE4-9839-DC8EB9E6CF37}"/>
                </a:ext>
              </a:extLst>
            </p:cNvPr>
            <p:cNvGrpSpPr/>
            <p:nvPr/>
          </p:nvGrpSpPr>
          <p:grpSpPr>
            <a:xfrm>
              <a:off x="2080336" y="5127905"/>
              <a:ext cx="455501" cy="208755"/>
              <a:chOff x="1836775" y="5538159"/>
              <a:chExt cx="484632" cy="532899"/>
            </a:xfrm>
            <a:grpFill/>
          </p:grpSpPr>
          <p:sp>
            <p:nvSpPr>
              <p:cNvPr id="32" name="箭头: V 形 31">
                <a:extLst>
                  <a:ext uri="{FF2B5EF4-FFF2-40B4-BE49-F238E27FC236}">
                    <a16:creationId xmlns:a16="http://schemas.microsoft.com/office/drawing/2014/main" id="{0E12950E-CF07-40C5-8A79-2F87D9398714}"/>
                  </a:ext>
                </a:extLst>
              </p:cNvPr>
              <p:cNvSpPr/>
              <p:nvPr/>
            </p:nvSpPr>
            <p:spPr>
              <a:xfrm rot="16200000">
                <a:off x="1934556" y="5440378"/>
                <a:ext cx="289070" cy="484632"/>
              </a:xfrm>
              <a:prstGeom prst="chevron">
                <a:avLst/>
              </a:prstGeom>
              <a:grpFill/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箭头: V 形 152">
                <a:extLst>
                  <a:ext uri="{FF2B5EF4-FFF2-40B4-BE49-F238E27FC236}">
                    <a16:creationId xmlns:a16="http://schemas.microsoft.com/office/drawing/2014/main" id="{A246C162-D7DD-4953-B625-24EE6C0F2F20}"/>
                  </a:ext>
                </a:extLst>
              </p:cNvPr>
              <p:cNvSpPr/>
              <p:nvPr/>
            </p:nvSpPr>
            <p:spPr>
              <a:xfrm rot="16200000">
                <a:off x="1934556" y="5684207"/>
                <a:ext cx="289070" cy="484632"/>
              </a:xfrm>
              <a:prstGeom prst="chevron">
                <a:avLst/>
              </a:prstGeom>
              <a:grpFill/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5ED45B6B-A4AA-409B-A575-ED843A6AAC2D}"/>
                </a:ext>
              </a:extLst>
            </p:cNvPr>
            <p:cNvGrpSpPr/>
            <p:nvPr/>
          </p:nvGrpSpPr>
          <p:grpSpPr>
            <a:xfrm>
              <a:off x="5932053" y="5127905"/>
              <a:ext cx="455501" cy="208755"/>
              <a:chOff x="1836775" y="5538159"/>
              <a:chExt cx="484632" cy="532899"/>
            </a:xfrm>
            <a:grpFill/>
          </p:grpSpPr>
          <p:sp>
            <p:nvSpPr>
              <p:cNvPr id="158" name="箭头: V 形 157">
                <a:extLst>
                  <a:ext uri="{FF2B5EF4-FFF2-40B4-BE49-F238E27FC236}">
                    <a16:creationId xmlns:a16="http://schemas.microsoft.com/office/drawing/2014/main" id="{F4D35349-A60B-4960-ABD4-F2CBEDFC02A7}"/>
                  </a:ext>
                </a:extLst>
              </p:cNvPr>
              <p:cNvSpPr/>
              <p:nvPr/>
            </p:nvSpPr>
            <p:spPr>
              <a:xfrm rot="16200000">
                <a:off x="1934556" y="5440378"/>
                <a:ext cx="289070" cy="484632"/>
              </a:xfrm>
              <a:prstGeom prst="chevron">
                <a:avLst/>
              </a:prstGeom>
              <a:grpFill/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箭头: V 形 158">
                <a:extLst>
                  <a:ext uri="{FF2B5EF4-FFF2-40B4-BE49-F238E27FC236}">
                    <a16:creationId xmlns:a16="http://schemas.microsoft.com/office/drawing/2014/main" id="{0E1FC234-1AD0-47EF-85AC-059D742D0BA4}"/>
                  </a:ext>
                </a:extLst>
              </p:cNvPr>
              <p:cNvSpPr/>
              <p:nvPr/>
            </p:nvSpPr>
            <p:spPr>
              <a:xfrm rot="16200000">
                <a:off x="1934556" y="5684207"/>
                <a:ext cx="289070" cy="484632"/>
              </a:xfrm>
              <a:prstGeom prst="chevron">
                <a:avLst/>
              </a:prstGeom>
              <a:grpFill/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A3BED692-8360-49E0-83F1-5B5C9B04E5D3}"/>
                </a:ext>
              </a:extLst>
            </p:cNvPr>
            <p:cNvGrpSpPr/>
            <p:nvPr/>
          </p:nvGrpSpPr>
          <p:grpSpPr>
            <a:xfrm>
              <a:off x="9800758" y="5128945"/>
              <a:ext cx="455501" cy="208755"/>
              <a:chOff x="1836775" y="5538159"/>
              <a:chExt cx="484632" cy="532899"/>
            </a:xfrm>
            <a:grpFill/>
          </p:grpSpPr>
          <p:sp>
            <p:nvSpPr>
              <p:cNvPr id="161" name="箭头: V 形 160">
                <a:extLst>
                  <a:ext uri="{FF2B5EF4-FFF2-40B4-BE49-F238E27FC236}">
                    <a16:creationId xmlns:a16="http://schemas.microsoft.com/office/drawing/2014/main" id="{68244865-5FF2-4F42-8DA0-D272A507CDAD}"/>
                  </a:ext>
                </a:extLst>
              </p:cNvPr>
              <p:cNvSpPr/>
              <p:nvPr/>
            </p:nvSpPr>
            <p:spPr>
              <a:xfrm rot="16200000">
                <a:off x="1934556" y="5440378"/>
                <a:ext cx="289070" cy="484632"/>
              </a:xfrm>
              <a:prstGeom prst="chevron">
                <a:avLst/>
              </a:prstGeom>
              <a:grpFill/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箭头: V 形 161">
                <a:extLst>
                  <a:ext uri="{FF2B5EF4-FFF2-40B4-BE49-F238E27FC236}">
                    <a16:creationId xmlns:a16="http://schemas.microsoft.com/office/drawing/2014/main" id="{E0DD7061-EC16-44B9-BBB2-056C014C2546}"/>
                  </a:ext>
                </a:extLst>
              </p:cNvPr>
              <p:cNvSpPr/>
              <p:nvPr/>
            </p:nvSpPr>
            <p:spPr>
              <a:xfrm rot="16200000">
                <a:off x="1934556" y="5684207"/>
                <a:ext cx="289070" cy="484632"/>
              </a:xfrm>
              <a:prstGeom prst="chevron">
                <a:avLst/>
              </a:prstGeom>
              <a:grpFill/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5630694-9290-41F5-B1BB-0DA2C52A7057}"/>
              </a:ext>
            </a:extLst>
          </p:cNvPr>
          <p:cNvGrpSpPr/>
          <p:nvPr/>
        </p:nvGrpSpPr>
        <p:grpSpPr>
          <a:xfrm>
            <a:off x="1347419" y="887597"/>
            <a:ext cx="9497162" cy="640736"/>
            <a:chOff x="892315" y="843455"/>
            <a:chExt cx="9497162" cy="640736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837F004C-388F-4361-8D6A-A5CE01FE8DD9}"/>
                </a:ext>
              </a:extLst>
            </p:cNvPr>
            <p:cNvSpPr/>
            <p:nvPr/>
          </p:nvSpPr>
          <p:spPr>
            <a:xfrm>
              <a:off x="1600201" y="843455"/>
              <a:ext cx="8789276" cy="640736"/>
            </a:xfrm>
            <a:prstGeom prst="rect">
              <a:avLst/>
            </a:prstGeom>
            <a:noFill/>
            <a:ln w="28575">
              <a:solidFill>
                <a:srgbClr val="9CB9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zh-CN" sz="2000" b="1" kern="100" dirty="0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rPr>
                <a:t>实现</a:t>
              </a:r>
              <a:r>
                <a:rPr lang="zh-CN" altLang="en-US" sz="2000" b="1" kern="100" dirty="0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rPr>
                <a:t>全频段超宽带多域捷变信号</a:t>
              </a:r>
              <a:r>
                <a:rPr lang="zh-CN" altLang="zh-CN" sz="2000" b="1" kern="100" dirty="0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rPr>
                <a:t>实时探测感知</a:t>
              </a:r>
              <a:r>
                <a:rPr lang="zh-CN" altLang="en-US" sz="2000" b="1" kern="100" dirty="0">
                  <a:solidFill>
                    <a:schemeClr val="tx1"/>
                  </a:solidFill>
                  <a:latin typeface="+mn-ea"/>
                  <a:cs typeface="Times New Roman" panose="02020603050405020304" pitchFamily="18" charset="0"/>
                </a:rPr>
                <a:t>与认知理解</a:t>
              </a:r>
              <a:endParaRPr lang="zh-CN" altLang="en-US" sz="2000" b="1" kern="100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AFE89774-173C-48B2-A81F-A84F24DF8F61}"/>
                </a:ext>
              </a:extLst>
            </p:cNvPr>
            <p:cNvSpPr txBox="1"/>
            <p:nvPr/>
          </p:nvSpPr>
          <p:spPr>
            <a:xfrm>
              <a:off x="892315" y="932990"/>
              <a:ext cx="141577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43A8"/>
                  </a:solidFill>
                </a:rPr>
                <a:t>总体目标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83819EB-4F01-4567-83DB-3184542EE85A}"/>
              </a:ext>
            </a:extLst>
          </p:cNvPr>
          <p:cNvGrpSpPr/>
          <p:nvPr/>
        </p:nvGrpSpPr>
        <p:grpSpPr>
          <a:xfrm>
            <a:off x="436711" y="1765379"/>
            <a:ext cx="11318578" cy="3233950"/>
            <a:chOff x="500515" y="1696372"/>
            <a:chExt cx="11318578" cy="323395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53499A0-B32F-426F-8B82-798B748A5AF5}"/>
                </a:ext>
              </a:extLst>
            </p:cNvPr>
            <p:cNvGrpSpPr/>
            <p:nvPr/>
          </p:nvGrpSpPr>
          <p:grpSpPr>
            <a:xfrm>
              <a:off x="8185004" y="1696373"/>
              <a:ext cx="3634089" cy="3233373"/>
              <a:chOff x="8185004" y="1696373"/>
              <a:chExt cx="3634089" cy="3233373"/>
            </a:xfrm>
          </p:grpSpPr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CB04D52-08A5-44E0-A092-98A12631B549}"/>
                  </a:ext>
                </a:extLst>
              </p:cNvPr>
              <p:cNvSpPr/>
              <p:nvPr/>
            </p:nvSpPr>
            <p:spPr>
              <a:xfrm>
                <a:off x="8185004" y="1696373"/>
                <a:ext cx="3634089" cy="3233373"/>
              </a:xfrm>
              <a:prstGeom prst="rect">
                <a:avLst/>
              </a:prstGeom>
              <a:noFill/>
              <a:ln w="28575">
                <a:solidFill>
                  <a:srgbClr val="0043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: 圆角 131">
                <a:extLst>
                  <a:ext uri="{FF2B5EF4-FFF2-40B4-BE49-F238E27FC236}">
                    <a16:creationId xmlns:a16="http://schemas.microsoft.com/office/drawing/2014/main" id="{5381F4D5-B953-4386-8339-C2DF2166ED35}"/>
                  </a:ext>
                </a:extLst>
              </p:cNvPr>
              <p:cNvSpPr/>
              <p:nvPr/>
            </p:nvSpPr>
            <p:spPr>
              <a:xfrm>
                <a:off x="9200910" y="4328846"/>
                <a:ext cx="1602277" cy="441491"/>
              </a:xfrm>
              <a:prstGeom prst="roundRect">
                <a:avLst/>
              </a:prstGeom>
              <a:solidFill>
                <a:srgbClr val="0043A8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</a:rPr>
                  <a:t>认知</a:t>
                </a:r>
              </a:p>
            </p:txBody>
          </p:sp>
          <p:sp>
            <p:nvSpPr>
              <p:cNvPr id="141" name="箭头: 上 140">
                <a:extLst>
                  <a:ext uri="{FF2B5EF4-FFF2-40B4-BE49-F238E27FC236}">
                    <a16:creationId xmlns:a16="http://schemas.microsoft.com/office/drawing/2014/main" id="{A0A9285C-E643-481B-893D-385ED2867C5D}"/>
                  </a:ext>
                </a:extLst>
              </p:cNvPr>
              <p:cNvSpPr/>
              <p:nvPr/>
            </p:nvSpPr>
            <p:spPr>
              <a:xfrm>
                <a:off x="9779282" y="3936786"/>
                <a:ext cx="445533" cy="295812"/>
              </a:xfrm>
              <a:prstGeom prst="upArrow">
                <a:avLst/>
              </a:prstGeom>
              <a:solidFill>
                <a:srgbClr val="0043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DA487601-3EB9-4326-A521-8A7AC75516B5}"/>
                  </a:ext>
                </a:extLst>
              </p:cNvPr>
              <p:cNvGrpSpPr/>
              <p:nvPr/>
            </p:nvGrpSpPr>
            <p:grpSpPr>
              <a:xfrm>
                <a:off x="8447483" y="1771286"/>
                <a:ext cx="3109130" cy="2109434"/>
                <a:chOff x="8447483" y="1771286"/>
                <a:chExt cx="3109130" cy="2109434"/>
              </a:xfrm>
            </p:grpSpPr>
            <p:sp>
              <p:nvSpPr>
                <p:cNvPr id="135" name="矩形: 圆角 134">
                  <a:extLst>
                    <a:ext uri="{FF2B5EF4-FFF2-40B4-BE49-F238E27FC236}">
                      <a16:creationId xmlns:a16="http://schemas.microsoft.com/office/drawing/2014/main" id="{CE1988DB-26C5-4E5F-B26E-531196223192}"/>
                    </a:ext>
                  </a:extLst>
                </p:cNvPr>
                <p:cNvSpPr/>
                <p:nvPr/>
              </p:nvSpPr>
              <p:spPr>
                <a:xfrm>
                  <a:off x="8447483" y="3400972"/>
                  <a:ext cx="3109130" cy="479748"/>
                </a:xfrm>
                <a:prstGeom prst="roundRect">
                  <a:avLst/>
                </a:prstGeom>
                <a:solidFill>
                  <a:srgbClr val="E2EDF7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zh-CN" sz="1800" b="1" dirty="0">
                      <a:solidFill>
                        <a:schemeClr val="tx1"/>
                      </a:solidFill>
                    </a:rPr>
                    <a:t>辐射源动态行为意图认知</a:t>
                  </a:r>
                  <a:endParaRPr lang="en-US" altLang="zh-CN" sz="1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F4B54BF8-BB3B-4776-9C68-806B26F58204}"/>
                    </a:ext>
                  </a:extLst>
                </p:cNvPr>
                <p:cNvSpPr/>
                <p:nvPr/>
              </p:nvSpPr>
              <p:spPr>
                <a:xfrm>
                  <a:off x="8447484" y="2235434"/>
                  <a:ext cx="3109129" cy="669842"/>
                </a:xfrm>
                <a:prstGeom prst="roundRect">
                  <a:avLst/>
                </a:prstGeom>
                <a:noFill/>
                <a:ln w="28575">
                  <a:solidFill>
                    <a:schemeClr val="accent3">
                      <a:lumMod val="60000"/>
                      <a:lumOff val="4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numCol="2" rtlCol="0" anchor="ctr"/>
                <a:lstStyle/>
                <a:p>
                  <a:pPr algn="ctr"/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矩形: 圆角 68">
                  <a:extLst>
                    <a:ext uri="{FF2B5EF4-FFF2-40B4-BE49-F238E27FC236}">
                      <a16:creationId xmlns:a16="http://schemas.microsoft.com/office/drawing/2014/main" id="{5DBD1FB9-08CD-40AE-81EC-3449762D77A8}"/>
                    </a:ext>
                  </a:extLst>
                </p:cNvPr>
                <p:cNvSpPr/>
                <p:nvPr/>
              </p:nvSpPr>
              <p:spPr>
                <a:xfrm>
                  <a:off x="8546912" y="1771286"/>
                  <a:ext cx="2910273" cy="1597570"/>
                </a:xfrm>
                <a:prstGeom prst="round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85750" indent="-285750">
                    <a:buFont typeface="Wingdings" panose="05000000000000000000" pitchFamily="2" charset="2"/>
                    <a:buChar char="l"/>
                  </a:pPr>
                  <a:r>
                    <a:rPr lang="zh-CN" altLang="zh-CN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态势深度认知与预测</a:t>
                  </a:r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l"/>
                  </a:pPr>
                  <a:r>
                    <a:rPr lang="zh-CN" altLang="zh-CN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多维电磁特征集构建</a:t>
                  </a:r>
                  <a:endParaRPr lang="zh-CN" altLang="en-US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2" name="组合 61">
                  <a:extLst>
                    <a:ext uri="{FF2B5EF4-FFF2-40B4-BE49-F238E27FC236}">
                      <a16:creationId xmlns:a16="http://schemas.microsoft.com/office/drawing/2014/main" id="{D93C136B-0FBF-414B-AA95-7CC690E55321}"/>
                    </a:ext>
                  </a:extLst>
                </p:cNvPr>
                <p:cNvGrpSpPr/>
                <p:nvPr/>
              </p:nvGrpSpPr>
              <p:grpSpPr>
                <a:xfrm>
                  <a:off x="8483263" y="2196947"/>
                  <a:ext cx="3037571" cy="700576"/>
                  <a:chOff x="8464711" y="2389456"/>
                  <a:chExt cx="3037571" cy="700576"/>
                </a:xfrm>
              </p:grpSpPr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9CEDCE66-9005-46DF-B4B8-EA9E1259AB77}"/>
                      </a:ext>
                    </a:extLst>
                  </p:cNvPr>
                  <p:cNvSpPr txBox="1"/>
                  <p:nvPr/>
                </p:nvSpPr>
                <p:spPr>
                  <a:xfrm>
                    <a:off x="8464711" y="2389456"/>
                    <a:ext cx="1440000" cy="700576"/>
                  </a:xfrm>
                  <a:prstGeom prst="rect">
                    <a:avLst/>
                  </a:prstGeom>
                  <a:noFill/>
                </p:spPr>
                <p:txBody>
                  <a:bodyPr wrap="square" numCol="1">
                    <a:spAutoFit/>
                  </a:bodyPr>
                  <a:lstStyle/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ü"/>
                    </a:pPr>
                    <a:r>
                      <a:rPr lang="zh-CN" altLang="en-US" sz="1400" kern="1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物理域</a:t>
                    </a:r>
                    <a:endParaRPr lang="en-US" altLang="zh-CN" sz="14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endParaRPr>
                  </a:p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ü"/>
                    </a:pPr>
                    <a:r>
                      <a:rPr lang="zh-CN" altLang="en-US" sz="1400" kern="1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变换域</a:t>
                    </a:r>
                    <a:endParaRPr lang="en-US" altLang="zh-CN" sz="14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534DBB77-2A7B-493F-B4E3-1723B3F2D1D4}"/>
                      </a:ext>
                    </a:extLst>
                  </p:cNvPr>
                  <p:cNvSpPr txBox="1"/>
                  <p:nvPr/>
                </p:nvSpPr>
                <p:spPr>
                  <a:xfrm>
                    <a:off x="10422282" y="2389456"/>
                    <a:ext cx="1080000" cy="377411"/>
                  </a:xfrm>
                  <a:prstGeom prst="rect">
                    <a:avLst/>
                  </a:prstGeom>
                  <a:noFill/>
                </p:spPr>
                <p:txBody>
                  <a:bodyPr wrap="square" numCol="1">
                    <a:spAutoFit/>
                  </a:bodyPr>
                  <a:lstStyle/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ü"/>
                    </a:pPr>
                    <a:r>
                      <a:rPr lang="zh-CN" altLang="en-US" sz="1400" kern="1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业务域</a:t>
                    </a:r>
                    <a:endParaRPr lang="zh-CN" altLang="en-US" sz="1400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6A19D5C9-D3A5-43DC-8E71-D04C1B3F31D2}"/>
                      </a:ext>
                    </a:extLst>
                  </p:cNvPr>
                  <p:cNvSpPr txBox="1"/>
                  <p:nvPr/>
                </p:nvSpPr>
                <p:spPr>
                  <a:xfrm>
                    <a:off x="9443496" y="2389456"/>
                    <a:ext cx="1440000" cy="700576"/>
                  </a:xfrm>
                  <a:prstGeom prst="rect">
                    <a:avLst/>
                  </a:prstGeom>
                  <a:noFill/>
                </p:spPr>
                <p:txBody>
                  <a:bodyPr wrap="square" numCol="1">
                    <a:spAutoFit/>
                  </a:bodyPr>
                  <a:lstStyle/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ü"/>
                    </a:pPr>
                    <a:r>
                      <a:rPr lang="zh-CN" altLang="en-US" sz="1400" kern="1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无线域</a:t>
                    </a:r>
                    <a:endParaRPr lang="en-US" altLang="zh-CN" sz="14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endParaRPr>
                  </a:p>
                  <a:p>
                    <a:pPr marL="285750" indent="-285750">
                      <a:lnSpc>
                        <a:spcPct val="150000"/>
                      </a:lnSpc>
                      <a:buFont typeface="Wingdings" panose="05000000000000000000" pitchFamily="2" charset="2"/>
                      <a:buChar char="ü"/>
                    </a:pPr>
                    <a:r>
                      <a:rPr lang="zh-CN" altLang="en-US" sz="1400" kern="10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</a:rPr>
                      <a:t>标准域</a:t>
                    </a:r>
                    <a:endParaRPr lang="en-US" altLang="zh-CN" sz="14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E9F435F-D380-4C72-865A-73FC7A41C48D}"/>
                </a:ext>
              </a:extLst>
            </p:cNvPr>
            <p:cNvGrpSpPr/>
            <p:nvPr/>
          </p:nvGrpSpPr>
          <p:grpSpPr>
            <a:xfrm>
              <a:off x="500515" y="1696372"/>
              <a:ext cx="3634089" cy="3233950"/>
              <a:chOff x="500515" y="1696372"/>
              <a:chExt cx="3634089" cy="3233950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500515" y="1696372"/>
                <a:ext cx="3634089" cy="3233950"/>
              </a:xfrm>
              <a:prstGeom prst="rect">
                <a:avLst/>
              </a:prstGeom>
              <a:noFill/>
              <a:ln w="28575">
                <a:solidFill>
                  <a:srgbClr val="0043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9B26B698-F4DE-469E-BBA6-D3009C67917D}"/>
                  </a:ext>
                </a:extLst>
              </p:cNvPr>
              <p:cNvGrpSpPr/>
              <p:nvPr/>
            </p:nvGrpSpPr>
            <p:grpSpPr>
              <a:xfrm>
                <a:off x="787057" y="1889380"/>
                <a:ext cx="3061004" cy="1995983"/>
                <a:chOff x="787057" y="1889380"/>
                <a:chExt cx="3061004" cy="1995983"/>
              </a:xfrm>
            </p:grpSpPr>
            <p:sp>
              <p:nvSpPr>
                <p:cNvPr id="65" name="矩形: 圆角 64"/>
                <p:cNvSpPr/>
                <p:nvPr/>
              </p:nvSpPr>
              <p:spPr>
                <a:xfrm>
                  <a:off x="833810" y="3127049"/>
                  <a:ext cx="1343062" cy="758314"/>
                </a:xfrm>
                <a:prstGeom prst="roundRect">
                  <a:avLst/>
                </a:prstGeom>
                <a:solidFill>
                  <a:srgbClr val="E2EDF7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</a:rPr>
                    <a:t>完备侦收技术研究</a:t>
                  </a:r>
                </a:p>
              </p:txBody>
            </p:sp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6B3BC1D3-34F6-415C-A492-D051124581A3}"/>
                    </a:ext>
                  </a:extLst>
                </p:cNvPr>
                <p:cNvSpPr/>
                <p:nvPr/>
              </p:nvSpPr>
              <p:spPr>
                <a:xfrm>
                  <a:off x="787057" y="1889380"/>
                  <a:ext cx="1436569" cy="1056993"/>
                </a:xfrm>
                <a:prstGeom prst="round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85750" indent="-285750" algn="ctr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接收天线</a:t>
                  </a:r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 algn="ctr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微波射频</a:t>
                  </a:r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 algn="ctr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高速采样</a:t>
                  </a:r>
                  <a:endParaRPr lang="zh-CN" altLang="en-US" sz="1600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66" name="矩形: 圆角 65"/>
                <p:cNvSpPr/>
                <p:nvPr/>
              </p:nvSpPr>
              <p:spPr>
                <a:xfrm>
                  <a:off x="2493724" y="3126057"/>
                  <a:ext cx="1272105" cy="758314"/>
                </a:xfrm>
                <a:prstGeom prst="roundRect">
                  <a:avLst/>
                </a:prstGeom>
                <a:solidFill>
                  <a:srgbClr val="E2EDF7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</a:rPr>
                    <a:t>基带信号处理</a:t>
                  </a:r>
                </a:p>
              </p:txBody>
            </p:sp>
            <p:sp>
              <p:nvSpPr>
                <p:cNvPr id="86" name="矩形: 圆角 85">
                  <a:extLst>
                    <a:ext uri="{FF2B5EF4-FFF2-40B4-BE49-F238E27FC236}">
                      <a16:creationId xmlns:a16="http://schemas.microsoft.com/office/drawing/2014/main" id="{68EED45D-912E-4BFE-ADEF-7452ECC985A3}"/>
                    </a:ext>
                  </a:extLst>
                </p:cNvPr>
                <p:cNvSpPr/>
                <p:nvPr/>
              </p:nvSpPr>
              <p:spPr>
                <a:xfrm>
                  <a:off x="2411492" y="1889380"/>
                  <a:ext cx="1436569" cy="1056993"/>
                </a:xfrm>
                <a:prstGeom prst="round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85750" indent="-285750" algn="ctr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快速重构</a:t>
                  </a:r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 algn="ctr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信号恢复</a:t>
                  </a:r>
                  <a:endParaRPr lang="zh-CN" altLang="en-US" sz="1600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2C2A310-CED3-4808-9E59-858A16EBFA57}"/>
                  </a:ext>
                </a:extLst>
              </p:cNvPr>
              <p:cNvGrpSpPr/>
              <p:nvPr/>
            </p:nvGrpSpPr>
            <p:grpSpPr>
              <a:xfrm>
                <a:off x="1514644" y="3941817"/>
                <a:ext cx="1605830" cy="829096"/>
                <a:chOff x="1506948" y="4332799"/>
                <a:chExt cx="1605830" cy="829096"/>
              </a:xfrm>
            </p:grpSpPr>
            <p:sp>
              <p:nvSpPr>
                <p:cNvPr id="172" name="矩形: 圆角 171"/>
                <p:cNvSpPr/>
                <p:nvPr/>
              </p:nvSpPr>
              <p:spPr>
                <a:xfrm>
                  <a:off x="1508725" y="4720404"/>
                  <a:ext cx="1602277" cy="441491"/>
                </a:xfrm>
                <a:prstGeom prst="roundRect">
                  <a:avLst/>
                </a:prstGeom>
                <a:solidFill>
                  <a:srgbClr val="0043A8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2000" b="1" dirty="0">
                      <a:solidFill>
                        <a:schemeClr val="bg1"/>
                      </a:solidFill>
                    </a:rPr>
                    <a:t>采集</a:t>
                  </a:r>
                </a:p>
              </p:txBody>
            </p:sp>
            <p:grpSp>
              <p:nvGrpSpPr>
                <p:cNvPr id="21" name="组合 20">
                  <a:extLst>
                    <a:ext uri="{FF2B5EF4-FFF2-40B4-BE49-F238E27FC236}">
                      <a16:creationId xmlns:a16="http://schemas.microsoft.com/office/drawing/2014/main" id="{9B0C9D52-51BF-4AE9-9106-981D7BDB4D0D}"/>
                    </a:ext>
                  </a:extLst>
                </p:cNvPr>
                <p:cNvGrpSpPr/>
                <p:nvPr/>
              </p:nvGrpSpPr>
              <p:grpSpPr>
                <a:xfrm>
                  <a:off x="1506948" y="4332799"/>
                  <a:ext cx="1605830" cy="295812"/>
                  <a:chOff x="1506948" y="4332799"/>
                  <a:chExt cx="1605830" cy="295812"/>
                </a:xfrm>
              </p:grpSpPr>
              <p:sp>
                <p:nvSpPr>
                  <p:cNvPr id="90" name="箭头: 上 89">
                    <a:extLst>
                      <a:ext uri="{FF2B5EF4-FFF2-40B4-BE49-F238E27FC236}">
                        <a16:creationId xmlns:a16="http://schemas.microsoft.com/office/drawing/2014/main" id="{261969E3-6BB5-418A-BA49-B0800E0ACEFA}"/>
                      </a:ext>
                    </a:extLst>
                  </p:cNvPr>
                  <p:cNvSpPr/>
                  <p:nvPr/>
                </p:nvSpPr>
                <p:spPr>
                  <a:xfrm>
                    <a:off x="1506948" y="4332799"/>
                    <a:ext cx="445533" cy="295812"/>
                  </a:xfrm>
                  <a:prstGeom prst="upArrow">
                    <a:avLst/>
                  </a:prstGeom>
                  <a:solidFill>
                    <a:srgbClr val="0043A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2" name="箭头: 上 91">
                    <a:extLst>
                      <a:ext uri="{FF2B5EF4-FFF2-40B4-BE49-F238E27FC236}">
                        <a16:creationId xmlns:a16="http://schemas.microsoft.com/office/drawing/2014/main" id="{38090E13-3664-4E44-B24B-1AE9ED3A5233}"/>
                      </a:ext>
                    </a:extLst>
                  </p:cNvPr>
                  <p:cNvSpPr/>
                  <p:nvPr/>
                </p:nvSpPr>
                <p:spPr>
                  <a:xfrm>
                    <a:off x="2667245" y="4332799"/>
                    <a:ext cx="445533" cy="295812"/>
                  </a:xfrm>
                  <a:prstGeom prst="upArrow">
                    <a:avLst/>
                  </a:prstGeom>
                  <a:solidFill>
                    <a:srgbClr val="0043A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1FD4E78-B70E-4A59-9A1D-A4FFBE3E3857}"/>
                </a:ext>
              </a:extLst>
            </p:cNvPr>
            <p:cNvGrpSpPr/>
            <p:nvPr/>
          </p:nvGrpSpPr>
          <p:grpSpPr>
            <a:xfrm>
              <a:off x="4317240" y="1696372"/>
              <a:ext cx="3685129" cy="3233949"/>
              <a:chOff x="4317240" y="1696372"/>
              <a:chExt cx="3685129" cy="3233949"/>
            </a:xfrm>
          </p:grpSpPr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114E227F-B17F-4CD4-AAF2-5C3915CD4158}"/>
                  </a:ext>
                </a:extLst>
              </p:cNvPr>
              <p:cNvSpPr/>
              <p:nvPr/>
            </p:nvSpPr>
            <p:spPr>
              <a:xfrm>
                <a:off x="4342760" y="1696372"/>
                <a:ext cx="3634089" cy="3233949"/>
              </a:xfrm>
              <a:prstGeom prst="rect">
                <a:avLst/>
              </a:prstGeom>
              <a:noFill/>
              <a:ln w="28575">
                <a:solidFill>
                  <a:srgbClr val="0043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D31E16E0-82F6-4308-9B45-A10D87A06388}"/>
                  </a:ext>
                </a:extLst>
              </p:cNvPr>
              <p:cNvSpPr/>
              <p:nvPr/>
            </p:nvSpPr>
            <p:spPr>
              <a:xfrm>
                <a:off x="5358666" y="4329421"/>
                <a:ext cx="1602277" cy="441491"/>
              </a:xfrm>
              <a:prstGeom prst="roundRect">
                <a:avLst/>
              </a:prstGeom>
              <a:solidFill>
                <a:srgbClr val="0043A8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b="1" dirty="0">
                    <a:solidFill>
                      <a:schemeClr val="bg1"/>
                    </a:solidFill>
                  </a:rPr>
                  <a:t>嗅测</a:t>
                </a: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07B88C70-2614-44AC-9BD1-B4D59B27AB22}"/>
                  </a:ext>
                </a:extLst>
              </p:cNvPr>
              <p:cNvGrpSpPr/>
              <p:nvPr/>
            </p:nvGrpSpPr>
            <p:grpSpPr>
              <a:xfrm>
                <a:off x="4317240" y="1889380"/>
                <a:ext cx="3685129" cy="1991915"/>
                <a:chOff x="4317240" y="1889380"/>
                <a:chExt cx="3685129" cy="1991915"/>
              </a:xfrm>
            </p:grpSpPr>
            <p:sp>
              <p:nvSpPr>
                <p:cNvPr id="119" name="矩形: 圆角 118">
                  <a:extLst>
                    <a:ext uri="{FF2B5EF4-FFF2-40B4-BE49-F238E27FC236}">
                      <a16:creationId xmlns:a16="http://schemas.microsoft.com/office/drawing/2014/main" id="{7B97DC0B-7051-43DD-A090-A8F119F57299}"/>
                    </a:ext>
                  </a:extLst>
                </p:cNvPr>
                <p:cNvSpPr/>
                <p:nvPr/>
              </p:nvSpPr>
              <p:spPr>
                <a:xfrm>
                  <a:off x="4593391" y="3122981"/>
                  <a:ext cx="1343062" cy="758314"/>
                </a:xfrm>
                <a:prstGeom prst="roundRect">
                  <a:avLst/>
                </a:prstGeom>
                <a:solidFill>
                  <a:srgbClr val="E2EDF7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</a:rPr>
                    <a:t>物理层波形识别</a:t>
                  </a:r>
                </a:p>
              </p:txBody>
            </p:sp>
            <p:sp>
              <p:nvSpPr>
                <p:cNvPr id="121" name="矩形: 圆角 120">
                  <a:extLst>
                    <a:ext uri="{FF2B5EF4-FFF2-40B4-BE49-F238E27FC236}">
                      <a16:creationId xmlns:a16="http://schemas.microsoft.com/office/drawing/2014/main" id="{6FC88D31-AF9F-4627-8E71-5F9A51F0EE33}"/>
                    </a:ext>
                  </a:extLst>
                </p:cNvPr>
                <p:cNvSpPr/>
                <p:nvPr/>
              </p:nvSpPr>
              <p:spPr>
                <a:xfrm>
                  <a:off x="4317240" y="1889380"/>
                  <a:ext cx="1830563" cy="1056993"/>
                </a:xfrm>
                <a:prstGeom prst="round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毫秒级捕获</a:t>
                  </a:r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调制样式识别</a:t>
                  </a:r>
                  <a:endParaRPr lang="zh-CN" altLang="en-US" sz="1600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24" name="矩形: 圆角 123">
                  <a:extLst>
                    <a:ext uri="{FF2B5EF4-FFF2-40B4-BE49-F238E27FC236}">
                      <a16:creationId xmlns:a16="http://schemas.microsoft.com/office/drawing/2014/main" id="{BBB2E6EE-24D9-4F9F-9B13-222D6B326A08}"/>
                    </a:ext>
                  </a:extLst>
                </p:cNvPr>
                <p:cNvSpPr/>
                <p:nvPr/>
              </p:nvSpPr>
              <p:spPr>
                <a:xfrm>
                  <a:off x="6169831" y="3121989"/>
                  <a:ext cx="1675087" cy="758314"/>
                </a:xfrm>
                <a:prstGeom prst="roundRect">
                  <a:avLst/>
                </a:prstGeom>
                <a:solidFill>
                  <a:srgbClr val="E2EDF7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zh-CN" altLang="en-US" b="1" dirty="0">
                      <a:solidFill>
                        <a:schemeClr val="tx1"/>
                      </a:solidFill>
                    </a:rPr>
                    <a:t>近远场内隐关系建模与反演</a:t>
                  </a:r>
                </a:p>
              </p:txBody>
            </p:sp>
            <p:sp>
              <p:nvSpPr>
                <p:cNvPr id="125" name="矩形: 圆角 124">
                  <a:extLst>
                    <a:ext uri="{FF2B5EF4-FFF2-40B4-BE49-F238E27FC236}">
                      <a16:creationId xmlns:a16="http://schemas.microsoft.com/office/drawing/2014/main" id="{AF33D237-67B9-44D3-B5BB-6B105667AFF8}"/>
                    </a:ext>
                  </a:extLst>
                </p:cNvPr>
                <p:cNvSpPr/>
                <p:nvPr/>
              </p:nvSpPr>
              <p:spPr>
                <a:xfrm>
                  <a:off x="5977844" y="1889380"/>
                  <a:ext cx="2024525" cy="1056993"/>
                </a:xfrm>
                <a:prstGeom prst="round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信号重构</a:t>
                  </a:r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近远场内隐关系</a:t>
                  </a:r>
                  <a:endParaRPr lang="en-US" altLang="zh-CN" sz="16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endParaRPr>
                </a:p>
                <a:p>
                  <a:pPr marL="285750" indent="-285750">
                    <a:lnSpc>
                      <a:spcPct val="150000"/>
                    </a:lnSpc>
                    <a:buFont typeface="Wingdings" panose="05000000000000000000" pitchFamily="2" charset="2"/>
                    <a:buChar char="l"/>
                  </a:pPr>
                  <a:r>
                    <a:rPr lang="zh-CN" altLang="en-US" sz="1600" kern="100" dirty="0">
                      <a:solidFill>
                        <a:schemeClr val="tx1"/>
                      </a:solidFill>
                      <a:latin typeface="+mn-ea"/>
                      <a:cs typeface="Times New Roman" panose="02020603050405020304" pitchFamily="18" charset="0"/>
                    </a:rPr>
                    <a:t>波位识别</a:t>
                  </a:r>
                  <a:endParaRPr lang="zh-CN" altLang="en-US" sz="1600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7156B81D-AC83-4722-8B57-1978B41F0609}"/>
                  </a:ext>
                </a:extLst>
              </p:cNvPr>
              <p:cNvGrpSpPr/>
              <p:nvPr/>
            </p:nvGrpSpPr>
            <p:grpSpPr>
              <a:xfrm>
                <a:off x="5358666" y="3937749"/>
                <a:ext cx="1602277" cy="295812"/>
                <a:chOff x="5358665" y="4328731"/>
                <a:chExt cx="1602277" cy="295812"/>
              </a:xfrm>
            </p:grpSpPr>
            <p:sp>
              <p:nvSpPr>
                <p:cNvPr id="127" name="箭头: 上 126">
                  <a:extLst>
                    <a:ext uri="{FF2B5EF4-FFF2-40B4-BE49-F238E27FC236}">
                      <a16:creationId xmlns:a16="http://schemas.microsoft.com/office/drawing/2014/main" id="{9516740B-6556-43C9-B736-6AB7F5DB136A}"/>
                    </a:ext>
                  </a:extLst>
                </p:cNvPr>
                <p:cNvSpPr/>
                <p:nvPr/>
              </p:nvSpPr>
              <p:spPr>
                <a:xfrm>
                  <a:off x="5358665" y="4328731"/>
                  <a:ext cx="445533" cy="295812"/>
                </a:xfrm>
                <a:prstGeom prst="upArrow">
                  <a:avLst/>
                </a:prstGeom>
                <a:solidFill>
                  <a:srgbClr val="0043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8" name="箭头: 上 127">
                  <a:extLst>
                    <a:ext uri="{FF2B5EF4-FFF2-40B4-BE49-F238E27FC236}">
                      <a16:creationId xmlns:a16="http://schemas.microsoft.com/office/drawing/2014/main" id="{00734A3E-B8E0-42B3-9382-D6AD29F65D17}"/>
                    </a:ext>
                  </a:extLst>
                </p:cNvPr>
                <p:cNvSpPr/>
                <p:nvPr/>
              </p:nvSpPr>
              <p:spPr>
                <a:xfrm>
                  <a:off x="6515409" y="4328731"/>
                  <a:ext cx="445533" cy="295812"/>
                </a:xfrm>
                <a:prstGeom prst="upArrow">
                  <a:avLst/>
                </a:prstGeom>
                <a:solidFill>
                  <a:srgbClr val="0043A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63DA693-BC36-4563-8B7B-586405A52171}"/>
                </a:ext>
              </a:extLst>
            </p:cNvPr>
            <p:cNvGrpSpPr/>
            <p:nvPr/>
          </p:nvGrpSpPr>
          <p:grpSpPr>
            <a:xfrm>
              <a:off x="3355625" y="4238084"/>
              <a:ext cx="1740594" cy="355829"/>
              <a:chOff x="3355625" y="4238084"/>
              <a:chExt cx="1740594" cy="355829"/>
            </a:xfrm>
          </p:grpSpPr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9B81B273-D1BC-4D82-B6DD-20BDD3F72733}"/>
                  </a:ext>
                </a:extLst>
              </p:cNvPr>
              <p:cNvSpPr txBox="1"/>
              <p:nvPr/>
            </p:nvSpPr>
            <p:spPr>
              <a:xfrm>
                <a:off x="3355625" y="4238084"/>
                <a:ext cx="155832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信号恢复</a:t>
                </a:r>
                <a:endParaRPr lang="en-US" altLang="zh-CN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E2D24CAA-2E7C-49CD-AE5B-59544A57A85A}"/>
                  </a:ext>
                </a:extLst>
              </p:cNvPr>
              <p:cNvCxnSpPr/>
              <p:nvPr/>
            </p:nvCxnSpPr>
            <p:spPr>
              <a:xfrm>
                <a:off x="3375369" y="4593913"/>
                <a:ext cx="1720850" cy="0"/>
              </a:xfrm>
              <a:prstGeom prst="straightConnector1">
                <a:avLst/>
              </a:prstGeom>
              <a:solidFill>
                <a:schemeClr val="bg1"/>
              </a:solidFill>
              <a:ln w="57150">
                <a:solidFill>
                  <a:srgbClr val="0043A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5E70885-ADE9-4BCA-B8EB-F8D60FDA1DED}"/>
                </a:ext>
              </a:extLst>
            </p:cNvPr>
            <p:cNvGrpSpPr/>
            <p:nvPr/>
          </p:nvGrpSpPr>
          <p:grpSpPr>
            <a:xfrm>
              <a:off x="7223390" y="4268829"/>
              <a:ext cx="1740594" cy="355829"/>
              <a:chOff x="7223390" y="4268829"/>
              <a:chExt cx="1740594" cy="355829"/>
            </a:xfrm>
          </p:grpSpPr>
          <p:cxnSp>
            <p:nvCxnSpPr>
              <p:cNvPr id="151" name="直接箭头连接符 150">
                <a:extLst>
                  <a:ext uri="{FF2B5EF4-FFF2-40B4-BE49-F238E27FC236}">
                    <a16:creationId xmlns:a16="http://schemas.microsoft.com/office/drawing/2014/main" id="{0B61390E-7A73-42E4-AF3F-6F39D862A75F}"/>
                  </a:ext>
                </a:extLst>
              </p:cNvPr>
              <p:cNvCxnSpPr/>
              <p:nvPr/>
            </p:nvCxnSpPr>
            <p:spPr>
              <a:xfrm>
                <a:off x="7243134" y="4624658"/>
                <a:ext cx="1720850" cy="0"/>
              </a:xfrm>
              <a:prstGeom prst="straightConnector1">
                <a:avLst/>
              </a:prstGeom>
              <a:solidFill>
                <a:schemeClr val="bg1"/>
              </a:solidFill>
              <a:ln w="57150">
                <a:solidFill>
                  <a:srgbClr val="0043A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66D91BC4-6ED0-488A-AE31-9247940CEA11}"/>
                  </a:ext>
                </a:extLst>
              </p:cNvPr>
              <p:cNvSpPr txBox="1"/>
              <p:nvPr/>
            </p:nvSpPr>
            <p:spPr>
              <a:xfrm>
                <a:off x="7223390" y="4268829"/>
                <a:ext cx="155832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tx1"/>
                    </a:solidFill>
                  </a:rPr>
                  <a:t>意图识别</a:t>
                </a:r>
                <a:endParaRPr lang="en-US" altLang="zh-CN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流程图: 接点 3">
              <a:extLst>
                <a:ext uri="{FF2B5EF4-FFF2-40B4-BE49-F238E27FC236}">
                  <a16:creationId xmlns:a16="http://schemas.microsoft.com/office/drawing/2014/main" id="{9D82B236-6CC7-4C00-8440-44B2E829F2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9303" y="2988402"/>
              <a:ext cx="360000" cy="360000"/>
            </a:xfrm>
            <a:prstGeom prst="flowChartConnector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75" name="流程图: 接点 74">
              <a:extLst>
                <a:ext uri="{FF2B5EF4-FFF2-40B4-BE49-F238E27FC236}">
                  <a16:creationId xmlns:a16="http://schemas.microsoft.com/office/drawing/2014/main" id="{4280C5E0-3160-4995-874C-E8DEE5F542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08931" y="2988402"/>
              <a:ext cx="360000" cy="360000"/>
            </a:xfrm>
            <a:prstGeom prst="flowChartConnector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77" name="流程图: 接点 76">
              <a:extLst>
                <a:ext uri="{FF2B5EF4-FFF2-40B4-BE49-F238E27FC236}">
                  <a16:creationId xmlns:a16="http://schemas.microsoft.com/office/drawing/2014/main" id="{DD9CE1F5-4109-47D7-AED5-2FF5F61B31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6027" y="2992362"/>
              <a:ext cx="360000" cy="360000"/>
            </a:xfrm>
            <a:prstGeom prst="flowChartConnector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  <p:sp>
          <p:nvSpPr>
            <p:cNvPr id="78" name="流程图: 接点 77">
              <a:extLst>
                <a:ext uri="{FF2B5EF4-FFF2-40B4-BE49-F238E27FC236}">
                  <a16:creationId xmlns:a16="http://schemas.microsoft.com/office/drawing/2014/main" id="{DA196695-C02D-46D4-AB3A-9635C5528F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71310" y="2990385"/>
              <a:ext cx="360000" cy="360000"/>
            </a:xfrm>
            <a:prstGeom prst="flowChartConnector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4</a:t>
              </a:r>
              <a:endParaRPr lang="zh-CN" altLang="en-US" b="1" dirty="0"/>
            </a:p>
          </p:txBody>
        </p:sp>
        <p:sp>
          <p:nvSpPr>
            <p:cNvPr id="79" name="流程图: 接点 78">
              <a:extLst>
                <a:ext uri="{FF2B5EF4-FFF2-40B4-BE49-F238E27FC236}">
                  <a16:creationId xmlns:a16="http://schemas.microsoft.com/office/drawing/2014/main" id="{74C3E660-A7E1-4FBF-9123-AA8E71EC38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67483" y="3458386"/>
              <a:ext cx="360000" cy="360000"/>
            </a:xfrm>
            <a:prstGeom prst="flowChartConnector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5</a:t>
              </a:r>
              <a:endParaRPr lang="zh-CN" altLang="en-US" b="1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BAA8F0-747B-4B71-8225-B6A1C8593C33}"/>
              </a:ext>
            </a:extLst>
          </p:cNvPr>
          <p:cNvGrpSpPr/>
          <p:nvPr/>
        </p:nvGrpSpPr>
        <p:grpSpPr>
          <a:xfrm>
            <a:off x="436712" y="5468807"/>
            <a:ext cx="11318577" cy="1196956"/>
            <a:chOff x="500516" y="5468807"/>
            <a:chExt cx="11318577" cy="1196956"/>
          </a:xfrm>
        </p:grpSpPr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6B2A05B6-B87C-4CEF-A43D-E892F27ED63B}"/>
                </a:ext>
              </a:extLst>
            </p:cNvPr>
            <p:cNvSpPr/>
            <p:nvPr/>
          </p:nvSpPr>
          <p:spPr>
            <a:xfrm>
              <a:off x="500516" y="5468807"/>
              <a:ext cx="11318577" cy="1196956"/>
            </a:xfrm>
            <a:prstGeom prst="roundRect">
              <a:avLst/>
            </a:prstGeom>
            <a:noFill/>
            <a:ln w="28575">
              <a:solidFill>
                <a:srgbClr val="0043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03AF073-F85C-4AC5-94E2-C48DF0CABF8D}"/>
                </a:ext>
              </a:extLst>
            </p:cNvPr>
            <p:cNvGrpSpPr/>
            <p:nvPr/>
          </p:nvGrpSpPr>
          <p:grpSpPr>
            <a:xfrm>
              <a:off x="2196509" y="6196701"/>
              <a:ext cx="7798982" cy="369332"/>
              <a:chOff x="2021129" y="6196701"/>
              <a:chExt cx="7798982" cy="369332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89C0040-65B5-476E-B89B-7271F4F325CC}"/>
                  </a:ext>
                </a:extLst>
              </p:cNvPr>
              <p:cNvSpPr txBox="1"/>
              <p:nvPr/>
            </p:nvSpPr>
            <p:spPr>
              <a:xfrm>
                <a:off x="2021129" y="6196701"/>
                <a:ext cx="22961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sz="18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星载辐射源模拟</a:t>
                </a: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42D0EA59-8C11-4032-9964-F7D814BB6A0A}"/>
                  </a:ext>
                </a:extLst>
              </p:cNvPr>
              <p:cNvSpPr txBox="1"/>
              <p:nvPr/>
            </p:nvSpPr>
            <p:spPr>
              <a:xfrm>
                <a:off x="7524000" y="6196701"/>
                <a:ext cx="22961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sz="1800" kern="100" dirty="0">
                    <a:solidFill>
                      <a:schemeClr val="tx1"/>
                    </a:solidFill>
                    <a:latin typeface="+mn-ea"/>
                    <a:cs typeface="Times New Roman" panose="02020603050405020304" pitchFamily="18" charset="0"/>
                  </a:rPr>
                  <a:t>嗅测场景搭建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516A588-C096-4007-9E73-4BACF449EB41}"/>
                </a:ext>
              </a:extLst>
            </p:cNvPr>
            <p:cNvGrpSpPr/>
            <p:nvPr/>
          </p:nvGrpSpPr>
          <p:grpSpPr>
            <a:xfrm>
              <a:off x="4377862" y="5649657"/>
              <a:ext cx="3436277" cy="434700"/>
              <a:chOff x="4286020" y="5649657"/>
              <a:chExt cx="3436277" cy="434700"/>
            </a:xfrm>
          </p:grpSpPr>
          <p:sp>
            <p:nvSpPr>
              <p:cNvPr id="164" name="矩形: 圆角 163">
                <a:extLst>
                  <a:ext uri="{FF2B5EF4-FFF2-40B4-BE49-F238E27FC236}">
                    <a16:creationId xmlns:a16="http://schemas.microsoft.com/office/drawing/2014/main" id="{FC4584BC-E07D-4237-B690-755E85B7EA4C}"/>
                  </a:ext>
                </a:extLst>
              </p:cNvPr>
              <p:cNvSpPr/>
              <p:nvPr/>
            </p:nvSpPr>
            <p:spPr>
              <a:xfrm>
                <a:off x="4466020" y="5649657"/>
                <a:ext cx="3256277" cy="434700"/>
              </a:xfrm>
              <a:prstGeom prst="roundRect">
                <a:avLst/>
              </a:prstGeom>
              <a:solidFill>
                <a:srgbClr val="E2EDF7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敏捷嗅测认知原理样机验证</a:t>
                </a:r>
              </a:p>
            </p:txBody>
          </p:sp>
          <p:sp>
            <p:nvSpPr>
              <p:cNvPr id="80" name="流程图: 接点 79">
                <a:extLst>
                  <a:ext uri="{FF2B5EF4-FFF2-40B4-BE49-F238E27FC236}">
                    <a16:creationId xmlns:a16="http://schemas.microsoft.com/office/drawing/2014/main" id="{FAD35B36-8F0F-4543-83E0-94EB027B1C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86020" y="5687007"/>
                <a:ext cx="360000" cy="360000"/>
              </a:xfrm>
              <a:prstGeom prst="flowChartConnector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6</a:t>
                </a:r>
                <a:endParaRPr lang="zh-CN" altLang="en-US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25043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  <p:tag name="COMMONDATA" val="eyJoZGlkIjoiMjAwMmM4MjgyZWNkMzMwNWVhMGM0NjU1YWJkMDk2MzIifQ=="/>
  <p:tag name="RESOURCE_RECORD_KEY" val="{&quot;65&quot;:[20220059],&quot;70&quot;:[3320069,3320073,3314651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.15"/>
  <p:tag name="KSO_WM_UNIT_TEXT_FILL_FORE_SCHEMECOLOR_INDEX" val="13"/>
  <p:tag name="KSO_WM_UNIT_TEXT_FILL_TYP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.15"/>
  <p:tag name="KSO_WM_UNIT_TEXT_FILL_FORE_SCHEMECOLOR_INDEX" val="13"/>
  <p:tag name="KSO_WM_UNIT_TEXT_FILL_TYP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304</Words>
  <Application>Microsoft Office PowerPoint</Application>
  <PresentationFormat>宽屏</PresentationFormat>
  <Paragraphs>105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微软雅黑</vt:lpstr>
      <vt:lpstr>Arial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凯</cp:lastModifiedBy>
  <cp:revision>1214</cp:revision>
  <dcterms:created xsi:type="dcterms:W3CDTF">2019-01-23T14:14:00Z</dcterms:created>
  <dcterms:modified xsi:type="dcterms:W3CDTF">2025-05-20T02:00:05Z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2019-04-13T04:31:50.2944312Z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7b149082-93e1-4519-a220-b561cf239821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C0C22EBFB433481D99EB2F9633AB6FC8_13</vt:lpwstr>
  </property>
  <property fmtid="{D5CDD505-2E9C-101B-9397-08002B2CF9AE}" pid="12" name="KSOProductBuildVer">
    <vt:lpwstr>2052-12.1.0.18240</vt:lpwstr>
  </property>
</Properties>
</file>
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7"/>
  </p:handoutMasterIdLst>
  <p:sldIdLst>
    <p:sldId id="11475" r:id="rId4"/>
    <p:sldId id="11483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内容页" id="{EB11151C-0E14-47B0-8218-1431BF894351}">
          <p14:sldIdLst>
            <p14:sldId id="11475"/>
            <p14:sldId id="11483"/>
          </p14:sldIdLst>
        </p14:section>
      </p14:sectionLst>
    </p:ext>
    <p:ext uri="{EFAFB233-063F-42B5-8137-9DF3F51BA10A}">
      <p15:sldGuideLst xmlns:p15="http://schemas.microsoft.com/office/powerpoint/2012/main">
        <p15:guide id="4" pos="3828" userDrawn="1">
          <p15:clr>
            <a:srgbClr val="A4A3A4"/>
          </p15:clr>
        </p15:guide>
        <p15:guide id="5" orient="horz" pos="980" userDrawn="1">
          <p15:clr>
            <a:srgbClr val="A4A3A4"/>
          </p15:clr>
        </p15:guide>
        <p15:guide id="6" orient="horz" pos="1598" userDrawn="1">
          <p15:clr>
            <a:srgbClr val="A4A3A4"/>
          </p15:clr>
        </p15:guide>
        <p15:guide id="7" orient="horz" pos="3308" userDrawn="1">
          <p15:clr>
            <a:srgbClr val="A4A3A4"/>
          </p15:clr>
        </p15:guide>
        <p15:guide id="8" pos="2172" userDrawn="1">
          <p15:clr>
            <a:srgbClr val="A4A3A4"/>
          </p15:clr>
        </p15:guide>
        <p15:guide id="9" pos="3970" userDrawn="1">
          <p15:clr>
            <a:srgbClr val="A4A3A4"/>
          </p15:clr>
        </p15:guide>
        <p15:guide id="10" pos="6125" userDrawn="1">
          <p15:clr>
            <a:srgbClr val="A4A3A4"/>
          </p15:clr>
        </p15:guide>
        <p15:guide id="11" pos="5297" userDrawn="1">
          <p15:clr>
            <a:srgbClr val="A4A3A4"/>
          </p15:clr>
        </p15:guide>
        <p15:guide id="12" pos="23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任 安然" initials="任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43A8"/>
    <a:srgbClr val="006FBF"/>
    <a:srgbClr val="C8161E"/>
    <a:srgbClr val="3974D7"/>
    <a:srgbClr val="D94E5D"/>
    <a:srgbClr val="E8E8EF"/>
    <a:srgbClr val="9CB9EB"/>
    <a:srgbClr val="E1EAF9"/>
    <a:srgbClr val="E2E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7417" autoAdjust="0"/>
  </p:normalViewPr>
  <p:slideViewPr>
    <p:cSldViewPr snapToGrid="0" showGuides="1">
      <p:cViewPr varScale="1">
        <p:scale>
          <a:sx n="90" d="100"/>
          <a:sy n="90" d="100"/>
        </p:scale>
        <p:origin x="160" y="56"/>
      </p:cViewPr>
      <p:guideLst>
        <p:guide pos="3828"/>
        <p:guide orient="horz" pos="980"/>
        <p:guide orient="horz" pos="1598"/>
        <p:guide orient="horz" pos="3308"/>
        <p:guide pos="2172"/>
        <p:guide pos="3970"/>
        <p:guide pos="6125"/>
        <p:guide pos="5297"/>
        <p:guide pos="2348"/>
      </p:guideLst>
    </p:cSldViewPr>
  </p:slideViewPr>
  <p:outlineViewPr>
    <p:cViewPr>
      <p:scale>
        <a:sx n="33" d="100"/>
        <a:sy n="33" d="100"/>
      </p:scale>
      <p:origin x="0" y="-5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170"/>
    </p:cViewPr>
  </p:sorterViewPr>
  <p:notesViewPr>
    <p:cSldViewPr snapToGrid="0">
      <p:cViewPr varScale="1">
        <p:scale>
          <a:sx n="85" d="100"/>
          <a:sy n="85" d="100"/>
        </p:scale>
        <p:origin x="38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76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1、</a:t>
            </a:r>
            <a:r>
              <a:rPr lang="zh-CN" altLang="en-US">
                <a:sym typeface="+mn-ea"/>
              </a:rPr>
              <a:t>基于电磁传播理论，研究不同材料、几何形状、相对位置等参数对通信信道的阻断效能。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2、</a:t>
            </a:r>
            <a:r>
              <a:rPr lang="zh-CN" altLang="en-US">
                <a:sym typeface="+mn-ea"/>
              </a:rPr>
              <a:t>探索静态遮蔽（墙体、障碍物）与动态遮蔽（无人机遮挡、金属帘）在城市、高空、战场等典型场景下的性能差异。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3、从Sub-6GHz到毫米波/太赫兹，研究不同频段下的传播特点及其对遮蔽策略的影响。</a:t>
            </a:r>
            <a:endParaRPr lang="en-US" altLang="zh-CN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E0D5545-95D4-489F-B8ED-7EAFA774B5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场景构建</a:t>
            </a:r>
            <a:endParaRPr lang="zh-CN" altLang="en-US"/>
          </a:p>
          <a:p>
            <a:r>
              <a:rPr lang="zh-CN" altLang="en-US"/>
              <a:t>静态</a:t>
            </a:r>
            <a:r>
              <a:rPr lang="en-US" altLang="zh-CN"/>
              <a:t>/</a:t>
            </a:r>
            <a:r>
              <a:rPr lang="zh-CN" altLang="en-US"/>
              <a:t>动态</a:t>
            </a:r>
            <a:r>
              <a:rPr lang="en-US" altLang="zh-CN"/>
              <a:t>/</a:t>
            </a:r>
            <a:r>
              <a:rPr lang="zh-CN" altLang="en-US"/>
              <a:t>材料</a:t>
            </a:r>
            <a:r>
              <a:rPr lang="en-US" altLang="zh-CN"/>
              <a:t>+T/R</a:t>
            </a:r>
            <a:endParaRPr lang="zh-CN" altLang="en-US"/>
          </a:p>
          <a:p>
            <a:pPr lvl="1"/>
            <a:r>
              <a:rPr lang="zh-CN" altLang="en-US"/>
              <a:t>静态</a:t>
            </a:r>
            <a:r>
              <a:rPr lang="en-US" altLang="zh-CN"/>
              <a:t>：</a:t>
            </a:r>
            <a:endParaRPr lang="en-US" altLang="zh-CN"/>
          </a:p>
          <a:p>
            <a:pPr lvl="1"/>
            <a:r>
              <a:rPr lang="en-US" altLang="zh-CN"/>
              <a:t>•金属板 / 金属网格：强烈反射和屏蔽电磁波。</a:t>
            </a:r>
            <a:endParaRPr lang="en-US" altLang="zh-CN"/>
          </a:p>
          <a:p>
            <a:pPr lvl="1"/>
            <a:r>
              <a:rPr lang="en-US" altLang="zh-CN"/>
              <a:t>•电磁吸收材料（RAM）：吸收能量，降低反射。</a:t>
            </a:r>
            <a:endParaRPr lang="en-US" altLang="zh-CN"/>
          </a:p>
          <a:p>
            <a:pPr lvl="1"/>
            <a:r>
              <a:rPr lang="en-US" altLang="zh-CN"/>
              <a:t>•水或湿墙体：对高频信号有显著衰减效果。</a:t>
            </a:r>
            <a:endParaRPr lang="en-US" altLang="zh-CN"/>
          </a:p>
          <a:p>
            <a:pPr lvl="1"/>
            <a:r>
              <a:rPr lang="zh-CN" altLang="en-US"/>
              <a:t>动态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•</a:t>
            </a:r>
            <a:r>
              <a:rPr lang="en-US" altLang="zh-CN"/>
              <a:t>无人机遮蔽：部署飞行器进行动态物理遮挡。</a:t>
            </a:r>
            <a:endParaRPr lang="en-US" altLang="zh-CN"/>
          </a:p>
          <a:p>
            <a:pPr lvl="1"/>
            <a:r>
              <a:rPr lang="en-US" altLang="zh-CN"/>
              <a:t>•移动式屏蔽装置：可快速部署的物理挡板或反射器。</a:t>
            </a:r>
            <a:endParaRPr lang="en-US" altLang="zh-CN"/>
          </a:p>
          <a:p>
            <a:pPr lvl="1"/>
            <a:r>
              <a:rPr lang="zh-CN" altLang="en-US"/>
              <a:t>材料</a:t>
            </a:r>
            <a:endParaRPr lang="zh-CN" altLang="en-US"/>
          </a:p>
          <a:p>
            <a:pPr lvl="1"/>
            <a:r>
              <a:rPr lang="zh-CN" altLang="en-US"/>
              <a:t>•石墨烯基吸波膜</a:t>
            </a:r>
            <a:endParaRPr lang="zh-CN" altLang="en-US"/>
          </a:p>
          <a:p>
            <a:pPr lvl="1"/>
            <a:r>
              <a:rPr lang="zh-CN" altLang="en-US"/>
              <a:t>•碳纳米管复合材料</a:t>
            </a:r>
            <a:endParaRPr lang="zh-CN" altLang="en-US"/>
          </a:p>
          <a:p>
            <a:pPr lvl="1"/>
            <a:r>
              <a:rPr lang="zh-CN" altLang="en-US"/>
              <a:t>•超材料屏蔽罩</a:t>
            </a:r>
            <a:endParaRPr lang="zh-CN" altLang="en-US"/>
          </a:p>
          <a:p>
            <a:pPr lvl="1"/>
            <a:r>
              <a:rPr lang="zh-CN" altLang="en-US"/>
              <a:t>遮蔽发射端</a:t>
            </a:r>
            <a:r>
              <a:rPr lang="en-US" altLang="zh-CN"/>
              <a:t>/</a:t>
            </a:r>
            <a:r>
              <a:rPr lang="zh-CN" altLang="en-US"/>
              <a:t>接收</a:t>
            </a:r>
            <a:r>
              <a:rPr lang="zh-CN" altLang="en-US"/>
              <a:t>端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lowpo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319056" y="766710"/>
            <a:ext cx="11568144" cy="476579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2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8" Type="http://schemas.openxmlformats.org/officeDocument/2006/relationships/theme" Target="../theme/theme2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9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2" Type="http://schemas.openxmlformats.org/officeDocument/2006/relationships/notesSlide" Target="../notesSlides/notesSlide2.xml"/><Relationship Id="rId21" Type="http://schemas.openxmlformats.org/officeDocument/2006/relationships/slideLayout" Target="../slideLayouts/slideLayout20.xml"/><Relationship Id="rId20" Type="http://schemas.openxmlformats.org/officeDocument/2006/relationships/tags" Target="../tags/tag75.xml"/><Relationship Id="rId2" Type="http://schemas.openxmlformats.org/officeDocument/2006/relationships/tags" Target="../tags/tag66.xml"/><Relationship Id="rId19" Type="http://schemas.openxmlformats.org/officeDocument/2006/relationships/image" Target="../media/image10.png"/><Relationship Id="rId18" Type="http://schemas.openxmlformats.org/officeDocument/2006/relationships/image" Target="../media/image9.png"/><Relationship Id="rId17" Type="http://schemas.openxmlformats.org/officeDocument/2006/relationships/image" Target="../media/image8.png"/><Relationship Id="rId16" Type="http://schemas.openxmlformats.org/officeDocument/2006/relationships/image" Target="../media/image7.svg"/><Relationship Id="rId15" Type="http://schemas.openxmlformats.org/officeDocument/2006/relationships/image" Target="../media/image6.png"/><Relationship Id="rId14" Type="http://schemas.openxmlformats.org/officeDocument/2006/relationships/tags" Target="../tags/tag74.xml"/><Relationship Id="rId13" Type="http://schemas.openxmlformats.org/officeDocument/2006/relationships/image" Target="../media/image5.png"/><Relationship Id="rId12" Type="http://schemas.openxmlformats.org/officeDocument/2006/relationships/image" Target="../media/image4.jpeg"/><Relationship Id="rId11" Type="http://schemas.openxmlformats.org/officeDocument/2006/relationships/image" Target="../media/image3.jpeg"/><Relationship Id="rId10" Type="http://schemas.openxmlformats.org/officeDocument/2006/relationships/image" Target="../media/image2.png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882468" y="43657"/>
            <a:ext cx="10554674" cy="598488"/>
          </a:xfrm>
        </p:spPr>
        <p:txBody>
          <a:bodyPr/>
          <a:lstStyle/>
          <a:p>
            <a:r>
              <a:rPr lang="zh-CN" altLang="en-US" dirty="0"/>
              <a:t>任务分解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03619" y="1033740"/>
            <a:ext cx="9699484" cy="640736"/>
          </a:xfrm>
          <a:prstGeom prst="rect">
            <a:avLst/>
          </a:prstGeom>
          <a:noFill/>
          <a:ln w="28575">
            <a:solidFill>
              <a:srgbClr val="9CB9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典型航天电磁波形传输下的天线近场测量与远场反演</a:t>
            </a:r>
            <a:endParaRPr kumimoji="0" lang="zh-CN" altLang="en-US" sz="20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5733" y="1123275"/>
            <a:ext cx="141577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43A8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  <a:t>总体目标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43A8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0515" y="1980440"/>
            <a:ext cx="3436485" cy="3836164"/>
          </a:xfrm>
          <a:prstGeom prst="rect">
            <a:avLst/>
          </a:prstGeom>
          <a:noFill/>
          <a:ln w="28575">
            <a:solidFill>
              <a:srgbClr val="004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8331" y="1800750"/>
            <a:ext cx="30292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rgbClr val="0043A8"/>
                </a:solidFill>
                <a:latin typeface="Arial" panose="020B0604020202090204"/>
                <a:ea typeface="微软雅黑" panose="020B0503020204020204" charset="-122"/>
              </a:rPr>
              <a:t>1. </a:t>
            </a:r>
            <a:r>
              <a:rPr lang="zh-CN" altLang="en-US" b="1" dirty="0">
                <a:solidFill>
                  <a:srgbClr val="0043A8"/>
                </a:solidFill>
                <a:latin typeface="Arial" panose="020B0604020202090204"/>
                <a:ea typeface="微软雅黑" panose="020B0503020204020204" charset="-122"/>
              </a:rPr>
              <a:t>无源电磁空间物理阻断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043A8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404611" y="1980439"/>
            <a:ext cx="3436485" cy="3836164"/>
          </a:xfrm>
          <a:prstGeom prst="rect">
            <a:avLst/>
          </a:prstGeom>
          <a:noFill/>
          <a:ln w="28575">
            <a:solidFill>
              <a:srgbClr val="004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613996" y="1808298"/>
            <a:ext cx="302928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rgbClr val="0043A8"/>
                </a:solidFill>
                <a:latin typeface="Arial" panose="020B0604020202090204"/>
                <a:ea typeface="微软雅黑" panose="020B0503020204020204" charset="-122"/>
              </a:rPr>
              <a:t>2.</a:t>
            </a:r>
            <a:r>
              <a:rPr lang="zh-CN" altLang="en-US" b="1" dirty="0">
                <a:solidFill>
                  <a:srgbClr val="0043A8"/>
                </a:solidFill>
                <a:latin typeface="Arial" panose="020B0604020202090204"/>
                <a:ea typeface="微软雅黑" panose="020B0503020204020204" charset="-122"/>
              </a:rPr>
              <a:t> 近远场收发电磁干扰</a:t>
            </a:r>
            <a:endParaRPr lang="zh-CN" altLang="en-US" b="1" dirty="0">
              <a:solidFill>
                <a:srgbClr val="0043A8"/>
              </a:solidFill>
              <a:latin typeface="Arial" panose="020B0604020202090204"/>
              <a:ea typeface="微软雅黑" panose="020B050302020402020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8327699" y="1980439"/>
            <a:ext cx="3436485" cy="3836164"/>
          </a:xfrm>
          <a:prstGeom prst="rect">
            <a:avLst/>
          </a:prstGeom>
          <a:noFill/>
          <a:ln w="28575">
            <a:solidFill>
              <a:srgbClr val="0043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8445185" y="1801078"/>
            <a:ext cx="320151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rgbClr val="0043A8"/>
                </a:solidFill>
                <a:latin typeface="Arial" panose="020B0604020202090204"/>
                <a:ea typeface="微软雅黑" panose="020B0503020204020204" charset="-122"/>
              </a:rPr>
              <a:t>3.</a:t>
            </a:r>
            <a:r>
              <a:rPr lang="zh-CN" altLang="en-US" b="1" dirty="0">
                <a:solidFill>
                  <a:srgbClr val="0043A8"/>
                </a:solidFill>
                <a:latin typeface="Arial" panose="020B0604020202090204"/>
                <a:ea typeface="微软雅黑" panose="020B0503020204020204" charset="-122"/>
              </a:rPr>
              <a:t> 相控阵天线波束识别与跟踪</a:t>
            </a:r>
            <a:endParaRPr lang="zh-CN" altLang="en-US" b="1" dirty="0">
              <a:solidFill>
                <a:srgbClr val="0043A8"/>
              </a:solidFill>
              <a:latin typeface="Arial" panose="020B0604020202090204"/>
              <a:ea typeface="微软雅黑" panose="020B0503020204020204" charset="-122"/>
            </a:endParaRPr>
          </a:p>
        </p:txBody>
      </p:sp>
      <p:sp>
        <p:nvSpPr>
          <p:cNvPr id="176" name="矩形: 圆角 175"/>
          <p:cNvSpPr/>
          <p:nvPr/>
        </p:nvSpPr>
        <p:spPr>
          <a:xfrm>
            <a:off x="9288365" y="5255360"/>
            <a:ext cx="1515153" cy="441491"/>
          </a:xfrm>
          <a:prstGeom prst="roundRect">
            <a:avLst/>
          </a:prstGeom>
          <a:solidFill>
            <a:srgbClr val="0043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  <a:t>智能跟踪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grpSp>
        <p:nvGrpSpPr>
          <p:cNvPr id="187" name="组合 186"/>
          <p:cNvGrpSpPr/>
          <p:nvPr/>
        </p:nvGrpSpPr>
        <p:grpSpPr>
          <a:xfrm>
            <a:off x="3347963" y="5153211"/>
            <a:ext cx="1740594" cy="355829"/>
            <a:chOff x="5244406" y="6106714"/>
            <a:chExt cx="1740594" cy="355829"/>
          </a:xfrm>
          <a:solidFill>
            <a:schemeClr val="bg1"/>
          </a:solidFill>
        </p:grpSpPr>
        <p:sp>
          <p:nvSpPr>
            <p:cNvPr id="185" name="文本框 184"/>
            <p:cNvSpPr txBox="1"/>
            <p:nvPr/>
          </p:nvSpPr>
          <p:spPr>
            <a:xfrm>
              <a:off x="5244406" y="6106714"/>
              <a:ext cx="155832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 panose="020B0503020204020204" charset="-122"/>
                  <a:cs typeface="+mn-cs"/>
                </a:rPr>
                <a:t>产生近场数据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81" name="直接箭头连接符 180"/>
            <p:cNvCxnSpPr/>
            <p:nvPr/>
          </p:nvCxnSpPr>
          <p:spPr>
            <a:xfrm>
              <a:off x="5264150" y="6462543"/>
              <a:ext cx="1720850" cy="0"/>
            </a:xfrm>
            <a:prstGeom prst="straightConnector1">
              <a:avLst/>
            </a:prstGeom>
            <a:grpFill/>
            <a:ln w="57150">
              <a:solidFill>
                <a:srgbClr val="0043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组合 187"/>
          <p:cNvGrpSpPr/>
          <p:nvPr/>
        </p:nvGrpSpPr>
        <p:grpSpPr>
          <a:xfrm>
            <a:off x="7244748" y="5153211"/>
            <a:ext cx="1740594" cy="1487228"/>
            <a:chOff x="5244406" y="6106714"/>
            <a:chExt cx="1740594" cy="1487228"/>
          </a:xfrm>
          <a:solidFill>
            <a:schemeClr val="bg1"/>
          </a:solidFill>
        </p:grpSpPr>
        <p:sp>
          <p:nvSpPr>
            <p:cNvPr id="189" name="文本框 188"/>
            <p:cNvSpPr txBox="1"/>
            <p:nvPr/>
          </p:nvSpPr>
          <p:spPr>
            <a:xfrm>
              <a:off x="5244406" y="6106714"/>
              <a:ext cx="155832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 panose="020B0503020204020204" charset="-122"/>
                  <a:cs typeface="+mn-cs"/>
                </a:rPr>
                <a:t>输出时序结果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  <p:cxnSp>
          <p:nvCxnSpPr>
            <p:cNvPr id="190" name="直接箭头连接符 189"/>
            <p:cNvCxnSpPr/>
            <p:nvPr/>
          </p:nvCxnSpPr>
          <p:spPr>
            <a:xfrm>
              <a:off x="5264150" y="6462543"/>
              <a:ext cx="1720850" cy="0"/>
            </a:xfrm>
            <a:prstGeom prst="straightConnector1">
              <a:avLst/>
            </a:prstGeom>
            <a:grpFill/>
            <a:ln w="57150">
              <a:solidFill>
                <a:srgbClr val="0043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文本框 131"/>
            <p:cNvSpPr txBox="1"/>
            <p:nvPr/>
          </p:nvSpPr>
          <p:spPr>
            <a:xfrm>
              <a:off x="5324149" y="7255388"/>
              <a:ext cx="155832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90204"/>
                  <a:ea typeface="微软雅黑" panose="020B0503020204020204" charset="-122"/>
                  <a:cs typeface="+mn-cs"/>
                </a:rPr>
                <a:t>优化反演结果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3" name="文本框 6"/>
          <p:cNvSpPr txBox="1"/>
          <p:nvPr>
            <p:custDataLst>
              <p:tags r:id="rId1"/>
            </p:custDataLst>
          </p:nvPr>
        </p:nvSpPr>
        <p:spPr>
          <a:xfrm>
            <a:off x="678347" y="93414"/>
            <a:ext cx="8306995" cy="762000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defRPr/>
            </a:pPr>
            <a:r>
              <a:rPr lang="zh-CN" altLang="en-US" sz="3000" dirty="0">
                <a:solidFill>
                  <a:srgbClr val="0043A8"/>
                </a:solidFill>
              </a:rPr>
              <a:t>研究内容六：</a:t>
            </a:r>
            <a:endParaRPr kumimoji="0" lang="zh-CN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0043A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4" name="直接连接符 73"/>
          <p:cNvCxnSpPr/>
          <p:nvPr>
            <p:custDataLst>
              <p:tags r:id="rId2"/>
            </p:custDataLst>
          </p:nvPr>
        </p:nvCxnSpPr>
        <p:spPr>
          <a:xfrm>
            <a:off x="414024" y="245115"/>
            <a:ext cx="5080" cy="439420"/>
          </a:xfrm>
          <a:prstGeom prst="line">
            <a:avLst/>
          </a:prstGeom>
          <a:ln w="101600">
            <a:solidFill>
              <a:srgbClr val="004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53781C-E1F6-4315-A39D-61273F2E059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988060" y="2256155"/>
            <a:ext cx="2305050" cy="369570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物理遮蔽机制建模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88060" y="4220845"/>
            <a:ext cx="2305050" cy="843915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90204" pitchFamily="34" charset="0"/>
              <a:buChar char="•"/>
            </a:pP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</a:t>
            </a:r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成本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</a:t>
            </a:r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复杂性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 b="1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</a:t>
            </a:r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通用性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1" name="矩形: 圆角 120"/>
          <p:cNvSpPr/>
          <p:nvPr/>
        </p:nvSpPr>
        <p:spPr>
          <a:xfrm>
            <a:off x="1455396" y="5280797"/>
            <a:ext cx="1515153" cy="441491"/>
          </a:xfrm>
          <a:prstGeom prst="roundRect">
            <a:avLst/>
          </a:prstGeom>
          <a:solidFill>
            <a:srgbClr val="0043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charset="-122"/>
                <a:cs typeface="+mn-cs"/>
              </a:rPr>
              <a:t>无源对抗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sp>
        <p:nvSpPr>
          <p:cNvPr id="127" name="矩形: 圆角 126"/>
          <p:cNvSpPr/>
          <p:nvPr/>
        </p:nvSpPr>
        <p:spPr>
          <a:xfrm>
            <a:off x="5360518" y="5240642"/>
            <a:ext cx="1515153" cy="441491"/>
          </a:xfrm>
          <a:prstGeom prst="roundRect">
            <a:avLst/>
          </a:prstGeom>
          <a:solidFill>
            <a:srgbClr val="0043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dirty="0">
                <a:solidFill>
                  <a:srgbClr val="FFFFFF"/>
                </a:solidFill>
                <a:latin typeface="Arial" panose="020B0604020202090204"/>
                <a:ea typeface="微软雅黑" panose="020B0503020204020204" charset="-122"/>
              </a:rPr>
              <a:t>收发干扰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连接符: 肘形 13"/>
          <p:cNvCxnSpPr>
            <a:stCxn id="99" idx="2"/>
            <a:endCxn id="97" idx="2"/>
          </p:cNvCxnSpPr>
          <p:nvPr/>
        </p:nvCxnSpPr>
        <p:spPr>
          <a:xfrm rot="5400000">
            <a:off x="8084398" y="3855059"/>
            <a:ext cx="12700" cy="3923088"/>
          </a:xfrm>
          <a:prstGeom prst="bentConnector3">
            <a:avLst>
              <a:gd name="adj1" fmla="val 1800000"/>
            </a:avLst>
          </a:prstGeom>
          <a:grpFill/>
          <a:ln w="57150"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995556" y="2881232"/>
            <a:ext cx="2305278" cy="369332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多场景遮蔽分析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" name="直接箭头连接符 12"/>
          <p:cNvCxnSpPr>
            <a:stCxn id="89" idx="2"/>
            <a:endCxn id="38" idx="0"/>
          </p:cNvCxnSpPr>
          <p:nvPr/>
        </p:nvCxnSpPr>
        <p:spPr>
          <a:xfrm>
            <a:off x="2140576" y="2625725"/>
            <a:ext cx="7620" cy="255270"/>
          </a:xfrm>
          <a:prstGeom prst="straightConnector1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/>
          <p:cNvCxnSpPr>
            <a:stCxn id="38" idx="2"/>
            <a:endCxn id="8" idx="0"/>
          </p:cNvCxnSpPr>
          <p:nvPr/>
        </p:nvCxnSpPr>
        <p:spPr>
          <a:xfrm rot="5400000">
            <a:off x="2011363" y="3379788"/>
            <a:ext cx="266065" cy="7620"/>
          </a:xfrm>
          <a:prstGeom prst="bentConnector3">
            <a:avLst>
              <a:gd name="adj1" fmla="val 50000"/>
            </a:avLst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4908917" y="2274197"/>
            <a:ext cx="2305279" cy="369332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波形参数盲估计</a:t>
            </a:r>
            <a:endParaRPr lang="zh-CN" altLang="en-US" dirty="0"/>
          </a:p>
        </p:txBody>
      </p:sp>
      <p:sp>
        <p:nvSpPr>
          <p:cNvPr id="55" name="矩形 54"/>
          <p:cNvSpPr/>
          <p:nvPr/>
        </p:nvSpPr>
        <p:spPr>
          <a:xfrm>
            <a:off x="4908916" y="4476366"/>
            <a:ext cx="2305279" cy="606425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远场反向图反演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4908917" y="2827281"/>
            <a:ext cx="2305278" cy="369332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分集阵列测量系统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8" name="直接箭头连接符 57"/>
          <p:cNvCxnSpPr>
            <a:stCxn id="53" idx="2"/>
            <a:endCxn id="56" idx="0"/>
          </p:cNvCxnSpPr>
          <p:nvPr/>
        </p:nvCxnSpPr>
        <p:spPr>
          <a:xfrm flipH="1">
            <a:off x="6061556" y="2643529"/>
            <a:ext cx="1" cy="183752"/>
          </a:xfrm>
          <a:prstGeom prst="straightConnector1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4908917" y="3387491"/>
            <a:ext cx="2305278" cy="369332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近场空间信息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64" name="直接箭头连接符 63"/>
          <p:cNvCxnSpPr>
            <a:stCxn id="56" idx="2"/>
            <a:endCxn id="63" idx="0"/>
          </p:cNvCxnSpPr>
          <p:nvPr/>
        </p:nvCxnSpPr>
        <p:spPr>
          <a:xfrm>
            <a:off x="6061556" y="3196613"/>
            <a:ext cx="0" cy="190878"/>
          </a:xfrm>
          <a:prstGeom prst="straightConnector1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stCxn id="63" idx="2"/>
            <a:endCxn id="76" idx="0"/>
          </p:cNvCxnSpPr>
          <p:nvPr/>
        </p:nvCxnSpPr>
        <p:spPr>
          <a:xfrm flipH="1">
            <a:off x="6058928" y="3756823"/>
            <a:ext cx="2628" cy="171504"/>
          </a:xfrm>
          <a:prstGeom prst="straightConnector1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4906289" y="3928327"/>
            <a:ext cx="2305278" cy="369332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惠更斯等效性原理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 flipH="1">
            <a:off x="6058928" y="4301479"/>
            <a:ext cx="2628" cy="171504"/>
          </a:xfrm>
          <a:prstGeom prst="straightConnector1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/>
          <p:cNvSpPr/>
          <p:nvPr/>
        </p:nvSpPr>
        <p:spPr>
          <a:xfrm>
            <a:off x="8904748" y="4102149"/>
            <a:ext cx="2305279" cy="369332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信号</a:t>
            </a:r>
            <a:r>
              <a:rPr lang="en-US" altLang="zh-CN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波束映射库</a:t>
            </a:r>
            <a:endParaRPr lang="zh-CN" altLang="en-US" dirty="0"/>
          </a:p>
        </p:txBody>
      </p:sp>
      <p:sp>
        <p:nvSpPr>
          <p:cNvPr id="102" name="矩形 101"/>
          <p:cNvSpPr/>
          <p:nvPr/>
        </p:nvSpPr>
        <p:spPr>
          <a:xfrm>
            <a:off x="8518092" y="2274467"/>
            <a:ext cx="1327918" cy="606425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微秒级</a:t>
            </a:r>
            <a:endParaRPr lang="en-US" altLang="zh-CN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波位切换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8904748" y="4697539"/>
            <a:ext cx="2305278" cy="369332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持续学习模型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10187534" y="2274466"/>
            <a:ext cx="1327918" cy="606425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多波束并发干扰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5" name="直接箭头连接符 104"/>
          <p:cNvCxnSpPr>
            <a:stCxn id="101" idx="2"/>
            <a:endCxn id="103" idx="0"/>
          </p:cNvCxnSpPr>
          <p:nvPr/>
        </p:nvCxnSpPr>
        <p:spPr>
          <a:xfrm flipH="1">
            <a:off x="10057387" y="4471481"/>
            <a:ext cx="1" cy="226058"/>
          </a:xfrm>
          <a:prstGeom prst="straightConnector1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/>
          <p:cNvSpPr/>
          <p:nvPr/>
        </p:nvSpPr>
        <p:spPr>
          <a:xfrm>
            <a:off x="8518092" y="3055555"/>
            <a:ext cx="1327918" cy="606425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压缩采样</a:t>
            </a:r>
            <a:endParaRPr lang="en-US" altLang="zh-CN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并行化测量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10187534" y="3055554"/>
            <a:ext cx="1327918" cy="606425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波束参数</a:t>
            </a:r>
            <a:endParaRPr lang="en-US" altLang="zh-CN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动态解耦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51" name="直接箭头连接符 50"/>
          <p:cNvCxnSpPr>
            <a:stCxn id="102" idx="2"/>
            <a:endCxn id="115" idx="0"/>
          </p:cNvCxnSpPr>
          <p:nvPr/>
        </p:nvCxnSpPr>
        <p:spPr>
          <a:xfrm>
            <a:off x="9182051" y="2880892"/>
            <a:ext cx="0" cy="174663"/>
          </a:xfrm>
          <a:prstGeom prst="straightConnector1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104" idx="2"/>
            <a:endCxn id="116" idx="0"/>
          </p:cNvCxnSpPr>
          <p:nvPr/>
        </p:nvCxnSpPr>
        <p:spPr>
          <a:xfrm>
            <a:off x="10851493" y="2880891"/>
            <a:ext cx="0" cy="174663"/>
          </a:xfrm>
          <a:prstGeom prst="straightConnector1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肘形 68"/>
          <p:cNvCxnSpPr>
            <a:stCxn id="115" idx="2"/>
            <a:endCxn id="101" idx="0"/>
          </p:cNvCxnSpPr>
          <p:nvPr/>
        </p:nvCxnSpPr>
        <p:spPr>
          <a:xfrm rot="16200000" flipH="1">
            <a:off x="9399635" y="3444395"/>
            <a:ext cx="440169" cy="875337"/>
          </a:xfrm>
          <a:prstGeom prst="bentConnector3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肘形 70"/>
          <p:cNvCxnSpPr>
            <a:stCxn id="116" idx="2"/>
            <a:endCxn id="101" idx="0"/>
          </p:cNvCxnSpPr>
          <p:nvPr/>
        </p:nvCxnSpPr>
        <p:spPr>
          <a:xfrm rot="5400000">
            <a:off x="10234356" y="3485012"/>
            <a:ext cx="440170" cy="794105"/>
          </a:xfrm>
          <a:prstGeom prst="bentConnector3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987936" y="3516867"/>
            <a:ext cx="2305278" cy="369332"/>
          </a:xfrm>
          <a:prstGeom prst="rect">
            <a:avLst/>
          </a:prstGeom>
          <a:solidFill>
            <a:srgbClr val="E2EDF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dirty="0">
                <a:solidFill>
                  <a:srgbClr val="0043A8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多频段信道遮蔽特性</a:t>
            </a:r>
            <a:endParaRPr lang="zh-CN" altLang="en-US" dirty="0">
              <a:solidFill>
                <a:srgbClr val="0043A8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" name="连接符: 肘形 15"/>
          <p:cNvCxnSpPr>
            <a:stCxn id="8" idx="2"/>
            <a:endCxn id="119" idx="0"/>
          </p:cNvCxnSpPr>
          <p:nvPr/>
        </p:nvCxnSpPr>
        <p:spPr>
          <a:xfrm rot="5400000" flipV="1">
            <a:off x="1973580" y="4053205"/>
            <a:ext cx="334645" cy="3175"/>
          </a:xfrm>
          <a:prstGeom prst="bentConnector2">
            <a:avLst/>
          </a:prstGeom>
          <a:ln>
            <a:solidFill>
              <a:srgbClr val="004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矩形 98"/>
          <p:cNvSpPr/>
          <p:nvPr/>
        </p:nvSpPr>
        <p:spPr>
          <a:xfrm>
            <a:off x="1261146" y="2502311"/>
            <a:ext cx="2060614" cy="448945"/>
          </a:xfrm>
          <a:prstGeom prst="rect">
            <a:avLst/>
          </a:prstGeom>
          <a:solidFill>
            <a:srgbClr val="E1EAF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0043A8"/>
                </a:solidFill>
                <a:latin typeface="宋体" pitchFamily="2" charset="-122"/>
                <a:ea typeface="宋体" pitchFamily="2" charset="-122"/>
              </a:rPr>
              <a:t>场景构建与</a:t>
            </a:r>
            <a:r>
              <a:rPr lang="zh-CN" altLang="en-US" sz="1400" b="1" dirty="0">
                <a:solidFill>
                  <a:srgbClr val="0043A8"/>
                </a:solidFill>
                <a:latin typeface="宋体" pitchFamily="2" charset="-122"/>
                <a:ea typeface="宋体" pitchFamily="2" charset="-122"/>
              </a:rPr>
              <a:t>阻断方式</a:t>
            </a:r>
            <a:endParaRPr lang="zh-CN" altLang="en-US" sz="1400" b="1" dirty="0">
              <a:solidFill>
                <a:srgbClr val="0043A8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1261146" y="1732056"/>
            <a:ext cx="2060614" cy="448945"/>
          </a:xfrm>
          <a:prstGeom prst="rect">
            <a:avLst/>
          </a:prstGeom>
          <a:solidFill>
            <a:srgbClr val="E1EAF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0043A8"/>
                </a:solidFill>
                <a:latin typeface="宋体" pitchFamily="2" charset="-122"/>
                <a:ea typeface="宋体" pitchFamily="2" charset="-122"/>
              </a:rPr>
              <a:t>电磁遮蔽模型建立</a:t>
            </a:r>
            <a:endParaRPr lang="zh-CN" altLang="en-US" sz="1400" b="1" dirty="0">
              <a:solidFill>
                <a:srgbClr val="0043A8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7" name="文本框 6"/>
          <p:cNvSpPr txBox="1"/>
          <p:nvPr>
            <p:custDataLst>
              <p:tags r:id="rId1"/>
            </p:custDataLst>
          </p:nvPr>
        </p:nvSpPr>
        <p:spPr>
          <a:xfrm>
            <a:off x="647700" y="83820"/>
            <a:ext cx="10733809" cy="762000"/>
          </a:xfrm>
          <a:prstGeom prst="rect">
            <a:avLst/>
          </a:prstGeom>
          <a:noFill/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lIns="0" tIns="0" rIns="0" bIns="0" anchor="ctr" anchorCtr="0">
            <a:norm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000" dirty="0">
                <a:solidFill>
                  <a:srgbClr val="0043A8"/>
                </a:solidFill>
              </a:rPr>
              <a:t>技术路线六：</a:t>
            </a:r>
            <a:endParaRPr lang="zh-CN" altLang="en-US" sz="3000" dirty="0">
              <a:solidFill>
                <a:srgbClr val="0043A8"/>
              </a:solidFill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8608592" y="1006280"/>
            <a:ext cx="2596413" cy="344683"/>
          </a:xfrm>
          <a:prstGeom prst="rect">
            <a:avLst/>
          </a:prstGeom>
          <a:noFill/>
        </p:spPr>
        <p:txBody>
          <a:bodyPr wrap="square">
            <a:normAutofit fontScale="85000"/>
          </a:bodyPr>
          <a:lstStyle/>
          <a:p>
            <a:pPr algn="ctr"/>
            <a:r>
              <a:rPr lang="zh-CN" altLang="en-US" sz="1800" b="1" kern="1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</a:rPr>
              <a:t>时频空码域资源优化</a:t>
            </a:r>
            <a:endParaRPr lang="zh-CN" altLang="en-US" sz="1800" b="1" kern="10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5068250" y="1006576"/>
            <a:ext cx="2165102" cy="344683"/>
          </a:xfrm>
          <a:prstGeom prst="rect">
            <a:avLst/>
          </a:prstGeom>
          <a:noFill/>
        </p:spPr>
        <p:txBody>
          <a:bodyPr wrap="square">
            <a:normAutofit fontScale="85000"/>
          </a:bodyPr>
          <a:lstStyle/>
          <a:p>
            <a:pPr algn="ctr"/>
            <a:r>
              <a:rPr lang="zh-CN" altLang="en-US" sz="1800" b="1" kern="1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</a:rPr>
              <a:t>干扰分析与管理</a:t>
            </a:r>
            <a:endParaRPr lang="zh-CN" altLang="en-US" sz="1800" b="1" kern="10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503050405090304" pitchFamily="18" charset="0"/>
            </a:endParaRPr>
          </a:p>
        </p:txBody>
      </p:sp>
      <p:sp>
        <p:nvSpPr>
          <p:cNvPr id="4" name="矩形: 圆角 108"/>
          <p:cNvSpPr/>
          <p:nvPr>
            <p:custDataLst>
              <p:tags r:id="rId4"/>
            </p:custDataLst>
          </p:nvPr>
        </p:nvSpPr>
        <p:spPr>
          <a:xfrm>
            <a:off x="362585" y="871220"/>
            <a:ext cx="3712845" cy="5875020"/>
          </a:xfrm>
          <a:prstGeom prst="roundRect">
            <a:avLst/>
          </a:prstGeom>
          <a:noFill/>
          <a:ln>
            <a:solidFill>
              <a:srgbClr val="0043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5" name="矩形: 圆角 110"/>
          <p:cNvSpPr/>
          <p:nvPr>
            <p:custDataLst>
              <p:tags r:id="rId5"/>
            </p:custDataLst>
          </p:nvPr>
        </p:nvSpPr>
        <p:spPr>
          <a:xfrm>
            <a:off x="4321175" y="810895"/>
            <a:ext cx="3578860" cy="5934710"/>
          </a:xfrm>
          <a:prstGeom prst="roundRect">
            <a:avLst/>
          </a:prstGeom>
          <a:noFill/>
          <a:ln>
            <a:solidFill>
              <a:srgbClr val="0043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33" name="矩形: 圆角 112"/>
          <p:cNvSpPr/>
          <p:nvPr>
            <p:custDataLst>
              <p:tags r:id="rId6"/>
            </p:custDataLst>
          </p:nvPr>
        </p:nvSpPr>
        <p:spPr>
          <a:xfrm>
            <a:off x="8147050" y="871220"/>
            <a:ext cx="3369310" cy="5875020"/>
          </a:xfrm>
          <a:prstGeom prst="roundRect">
            <a:avLst/>
          </a:prstGeom>
          <a:noFill/>
          <a:ln>
            <a:solidFill>
              <a:srgbClr val="0043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6" name="圆角矩形 5"/>
          <p:cNvSpPr/>
          <p:nvPr>
            <p:custDataLst>
              <p:tags r:id="rId7"/>
            </p:custDataLst>
          </p:nvPr>
        </p:nvSpPr>
        <p:spPr>
          <a:xfrm>
            <a:off x="501650" y="811082"/>
            <a:ext cx="3386212" cy="679263"/>
          </a:xfrm>
          <a:prstGeom prst="roundRect">
            <a:avLst>
              <a:gd name="adj" fmla="val 50000"/>
            </a:avLst>
          </a:prstGeom>
          <a:solidFill>
            <a:srgbClr val="0043A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338455" indent="-234950" algn="ctr" rtl="0" eaLnBrk="0" fontAlgn="auto">
              <a:lnSpc>
                <a:spcPct val="100000"/>
              </a:lnSpc>
              <a:spcBef>
                <a:spcPts val="900"/>
              </a:spcBef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90204"/>
                <a:ea typeface="微软雅黑" panose="020B0503020204020204" charset="-122"/>
                <a:sym typeface="+mn-ea"/>
              </a:rPr>
              <a:t>无源电磁空间物理阻断</a:t>
            </a:r>
            <a:endParaRPr lang="zh-CN" altLang="en-US" sz="2000" b="1" kern="100" spc="30" dirty="0">
              <a:solidFill>
                <a:schemeClr val="bg1"/>
              </a:solidFill>
              <a:effectLst/>
              <a:latin typeface="Arial" panose="020B0604020202090204"/>
              <a:ea typeface="微软雅黑" panose="020B050302020402020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8"/>
            </p:custDataLst>
          </p:nvPr>
        </p:nvSpPr>
        <p:spPr>
          <a:xfrm>
            <a:off x="4321588" y="760433"/>
            <a:ext cx="3578164" cy="679263"/>
          </a:xfrm>
          <a:prstGeom prst="roundRect">
            <a:avLst>
              <a:gd name="adj" fmla="val 50000"/>
            </a:avLst>
          </a:prstGeom>
          <a:solidFill>
            <a:srgbClr val="0043A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338455" indent="-234950" algn="ctr" rtl="0" eaLnBrk="0" fontAlgn="auto">
              <a:lnSpc>
                <a:spcPct val="100000"/>
              </a:lnSpc>
              <a:spcBef>
                <a:spcPts val="900"/>
              </a:spcBef>
              <a:buClrTx/>
              <a:buSzTx/>
              <a:buFontTx/>
            </a:pPr>
            <a:r>
              <a:rPr lang="zh-CN" altLang="en-US" sz="2400" b="1" kern="100" dirty="0"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基于奈奎斯特区调制</a:t>
            </a:r>
            <a:endParaRPr lang="zh-CN" altLang="en-US" sz="2400" b="1" kern="100" dirty="0"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9"/>
            </p:custDataLst>
          </p:nvPr>
        </p:nvSpPr>
        <p:spPr>
          <a:xfrm>
            <a:off x="8178294" y="760282"/>
            <a:ext cx="3366006" cy="679263"/>
          </a:xfrm>
          <a:prstGeom prst="roundRect">
            <a:avLst>
              <a:gd name="adj" fmla="val 50000"/>
            </a:avLst>
          </a:prstGeom>
          <a:solidFill>
            <a:srgbClr val="0043A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kern="100" spc="30" dirty="0"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503050405090304" pitchFamily="18" charset="0"/>
                <a:sym typeface="+mn-ea"/>
              </a:rPr>
              <a:t>基于深度学习</a:t>
            </a:r>
            <a:endParaRPr lang="zh-CN" altLang="en-US" sz="2400" b="1" kern="100" spc="30" dirty="0"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1278291" y="3247801"/>
            <a:ext cx="2060614" cy="448945"/>
          </a:xfrm>
          <a:prstGeom prst="rect">
            <a:avLst/>
          </a:prstGeom>
          <a:solidFill>
            <a:srgbClr val="E1EAF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0043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USRP实验平台搭建</a:t>
            </a:r>
            <a:endParaRPr lang="zh-CN" altLang="en-US" sz="1400" b="1" dirty="0">
              <a:solidFill>
                <a:srgbClr val="0043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下箭头 100"/>
          <p:cNvSpPr/>
          <p:nvPr/>
        </p:nvSpPr>
        <p:spPr>
          <a:xfrm>
            <a:off x="2132965" y="2197735"/>
            <a:ext cx="170180" cy="3397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下箭头 101"/>
          <p:cNvSpPr/>
          <p:nvPr/>
        </p:nvSpPr>
        <p:spPr>
          <a:xfrm>
            <a:off x="2132965" y="2947035"/>
            <a:ext cx="170180" cy="3397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" name="图片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9435" y="1984375"/>
            <a:ext cx="3484245" cy="1963420"/>
          </a:xfrm>
          <a:prstGeom prst="rect">
            <a:avLst/>
          </a:prstGeom>
        </p:spPr>
      </p:pic>
      <p:sp>
        <p:nvSpPr>
          <p:cNvPr id="104" name="矩形 103"/>
          <p:cNvSpPr/>
          <p:nvPr/>
        </p:nvSpPr>
        <p:spPr>
          <a:xfrm>
            <a:off x="5062220" y="1555750"/>
            <a:ext cx="2060575" cy="356235"/>
          </a:xfrm>
          <a:prstGeom prst="rect">
            <a:avLst/>
          </a:prstGeom>
          <a:solidFill>
            <a:srgbClr val="E1EAF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0043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奈奎斯特区折叠信号</a:t>
            </a:r>
            <a:endParaRPr lang="zh-CN" altLang="en-US" sz="1400" b="1" dirty="0">
              <a:solidFill>
                <a:srgbClr val="0043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5" name="图片 2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910" y="4660583"/>
            <a:ext cx="2232660" cy="1906905"/>
          </a:xfrm>
          <a:prstGeom prst="rect">
            <a:avLst/>
          </a:prstGeom>
        </p:spPr>
      </p:pic>
      <p:sp>
        <p:nvSpPr>
          <p:cNvPr id="106" name="矩形 105"/>
          <p:cNvSpPr/>
          <p:nvPr/>
        </p:nvSpPr>
        <p:spPr>
          <a:xfrm>
            <a:off x="4718050" y="4211955"/>
            <a:ext cx="2719070" cy="448945"/>
          </a:xfrm>
          <a:prstGeom prst="rect">
            <a:avLst/>
          </a:prstGeom>
          <a:solidFill>
            <a:srgbClr val="E1EAF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0043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</a:t>
            </a:r>
            <a:r>
              <a:rPr lang="en-US" altLang="zh-CN" sz="1400" b="1" dirty="0">
                <a:solidFill>
                  <a:srgbClr val="0043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ADC</a:t>
            </a:r>
            <a:r>
              <a:rPr lang="zh-CN" altLang="en-US" sz="1400" b="1" dirty="0">
                <a:solidFill>
                  <a:srgbClr val="0043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采样率下的频谱折叠</a:t>
            </a:r>
            <a:endParaRPr lang="zh-CN" altLang="en-US" sz="1400" b="1" dirty="0">
              <a:solidFill>
                <a:srgbClr val="0043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下箭头 106"/>
          <p:cNvSpPr/>
          <p:nvPr/>
        </p:nvSpPr>
        <p:spPr>
          <a:xfrm>
            <a:off x="5992495" y="3872230"/>
            <a:ext cx="170180" cy="3397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8" name="图片 28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940" y="1951355"/>
            <a:ext cx="2994660" cy="2197100"/>
          </a:xfrm>
          <a:prstGeom prst="rect">
            <a:avLst/>
          </a:prstGeom>
        </p:spPr>
      </p:pic>
      <p:sp>
        <p:nvSpPr>
          <p:cNvPr id="109" name="矩形 108"/>
          <p:cNvSpPr/>
          <p:nvPr/>
        </p:nvSpPr>
        <p:spPr>
          <a:xfrm>
            <a:off x="8532495" y="1555115"/>
            <a:ext cx="2599055" cy="366395"/>
          </a:xfrm>
          <a:prstGeom prst="rect">
            <a:avLst/>
          </a:prstGeom>
          <a:solidFill>
            <a:srgbClr val="E1EAF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043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基于深度学习的压缩感知重构算法</a:t>
            </a:r>
            <a:endParaRPr lang="zh-CN" altLang="en-US" sz="1200" b="1" dirty="0">
              <a:solidFill>
                <a:srgbClr val="0043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0" name="图片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9940" y="4660900"/>
            <a:ext cx="2796540" cy="1979295"/>
          </a:xfrm>
          <a:prstGeom prst="rect">
            <a:avLst/>
          </a:prstGeom>
        </p:spPr>
      </p:pic>
      <p:sp>
        <p:nvSpPr>
          <p:cNvPr id="112" name="矩形 111"/>
          <p:cNvSpPr/>
          <p:nvPr/>
        </p:nvSpPr>
        <p:spPr>
          <a:xfrm>
            <a:off x="8532495" y="4310380"/>
            <a:ext cx="2598420" cy="360045"/>
          </a:xfrm>
          <a:prstGeom prst="rect">
            <a:avLst/>
          </a:prstGeom>
          <a:solidFill>
            <a:srgbClr val="E1EAF9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0043A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在深度神经网络上展开的迭代算法进行信号重构</a:t>
            </a:r>
            <a:endParaRPr lang="zh-CN" altLang="en-US" sz="1200" b="1" dirty="0">
              <a:solidFill>
                <a:srgbClr val="0043A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下箭头 112"/>
          <p:cNvSpPr/>
          <p:nvPr/>
        </p:nvSpPr>
        <p:spPr>
          <a:xfrm>
            <a:off x="9724390" y="3999230"/>
            <a:ext cx="170180" cy="3397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矩形 141"/>
          <p:cNvSpPr/>
          <p:nvPr/>
        </p:nvSpPr>
        <p:spPr>
          <a:xfrm>
            <a:off x="431800" y="3738245"/>
            <a:ext cx="3542665" cy="2515870"/>
          </a:xfrm>
          <a:prstGeom prst="rect">
            <a:avLst/>
          </a:prstGeom>
          <a:noFill/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>
            <p:custDataLst>
              <p:tags r:id="rId14"/>
            </p:custDataLst>
          </p:nvPr>
        </p:nvCxnSpPr>
        <p:spPr>
          <a:xfrm>
            <a:off x="414024" y="245115"/>
            <a:ext cx="5080" cy="439420"/>
          </a:xfrm>
          <a:prstGeom prst="line">
            <a:avLst/>
          </a:prstGeom>
          <a:ln w="101600">
            <a:solidFill>
              <a:srgbClr val="0043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电视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52445" y="5603875"/>
            <a:ext cx="439420" cy="43942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729105" y="4968875"/>
            <a:ext cx="238125" cy="426085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LeftDown"/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1650" y="4582160"/>
            <a:ext cx="731520" cy="762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43860" y="4572635"/>
            <a:ext cx="652145" cy="679450"/>
          </a:xfrm>
          <a:prstGeom prst="rect">
            <a:avLst/>
          </a:prstGeom>
        </p:spPr>
      </p:pic>
      <p:cxnSp>
        <p:nvCxnSpPr>
          <p:cNvPr id="16" name="直接箭头连接符 15"/>
          <p:cNvCxnSpPr>
            <a:stCxn id="13" idx="3"/>
            <a:endCxn id="11" idx="1"/>
          </p:cNvCxnSpPr>
          <p:nvPr/>
        </p:nvCxnSpPr>
        <p:spPr>
          <a:xfrm>
            <a:off x="1233170" y="4963160"/>
            <a:ext cx="495935" cy="219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3" idx="3"/>
          </p:cNvCxnSpPr>
          <p:nvPr/>
        </p:nvCxnSpPr>
        <p:spPr>
          <a:xfrm>
            <a:off x="1233170" y="4963160"/>
            <a:ext cx="883285" cy="9658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3" idx="3"/>
            <a:endCxn id="21" idx="1"/>
          </p:cNvCxnSpPr>
          <p:nvPr/>
        </p:nvCxnSpPr>
        <p:spPr>
          <a:xfrm flipV="1">
            <a:off x="1233170" y="4635500"/>
            <a:ext cx="734060" cy="3276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1246505" y="4968875"/>
            <a:ext cx="869950" cy="12147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67230" y="4310380"/>
            <a:ext cx="624205" cy="650240"/>
          </a:xfrm>
          <a:prstGeom prst="rect">
            <a:avLst/>
          </a:prstGeom>
        </p:spPr>
      </p:pic>
      <p:cxnSp>
        <p:nvCxnSpPr>
          <p:cNvPr id="24" name="直接箭头连接符 23"/>
          <p:cNvCxnSpPr>
            <a:endCxn id="14" idx="1"/>
          </p:cNvCxnSpPr>
          <p:nvPr/>
        </p:nvCxnSpPr>
        <p:spPr>
          <a:xfrm flipV="1">
            <a:off x="2181860" y="4912360"/>
            <a:ext cx="762000" cy="10820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4" idx="2"/>
            <a:endCxn id="10" idx="0"/>
          </p:cNvCxnSpPr>
          <p:nvPr/>
        </p:nvCxnSpPr>
        <p:spPr>
          <a:xfrm>
            <a:off x="3270250" y="5252085"/>
            <a:ext cx="1905" cy="3517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2814320" y="4310380"/>
            <a:ext cx="238125" cy="426085"/>
          </a:xfrm>
          <a:prstGeom prst="rect">
            <a:avLst/>
          </a:prstGeom>
          <a:solidFill>
            <a:schemeClr val="accent3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LeftDown"/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" name="直接连接符 27"/>
          <p:cNvCxnSpPr>
            <a:stCxn id="13" idx="3"/>
          </p:cNvCxnSpPr>
          <p:nvPr/>
        </p:nvCxnSpPr>
        <p:spPr>
          <a:xfrm flipV="1">
            <a:off x="1233170" y="3983990"/>
            <a:ext cx="858520" cy="979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endCxn id="26" idx="1"/>
          </p:cNvCxnSpPr>
          <p:nvPr/>
        </p:nvCxnSpPr>
        <p:spPr>
          <a:xfrm>
            <a:off x="2091690" y="3992245"/>
            <a:ext cx="722630" cy="5314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.15"/>
  <p:tag name="KSO_WM_UNIT_TEXT_FILL_FORE_SCHEMECOLOR_INDEX" val="13"/>
  <p:tag name="KSO_WM_UNIT_TEXT_FILL_TYPE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a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简约上下导航版"/>
  <p:tag name="KSO_WM_UNIT_NOCLEAR" val="0"/>
  <p:tag name="KSO_WM_UNIT_VALUE" val="27"/>
  <p:tag name="KSO_WM_UNIT_TYPE" val="a"/>
  <p:tag name="KSO_WM_UNIT_INDEX" val="1"/>
  <p:tag name="KSO_WM_UNIT_BLOCK" val="0"/>
  <p:tag name="KSO_WM_UNIT_SM_LIMIT_TYPE" val="2"/>
  <p:tag name="KSO_WM_UNIT_DEC_AREA_ID" val="e98b3a31ebe84ee79486e9f4651df90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TEXT_FILL_FORE_SCHEMECOLOR_INDEX_BRIGHTNESS" val="0.15"/>
  <p:tag name="KSO_WM_UNIT_TEXT_FILL_FORE_SCHEMECOLOR_INDEX" val="13"/>
  <p:tag name="KSO_WM_UNIT_TEXT_FILL_TYPE" val="1"/>
</p:tagLst>
</file>

<file path=ppt/tags/tag6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69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0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1.xml><?xml version="1.0" encoding="utf-8"?>
<p:tagLst xmlns:p="http://schemas.openxmlformats.org/presentationml/2006/main">
  <p:tag name="KSO_WM_BEAUTIFY_FLAG" val=""/>
  <p:tag name="KSO_WM_UNIT_FILL_FORE_SCHEMECOLOR_INDEX_BRIGHTNESS" val="0.8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p="http://schemas.openxmlformats.org/presentationml/2006/main">
  <p:tag name="KSO_WM_BEAUTIFY_FLAG" val=""/>
  <p:tag name="KSO_WM_UNIT_FILL_FORE_SCHEMECOLOR_INDEX_BRIGHTNESS" val="0.8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p="http://schemas.openxmlformats.org/presentationml/2006/main">
  <p:tag name="KSO_WM_BEAUTIFY_FLAG" val=""/>
  <p:tag name="KSO_WM_UNIT_FILL_FORE_SCHEMECOLOR_INDEX_BRIGHTNESS" val="0.8"/>
  <p:tag name="KSO_WM_UNIT_FILL_FORE_SCHEMECOLOR_INDEX" val="5"/>
  <p:tag name="KSO_WM_UNIT_FILL_TYPE" val="1"/>
  <p:tag name="KSO_WM_UNIT_LINE_FORE_SCHEMECOLOR_INDEX_BRIGHTNESS" val="-0.25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20059_1*i*1"/>
  <p:tag name="KSO_WM_TEMPLATE_CATEGORY" val="diagram"/>
  <p:tag name="KSO_WM_TEMPLATE_INDEX" val="20220059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4"/>
  <p:tag name="KSO_WM_UNIT_DEC_AREA_ID" val="676342c3ba794cb88f6857f432bf3175"/>
  <p:tag name="KSO_WM_UNIT_DECORATE_INFO" val="{&quot;ReferentInfo&quot;:{&quot;Id&quot;:&quot;e98b3a31ebe84ee79486e9f4651df90b&quot;,&quot;X&quot;:{&quot;Pos&quot;:0},&quot;Y&quot;:{&quot;Pos&quot;:1}},&quot;DecorateInfoX&quot;:{&quot;Pos&quot;:2,&quot;IsAbs&quot;:true},&quot;DecorateInfoY&quot;:{&quot;Pos&quot;:1,&quot;IsAbs&quot;:true},&quot;DecorateInfoW&quot;:{&quot;IsAbs&quot;:true},&quot;DecorateInfoH&quot;:{&quot;IsAbs&quot;:false},&quot;whChangeMode&quot;:0}"/>
  <p:tag name="KSO_WM_UNIT_LINE_FORE_SCHEMECOLOR_INDEX_BRIGHTNESS" val="0"/>
  <p:tag name="KSO_WM_UNIT_LINE_FORE_SCHEMECOLOR_INDEX" val="5"/>
  <p:tag name="KSO_WM_UNIT_LINE_FILL_TYPE" val="2"/>
</p:tagLst>
</file>

<file path=ppt/tags/tag75.xml><?xml version="1.0" encoding="utf-8"?>
<p:tagLst xmlns:p="http://schemas.openxmlformats.org/presentationml/2006/main">
  <p:tag name="KSO_WM_BEAUTIFY_FLAG" val="#wm#"/>
  <p:tag name="KSO_WM_TEMPLATE_CATEGORY" val="diagram"/>
  <p:tag name="KSO_WM_TEMPLATE_INDEX" val="20220059"/>
  <p:tag name="RESOURCE_RECORD_KEY" val="{&quot;10&quot;:[3637366],&quot;65&quot;:[20220059]}"/>
</p:tagLst>
</file>

<file path=ppt/tags/tag76.xml><?xml version="1.0" encoding="utf-8"?>
<p:tagLst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  <p:tag name="COMMONDATA" val="eyJoZGlkIjoiMjAwMmM4MjgyZWNkMzMwNWVhMGM0NjU1YWJkMDk2MzIifQ=="/>
  <p:tag name="RESOURCE_RECORD_KEY" val="{&quot;65&quot;:[20220059],&quot;70&quot;:[3320069,3320073,3314651]}"/>
  <p:tag name="commondata" val="eyJoZGlkIjoiYTY4ZTQyMzY5YmJjOWIwOTQ1OWUyYTU1NTk0NTM4MjkifQ==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WPS 演示</Application>
  <PresentationFormat>宽屏</PresentationFormat>
  <Paragraphs>92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汉仪旗黑</vt:lpstr>
      <vt:lpstr>Times New Roman</vt:lpstr>
      <vt:lpstr>Arial</vt:lpstr>
      <vt:lpstr>楷体</vt:lpstr>
      <vt:lpstr>等线</vt:lpstr>
      <vt:lpstr>汉仪书宋二KW</vt:lpstr>
      <vt:lpstr>汉仪楷体KW</vt:lpstr>
      <vt:lpstr>宋体</vt:lpstr>
      <vt:lpstr>Arial Unicode MS</vt:lpstr>
      <vt:lpstr>汉仪中等线KW</vt:lpstr>
      <vt:lpstr>等线</vt:lpstr>
      <vt:lpstr>Office 主题​​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吴伯涛</cp:lastModifiedBy>
  <cp:revision>1246</cp:revision>
  <dcterms:created xsi:type="dcterms:W3CDTF">2025-05-20T04:47:03Z</dcterms:created>
  <dcterms:modified xsi:type="dcterms:W3CDTF">2025-05-20T04:47:03Z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2019-04-13T04:31:50.2944312Z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7b149082-93e1-4519-a220-b561cf239821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ICV">
    <vt:lpwstr>C0C22EBFB433481D99EB2F9633AB6FC8_13</vt:lpwstr>
  </property>
  <property fmtid="{D5CDD505-2E9C-101B-9397-08002B2CF9AE}" pid="12" name="KSOProductBuildVer">
    <vt:lpwstr>2052-6.12.1.8902</vt:lpwstr>
  </property>
</Properties>
</file>
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7"/>
  </p:handoutMasterIdLst>
  <p:sldIdLst>
    <p:sldId id="11473" r:id="rId4"/>
    <p:sldId id="11476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内容页" id="{EB11151C-0E14-47B0-8218-1431BF894351}">
          <p14:sldIdLst>
            <p14:sldId id="11473"/>
            <p14:sldId id="11476"/>
          </p14:sldIdLst>
        </p14:section>
      </p14:sectionLst>
    </p:ext>
    <p:ext uri="{EFAFB233-063F-42B5-8137-9DF3F51BA10A}">
      <p15:sldGuideLst xmlns:p15="http://schemas.microsoft.com/office/powerpoint/2012/main">
        <p15:guide id="4" pos="3794" userDrawn="1">
          <p15:clr>
            <a:srgbClr val="A4A3A4"/>
          </p15:clr>
        </p15:guide>
        <p15:guide id="5" orient="horz" pos="1036" userDrawn="1">
          <p15:clr>
            <a:srgbClr val="A4A3A4"/>
          </p15:clr>
        </p15:guide>
        <p15:guide id="6" orient="horz" pos="1572" userDrawn="1">
          <p15:clr>
            <a:srgbClr val="A4A3A4"/>
          </p15:clr>
        </p15:guide>
        <p15:guide id="7" orient="horz" pos="3387" userDrawn="1">
          <p15:clr>
            <a:srgbClr val="A4A3A4"/>
          </p15:clr>
        </p15:guide>
        <p15:guide id="8" pos="2172" userDrawn="1">
          <p15:clr>
            <a:srgbClr val="A4A3A4"/>
          </p15:clr>
        </p15:guide>
        <p15:guide id="9" pos="4002" userDrawn="1">
          <p15:clr>
            <a:srgbClr val="A4A3A4"/>
          </p15:clr>
        </p15:guide>
        <p15:guide id="10" pos="6116" userDrawn="1">
          <p15:clr>
            <a:srgbClr val="A4A3A4"/>
          </p15:clr>
        </p15:guide>
        <p15:guide id="11" pos="5312" userDrawn="1">
          <p15:clr>
            <a:srgbClr val="A4A3A4"/>
          </p15:clr>
        </p15:guide>
        <p15:guide id="12" pos="23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任 安然" initials="任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A8"/>
    <a:srgbClr val="006FBF"/>
    <a:srgbClr val="C8161E"/>
    <a:srgbClr val="3974D7"/>
    <a:srgbClr val="D94E5D"/>
    <a:srgbClr val="FFFFFF"/>
    <a:srgbClr val="E8E8EF"/>
    <a:srgbClr val="9CB9EB"/>
    <a:srgbClr val="E1EAF9"/>
    <a:srgbClr val="E2E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7417" autoAdjust="0"/>
  </p:normalViewPr>
  <p:slideViewPr>
    <p:cSldViewPr snapToGrid="0" showGuides="1">
      <p:cViewPr varScale="1">
        <p:scale>
          <a:sx n="89" d="100"/>
          <a:sy n="89" d="100"/>
        </p:scale>
        <p:origin x="184" y="60"/>
      </p:cViewPr>
      <p:guideLst>
        <p:guide pos="3794"/>
        <p:guide orient="horz" pos="1036"/>
        <p:guide orient="horz" pos="1572"/>
        <p:guide orient="horz" pos="3387"/>
        <p:guide pos="2172"/>
        <p:guide pos="4002"/>
        <p:guide pos="6116"/>
        <p:guide pos="5312"/>
        <p:guide pos="2368"/>
      </p:guideLst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170"/>
    </p:cViewPr>
  </p:sorterViewPr>
  <p:notesViewPr>
    <p:cSldViewPr snapToGrid="0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74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DCEDA9-FE4E-45E7-BD88-ED2AE9648C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2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6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82880" y="1053874"/>
            <a:ext cx="5751871" cy="5523907"/>
          </a:xfrm>
          <a:prstGeom prst="rect">
            <a:avLst/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27396" y="1920662"/>
            <a:ext cx="2864283" cy="1733667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2"/>
            </p:custDataLst>
          </p:nvPr>
        </p:nvSpPr>
        <p:spPr>
          <a:xfrm>
            <a:off x="647700" y="83820"/>
            <a:ext cx="8460740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/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dirty="0">
                <a:solidFill>
                  <a:srgbClr val="0043A8"/>
                </a:solidFill>
              </a:rPr>
              <a:t>技术路线二：轻量化空口</a:t>
            </a:r>
            <a:r>
              <a:rPr lang="en-US" altLang="zh-CN" sz="3000" dirty="0">
                <a:solidFill>
                  <a:srgbClr val="0043A8"/>
                </a:solidFill>
              </a:rPr>
              <a:t>AI</a:t>
            </a:r>
            <a:r>
              <a:rPr lang="zh-CN" altLang="en-US" sz="3000" dirty="0">
                <a:solidFill>
                  <a:srgbClr val="0043A8"/>
                </a:solidFill>
              </a:rPr>
              <a:t>软硬件协同处理方法</a:t>
            </a:r>
            <a:endParaRPr lang="zh-CN" altLang="en-US" sz="3000" dirty="0">
              <a:solidFill>
                <a:srgbClr val="0043A8"/>
              </a:solidFill>
            </a:endParaRPr>
          </a:p>
        </p:txBody>
      </p:sp>
      <p:sp>
        <p:nvSpPr>
          <p:cNvPr id="71" name="圆角矩形 70"/>
          <p:cNvSpPr/>
          <p:nvPr>
            <p:custDataLst>
              <p:tags r:id="rId3"/>
            </p:custDataLst>
          </p:nvPr>
        </p:nvSpPr>
        <p:spPr>
          <a:xfrm>
            <a:off x="241873" y="834941"/>
            <a:ext cx="5633884" cy="465258"/>
          </a:xfrm>
          <a:prstGeom prst="roundRect">
            <a:avLst>
              <a:gd name="adj" fmla="val 50000"/>
            </a:avLst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338455" indent="-234950" algn="ctr" eaLnBrk="0">
              <a:spcBef>
                <a:spcPts val="900"/>
              </a:spcBef>
            </a:pPr>
            <a:r>
              <a:rPr lang="zh-CN" altLang="zh-CN" dirty="0"/>
              <a:t>空口AI模型的高效压缩与快速推理算法设计</a:t>
            </a:r>
            <a:endParaRPr lang="zh-CN" altLang="zh-CN" dirty="0"/>
          </a:p>
        </p:txBody>
      </p:sp>
      <p:sp>
        <p:nvSpPr>
          <p:cNvPr id="11" name="矩形 10"/>
          <p:cNvSpPr/>
          <p:nvPr/>
        </p:nvSpPr>
        <p:spPr>
          <a:xfrm>
            <a:off x="230935" y="1548504"/>
            <a:ext cx="2861852" cy="3721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模型稀疏化剪枝</a:t>
            </a:r>
            <a:endParaRPr lang="zh-CN" altLang="zh-CN" sz="1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3186873" y="1919852"/>
            <a:ext cx="2717273" cy="1734477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3180169" y="1537015"/>
            <a:ext cx="2723977" cy="382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低比特精度量化</a:t>
            </a:r>
            <a:endParaRPr lang="zh-CN" altLang="en-US" sz="1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193300" y="4350511"/>
            <a:ext cx="2699536" cy="200854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3192181" y="3919858"/>
            <a:ext cx="2711965" cy="4306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教师学生模型蒸馏</a:t>
            </a:r>
            <a:endParaRPr lang="zh-CN" altLang="zh-CN" sz="1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46075" y="4361842"/>
            <a:ext cx="2809395" cy="199721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241289" y="3931191"/>
            <a:ext cx="2832561" cy="4306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</a:t>
            </a:r>
            <a:r>
              <a:rPr lang="zh-CN" altLang="zh-CN" sz="16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秩分解</a:t>
            </a:r>
            <a:endParaRPr lang="zh-CN" altLang="zh-CN" sz="16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30880" y="3175000"/>
            <a:ext cx="2582545" cy="3295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将浮点数权重压缩为低精度</a:t>
            </a:r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数据类型</a:t>
            </a:r>
            <a:endParaRPr lang="zh-CN" altLang="en-US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降低</a:t>
            </a:r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能耗</a:t>
            </a:r>
            <a:endParaRPr lang="zh-CN" altLang="en-US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6295354" y="1053874"/>
            <a:ext cx="5751871" cy="5523907"/>
          </a:xfrm>
          <a:prstGeom prst="rect">
            <a:avLst/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圆角矩形 93"/>
          <p:cNvSpPr/>
          <p:nvPr>
            <p:custDataLst>
              <p:tags r:id="rId4"/>
            </p:custDataLst>
          </p:nvPr>
        </p:nvSpPr>
        <p:spPr>
          <a:xfrm>
            <a:off x="6502857" y="824435"/>
            <a:ext cx="5350592" cy="465258"/>
          </a:xfrm>
          <a:prstGeom prst="roundRect">
            <a:avLst>
              <a:gd name="adj" fmla="val 50000"/>
            </a:avLst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1"/>
            <a:r>
              <a:rPr lang="zh-CN" altLang="zh-CN" dirty="0"/>
              <a:t>软硬协同优化下的空口AI系统部署框架</a:t>
            </a:r>
            <a:endParaRPr lang="zh-CN" altLang="zh-CN" dirty="0"/>
          </a:p>
        </p:txBody>
      </p:sp>
      <p:sp>
        <p:nvSpPr>
          <p:cNvPr id="152" name="右箭头 151"/>
          <p:cNvSpPr/>
          <p:nvPr/>
        </p:nvSpPr>
        <p:spPr>
          <a:xfrm>
            <a:off x="5881340" y="3533245"/>
            <a:ext cx="471329" cy="506565"/>
          </a:xfrm>
          <a:prstGeom prst="rightArrow">
            <a:avLst/>
          </a:prstGeom>
          <a:solidFill>
            <a:srgbClr val="0043A8"/>
          </a:solidFill>
          <a:ln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/>
          <p:cNvSpPr txBox="1"/>
          <p:nvPr/>
        </p:nvSpPr>
        <p:spPr>
          <a:xfrm>
            <a:off x="6023241" y="7855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92" name="矩形 91"/>
          <p:cNvSpPr/>
          <p:nvPr/>
        </p:nvSpPr>
        <p:spPr>
          <a:xfrm>
            <a:off x="3284220" y="5788025"/>
            <a:ext cx="2582545" cy="3886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学生模型模仿教师模型的输出</a:t>
            </a:r>
            <a:endParaRPr lang="zh-CN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降低计算复杂度</a:t>
            </a:r>
            <a:endParaRPr lang="zh-CN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V="1">
            <a:off x="5295517" y="5576139"/>
            <a:ext cx="0" cy="181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环形箭头 62"/>
          <p:cNvSpPr/>
          <p:nvPr/>
        </p:nvSpPr>
        <p:spPr>
          <a:xfrm rot="1628329">
            <a:off x="2900112" y="3549810"/>
            <a:ext cx="479381" cy="484536"/>
          </a:xfrm>
          <a:prstGeom prst="circularArrow">
            <a:avLst>
              <a:gd name="adj1" fmla="val 11874"/>
              <a:gd name="adj2" fmla="val 1636547"/>
              <a:gd name="adj3" fmla="val 4313311"/>
              <a:gd name="adj4" fmla="val 12296862"/>
              <a:gd name="adj5" fmla="val 12500"/>
            </a:avLst>
          </a:prstGeom>
          <a:solidFill>
            <a:srgbClr val="0043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5" name="图片 11" descr="模型非结构化剪枝.drawi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605" y="2033270"/>
            <a:ext cx="2786380" cy="10363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543560" y="3176270"/>
            <a:ext cx="2229485" cy="3295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去除神经网络中冗余的权重或神经元</a:t>
            </a:r>
            <a:endParaRPr lang="zh-CN" altLang="en-US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降低模型</a:t>
            </a:r>
            <a:r>
              <a:rPr lang="zh-CN" altLang="en-US" sz="1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规模</a:t>
            </a:r>
            <a:endParaRPr lang="zh-CN" altLang="en-US" sz="10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090" y="4413250"/>
            <a:ext cx="2068195" cy="13087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585" y="1976755"/>
            <a:ext cx="2583180" cy="10394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560" y="4413250"/>
            <a:ext cx="2228850" cy="19272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140" y="1562735"/>
            <a:ext cx="5230495" cy="25546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81140" y="4416743"/>
            <a:ext cx="5080000" cy="16452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100" b="1">
                <a:solidFill>
                  <a:srgbClr val="BF002A"/>
                </a:solidFill>
                <a:latin typeface="MicrosoftYaHei-Bold"/>
                <a:ea typeface="MicrosoftYaHei-Bold"/>
              </a:rPr>
              <a:t>覆盖所有算力场景 </a:t>
            </a:r>
            <a:endParaRPr lang="zh-CN" altLang="en-US" sz="2100" b="1">
              <a:solidFill>
                <a:srgbClr val="BF002A"/>
              </a:solidFill>
              <a:latin typeface="MicrosoftYaHei-Bold"/>
              <a:ea typeface="MicrosoftYaHei-Bold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智能耳机、智能手表，智能眼镜等各种可穿戴设备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手机，平板、电脑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智能家居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自动驾驶，座舱，机器人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云端推理服务器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882468" y="43657"/>
            <a:ext cx="10554674" cy="598488"/>
          </a:xfrm>
        </p:spPr>
        <p:txBody>
          <a:bodyPr/>
          <a:lstStyle/>
          <a:p>
            <a:r>
              <a:rPr lang="zh-CN" altLang="en-US" dirty="0"/>
              <a:t>任务</a:t>
            </a:r>
            <a:r>
              <a:rPr lang="en-US" altLang="zh-CN" dirty="0"/>
              <a:t>1:</a:t>
            </a:r>
            <a:r>
              <a:rPr lang="zh-CN" altLang="en-US" dirty="0"/>
              <a:t>面向高速率卫星通信的多元非线性信号处理</a:t>
            </a:r>
            <a:endParaRPr lang="zh-CN" altLang="en-US" dirty="0"/>
          </a:p>
        </p:txBody>
      </p:sp>
      <p:sp>
        <p:nvSpPr>
          <p:cNvPr id="37" name="文本框 6"/>
          <p:cNvSpPr txBox="1"/>
          <p:nvPr>
            <p:custDataLst>
              <p:tags r:id="rId1"/>
            </p:custDataLst>
          </p:nvPr>
        </p:nvSpPr>
        <p:spPr>
          <a:xfrm>
            <a:off x="647700" y="83820"/>
            <a:ext cx="10733809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000" dirty="0">
                <a:solidFill>
                  <a:srgbClr val="0043A8"/>
                </a:solidFill>
              </a:rPr>
              <a:t> </a:t>
            </a:r>
            <a:r>
              <a:rPr lang="zh-CN" altLang="en-US" sz="3000" dirty="0">
                <a:solidFill>
                  <a:srgbClr val="0043A8"/>
                </a:solidFill>
              </a:rPr>
              <a:t>技术路线三：端侧高能效比</a:t>
            </a:r>
            <a:r>
              <a:rPr lang="en-US" altLang="zh-CN" sz="3000" dirty="0">
                <a:solidFill>
                  <a:srgbClr val="0043A8"/>
                </a:solidFill>
              </a:rPr>
              <a:t>NPU</a:t>
            </a:r>
            <a:r>
              <a:rPr lang="zh-CN" altLang="en-US" sz="3000" dirty="0">
                <a:solidFill>
                  <a:srgbClr val="0043A8"/>
                </a:solidFill>
              </a:rPr>
              <a:t>全链路技术</a:t>
            </a:r>
            <a:endParaRPr lang="zh-CN" altLang="en-US" sz="3000" dirty="0">
              <a:solidFill>
                <a:srgbClr val="0043A8"/>
              </a:solidFill>
            </a:endParaRPr>
          </a:p>
        </p:txBody>
      </p:sp>
      <p:cxnSp>
        <p:nvCxnSpPr>
          <p:cNvPr id="39" name="直接连接符 38"/>
          <p:cNvCxnSpPr/>
          <p:nvPr>
            <p:custDataLst>
              <p:tags r:id="rId2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177162" y="6568527"/>
            <a:ext cx="1037230" cy="342900"/>
          </a:xfrm>
        </p:spPr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22" name="组合 121"/>
          <p:cNvGrpSpPr/>
          <p:nvPr/>
        </p:nvGrpSpPr>
        <p:grpSpPr>
          <a:xfrm>
            <a:off x="3994552" y="990770"/>
            <a:ext cx="3600000" cy="5631829"/>
            <a:chOff x="4186996" y="986496"/>
            <a:chExt cx="3600000" cy="5631829"/>
          </a:xfrm>
        </p:grpSpPr>
        <p:sp>
          <p:nvSpPr>
            <p:cNvPr id="19" name="圆角矩形 34"/>
            <p:cNvSpPr/>
            <p:nvPr>
              <p:custDataLst>
                <p:tags r:id="rId3"/>
              </p:custDataLst>
            </p:nvPr>
          </p:nvSpPr>
          <p:spPr>
            <a:xfrm>
              <a:off x="4330996" y="997284"/>
              <a:ext cx="3312000" cy="538268"/>
            </a:xfrm>
            <a:prstGeom prst="roundRect">
              <a:avLst/>
            </a:prstGeom>
            <a:solidFill>
              <a:srgbClr val="0043A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>
              <a:noAutofit/>
            </a:bodyPr>
            <a:lstStyle/>
            <a:p>
              <a:pPr marL="338455" indent="-234950" algn="ctr" eaLnBrk="0">
                <a:lnSpc>
                  <a:spcPct val="110000"/>
                </a:lnSpc>
                <a:spcBef>
                  <a:spcPts val="900"/>
                </a:spcBef>
              </a:pPr>
              <a:r>
                <a: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  <a:sym typeface="+mn-ea"/>
                </a:rPr>
                <a:t>存储调度与数据</a:t>
              </a:r>
              <a:r>
                <a:rPr lang="en-US" altLang="zh-CN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  <a:sym typeface="+mn-ea"/>
                </a:rPr>
                <a:t>IO</a:t>
              </a:r>
              <a:r>
                <a: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  <a:sym typeface="+mn-ea"/>
                </a:rPr>
                <a:t>复用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endParaRP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4186996" y="986496"/>
              <a:ext cx="3600000" cy="5631829"/>
            </a:xfrm>
            <a:prstGeom prst="roundRect">
              <a:avLst>
                <a:gd name="adj" fmla="val 4625"/>
              </a:avLst>
            </a:prstGeom>
            <a:noFill/>
            <a:ln>
              <a:solidFill>
                <a:srgbClr val="0043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noFill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334441" y="5915366"/>
              <a:ext cx="1337945" cy="368300"/>
            </a:xfrm>
            <a:prstGeom prst="rect">
              <a:avLst/>
            </a:prstGeom>
            <a:solidFill>
              <a:srgbClr val="E1EAF9"/>
            </a:solidFill>
          </p:spPr>
          <p:txBody>
            <a:bodyPr wrap="square" rtlCol="0">
              <a:spAutoFit/>
            </a:bodyPr>
            <a:lstStyle/>
            <a:p>
              <a:pPr algn="ctr" defTabSz="457200"/>
              <a:r>
                <a:rPr lang="zh-CN" altLang="en-US" kern="0" spc="-10" dirty="0">
                  <a:solidFill>
                    <a:srgbClr val="000000">
                      <a:alpha val="100000"/>
                    </a:srgbClr>
                  </a:solidFill>
                  <a:latin typeface="+mj-ea"/>
                  <a:ea typeface="+mj-ea"/>
                  <a:cs typeface="+mj-ea"/>
                </a:rPr>
                <a:t>数据</a:t>
              </a:r>
              <a:r>
                <a:rPr lang="en-US" altLang="zh-CN" kern="0" spc="-10" dirty="0">
                  <a:solidFill>
                    <a:srgbClr val="000000">
                      <a:alpha val="100000"/>
                    </a:srgbClr>
                  </a:solidFill>
                  <a:latin typeface="+mj-ea"/>
                  <a:ea typeface="+mj-ea"/>
                  <a:cs typeface="+mj-ea"/>
                </a:rPr>
                <a:t>IO</a:t>
              </a:r>
              <a:r>
                <a:rPr lang="zh-CN" altLang="en-US" kern="0" spc="-10" dirty="0">
                  <a:solidFill>
                    <a:srgbClr val="000000">
                      <a:alpha val="100000"/>
                    </a:srgbClr>
                  </a:solidFill>
                  <a:latin typeface="+mj-ea"/>
                  <a:ea typeface="+mj-ea"/>
                  <a:cs typeface="+mj-ea"/>
                </a:rPr>
                <a:t>复用</a:t>
              </a:r>
              <a:endParaRPr lang="zh-CN" altLang="en-US" kern="0" spc="-10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+mj-ea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4973765" y="4461930"/>
              <a:ext cx="180601" cy="867379"/>
              <a:chOff x="5246305" y="2444559"/>
              <a:chExt cx="161471" cy="653872"/>
            </a:xfrm>
          </p:grpSpPr>
          <p:cxnSp>
            <p:nvCxnSpPr>
              <p:cNvPr id="77" name="直接箭头连接符 76"/>
              <p:cNvCxnSpPr/>
              <p:nvPr/>
            </p:nvCxnSpPr>
            <p:spPr>
              <a:xfrm>
                <a:off x="5246305" y="2444559"/>
                <a:ext cx="161471" cy="0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/>
              <p:nvPr/>
            </p:nvCxnSpPr>
            <p:spPr>
              <a:xfrm>
                <a:off x="5246305" y="2674005"/>
                <a:ext cx="161471" cy="0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/>
              <p:cNvCxnSpPr/>
              <p:nvPr/>
            </p:nvCxnSpPr>
            <p:spPr>
              <a:xfrm>
                <a:off x="5246305" y="2893938"/>
                <a:ext cx="161471" cy="0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/>
              <p:cNvCxnSpPr/>
              <p:nvPr/>
            </p:nvCxnSpPr>
            <p:spPr>
              <a:xfrm>
                <a:off x="5246305" y="3098431"/>
                <a:ext cx="161471" cy="0"/>
              </a:xfrm>
              <a:prstGeom prst="straightConnector1">
                <a:avLst/>
              </a:prstGeom>
              <a:ln>
                <a:noFill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组合 6"/>
          <p:cNvGrpSpPr/>
          <p:nvPr/>
        </p:nvGrpSpPr>
        <p:grpSpPr>
          <a:xfrm>
            <a:off x="7705090" y="3736340"/>
            <a:ext cx="3950335" cy="2886710"/>
            <a:chOff x="8851091" y="1981439"/>
            <a:chExt cx="2901273" cy="2886477"/>
          </a:xfrm>
        </p:grpSpPr>
        <p:sp>
          <p:nvSpPr>
            <p:cNvPr id="35" name="圆角矩形 34"/>
            <p:cNvSpPr/>
            <p:nvPr>
              <p:custDataLst>
                <p:tags r:id="rId4"/>
              </p:custDataLst>
            </p:nvPr>
          </p:nvSpPr>
          <p:spPr>
            <a:xfrm>
              <a:off x="9166477" y="1981440"/>
              <a:ext cx="2293020" cy="360000"/>
            </a:xfrm>
            <a:prstGeom prst="roundRect">
              <a:avLst/>
            </a:prstGeom>
            <a:solidFill>
              <a:srgbClr val="0043A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>
              <a:noAutofit/>
            </a:bodyPr>
            <a:lstStyle/>
            <a:p>
              <a:pPr marL="338455" indent="-234950" algn="ctr" eaLnBrk="0">
                <a:lnSpc>
                  <a:spcPct val="110000"/>
                </a:lnSpc>
                <a:spcBef>
                  <a:spcPts val="900"/>
                </a:spcBef>
              </a:pPr>
              <a:r>
                <a: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  <a:sym typeface="+mn-ea"/>
                </a:rPr>
                <a:t>能耗</a:t>
              </a:r>
              <a:r>
                <a: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  <a:sym typeface="+mn-ea"/>
                </a:rPr>
                <a:t>控制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endParaRPr>
            </a:p>
          </p:txBody>
        </p:sp>
        <p:sp>
          <p:nvSpPr>
            <p:cNvPr id="36" name="矩形: 圆角 35"/>
            <p:cNvSpPr/>
            <p:nvPr/>
          </p:nvSpPr>
          <p:spPr>
            <a:xfrm>
              <a:off x="8851091" y="1981439"/>
              <a:ext cx="2901273" cy="2886477"/>
            </a:xfrm>
            <a:prstGeom prst="roundRect">
              <a:avLst>
                <a:gd name="adj" fmla="val 5335"/>
              </a:avLst>
            </a:prstGeom>
            <a:noFill/>
            <a:ln>
              <a:solidFill>
                <a:srgbClr val="0043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726680" y="985520"/>
            <a:ext cx="3929380" cy="2687320"/>
            <a:chOff x="4596649" y="1787775"/>
            <a:chExt cx="2880000" cy="2687453"/>
          </a:xfrm>
        </p:grpSpPr>
        <p:sp>
          <p:nvSpPr>
            <p:cNvPr id="31" name="矩形: 圆角 30"/>
            <p:cNvSpPr/>
            <p:nvPr/>
          </p:nvSpPr>
          <p:spPr>
            <a:xfrm>
              <a:off x="4596649" y="1787775"/>
              <a:ext cx="2880000" cy="2687453"/>
            </a:xfrm>
            <a:prstGeom prst="roundRect">
              <a:avLst>
                <a:gd name="adj" fmla="val 7560"/>
              </a:avLst>
            </a:prstGeom>
            <a:noFill/>
            <a:ln>
              <a:solidFill>
                <a:srgbClr val="0043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</a:endParaRPr>
            </a:p>
          </p:txBody>
        </p:sp>
        <p:sp>
          <p:nvSpPr>
            <p:cNvPr id="6" name="圆角矩形 34"/>
            <p:cNvSpPr/>
            <p:nvPr>
              <p:custDataLst>
                <p:tags r:id="rId5"/>
              </p:custDataLst>
            </p:nvPr>
          </p:nvSpPr>
          <p:spPr>
            <a:xfrm>
              <a:off x="4695074" y="1787775"/>
              <a:ext cx="2653665" cy="360045"/>
            </a:xfrm>
            <a:prstGeom prst="roundRect">
              <a:avLst/>
            </a:prstGeom>
            <a:solidFill>
              <a:srgbClr val="0043A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>
              <a:noAutofit/>
            </a:bodyPr>
            <a:lstStyle/>
            <a:p>
              <a:pPr marL="338455" indent="-234950" algn="ctr" eaLnBrk="0">
                <a:lnSpc>
                  <a:spcPct val="110000"/>
                </a:lnSpc>
                <a:spcBef>
                  <a:spcPts val="900"/>
                </a:spcBef>
              </a:pPr>
              <a:r>
                <a: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503050405090304" pitchFamily="18" charset="0"/>
                </a:rPr>
                <a:t>多任务调度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11" name="圆角矩形 34"/>
          <p:cNvSpPr/>
          <p:nvPr>
            <p:custDataLst>
              <p:tags r:id="rId6"/>
            </p:custDataLst>
          </p:nvPr>
        </p:nvSpPr>
        <p:spPr>
          <a:xfrm>
            <a:off x="361691" y="998537"/>
            <a:ext cx="3312000" cy="538268"/>
          </a:xfrm>
          <a:prstGeom prst="roundRect">
            <a:avLst/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marL="338455" indent="-234950" algn="ctr" eaLnBrk="0">
              <a:lnSpc>
                <a:spcPct val="110000"/>
              </a:lnSpc>
              <a:spcBef>
                <a:spcPts val="900"/>
              </a:spcBef>
            </a:pPr>
            <a:r>
              <a: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强通用性与</a:t>
            </a:r>
            <a:r>
              <a: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高能效比</a:t>
            </a:r>
            <a:endParaRPr lang="zh-CN" altLang="en-US" kern="1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67154" y="3471703"/>
            <a:ext cx="2189463" cy="368300"/>
          </a:xfrm>
          <a:prstGeom prst="rect">
            <a:avLst/>
          </a:prstGeom>
          <a:solidFill>
            <a:srgbClr val="E1EAF9"/>
          </a:solidFill>
        </p:spPr>
        <p:txBody>
          <a:bodyPr wrap="square">
            <a:spAutoFit/>
          </a:bodyPr>
          <a:lstStyle/>
          <a:p>
            <a:pPr marL="467360" indent="-363855" algn="ctr" rtl="0" eaLnBrk="0" fontAlgn="auto">
              <a:lnSpc>
                <a:spcPct val="100000"/>
              </a:lnSpc>
              <a:spcBef>
                <a:spcPts val="0"/>
              </a:spcBef>
            </a:pPr>
            <a:r>
              <a:rPr lang="zh-CN" altLang="en-US" sz="1800" kern="0" spc="30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+mj-ea"/>
                <a:sym typeface="+mn-ea"/>
              </a:rPr>
              <a:t>强通用</a:t>
            </a:r>
            <a:r>
              <a:rPr lang="zh-CN" altLang="en-US" sz="1800" kern="0" spc="30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+mj-ea"/>
                <a:sym typeface="+mn-ea"/>
              </a:rPr>
              <a:t>性</a:t>
            </a:r>
            <a:endParaRPr lang="zh-CN" altLang="en-US" sz="1800" kern="0" spc="30" dirty="0">
              <a:solidFill>
                <a:srgbClr val="000000">
                  <a:alpha val="100000"/>
                </a:srgbClr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226985" y="990771"/>
            <a:ext cx="3600000" cy="5631829"/>
          </a:xfrm>
          <a:prstGeom prst="roundRect">
            <a:avLst>
              <a:gd name="adj" fmla="val 4625"/>
            </a:avLst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63050" y="5799945"/>
            <a:ext cx="1708011" cy="368300"/>
          </a:xfrm>
          <a:prstGeom prst="rect">
            <a:avLst/>
          </a:prstGeom>
          <a:solidFill>
            <a:srgbClr val="E1EAF9"/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zh-CN" altLang="en-US" kern="0" spc="-10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+mj-ea"/>
              </a:rPr>
              <a:t>高能效比</a:t>
            </a:r>
            <a:endParaRPr lang="zh-CN" altLang="en-US" kern="0" spc="-10" dirty="0">
              <a:solidFill>
                <a:srgbClr val="000000">
                  <a:alpha val="100000"/>
                </a:srgb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4" name="箭头: 下 113"/>
          <p:cNvSpPr/>
          <p:nvPr/>
        </p:nvSpPr>
        <p:spPr>
          <a:xfrm rot="16200000">
            <a:off x="3760143" y="3300186"/>
            <a:ext cx="376111" cy="526223"/>
          </a:xfrm>
          <a:prstGeom prst="downArrow">
            <a:avLst/>
          </a:prstGeom>
          <a:solidFill>
            <a:srgbClr val="0043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箭头: 下 114"/>
          <p:cNvSpPr/>
          <p:nvPr/>
        </p:nvSpPr>
        <p:spPr>
          <a:xfrm rot="16200000">
            <a:off x="7475859" y="4648515"/>
            <a:ext cx="376111" cy="526223"/>
          </a:xfrm>
          <a:prstGeom prst="downArrow">
            <a:avLst/>
          </a:prstGeom>
          <a:solidFill>
            <a:srgbClr val="0043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箭头: 下 115"/>
          <p:cNvSpPr/>
          <p:nvPr/>
        </p:nvSpPr>
        <p:spPr>
          <a:xfrm rot="16200000">
            <a:off x="7538344" y="2045744"/>
            <a:ext cx="376111" cy="526223"/>
          </a:xfrm>
          <a:prstGeom prst="downArrow">
            <a:avLst/>
          </a:prstGeom>
          <a:solidFill>
            <a:srgbClr val="0043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9100" y="1621155"/>
            <a:ext cx="3152140" cy="104838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5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500">
                <a:solidFill>
                  <a:srgbClr val="000000"/>
                </a:solidFill>
                <a:latin typeface="MicrosoftYaHei"/>
                <a:ea typeface="MicrosoftYaHei"/>
              </a:rPr>
              <a:t>支持所有的人工智能神经网络 </a:t>
            </a:r>
            <a:endParaRPr lang="zh-CN" altLang="en-US" sz="15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5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en-US" altLang="zh-CN" sz="15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Future-Proof</a:t>
            </a:r>
            <a:r>
              <a:rPr lang="zh-CN" altLang="en-US" sz="1500">
                <a:solidFill>
                  <a:srgbClr val="000000"/>
                </a:solidFill>
                <a:latin typeface="MicrosoftYaHei"/>
                <a:ea typeface="MicrosoftYaHei"/>
              </a:rPr>
              <a:t>的算子完备：支持任何未来可能的新的算子 </a:t>
            </a:r>
            <a:endParaRPr lang="zh-CN" altLang="en-US" sz="15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5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500">
                <a:solidFill>
                  <a:srgbClr val="000000"/>
                </a:solidFill>
                <a:latin typeface="MicrosoftYaHei"/>
                <a:ea typeface="MicrosoftYaHei"/>
              </a:rPr>
              <a:t>不需要额外的</a:t>
            </a:r>
            <a:r>
              <a:rPr lang="en-US" altLang="zh-CN" sz="15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CPU/GPU</a:t>
            </a:r>
            <a:r>
              <a:rPr lang="zh-CN" altLang="en-US" sz="1500">
                <a:solidFill>
                  <a:srgbClr val="000000"/>
                </a:solidFill>
                <a:latin typeface="MicrosoftYaHei"/>
                <a:ea typeface="MicrosoftYaHei"/>
              </a:rPr>
              <a:t>算力 </a:t>
            </a:r>
            <a:endParaRPr lang="zh-CN" altLang="en-US" sz="15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5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en-US" altLang="zh-CN" sz="15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Dynamic behavior (if, for, while, goto, dynamic shape/offset)</a:t>
            </a:r>
            <a:endParaRPr lang="en-US" altLang="zh-CN" sz="1500">
              <a:solidFill>
                <a:srgbClr val="000000"/>
              </a:solidFill>
              <a:latin typeface="ArialMT" panose="020B0604020202090204"/>
              <a:ea typeface="ArialMT" panose="020B060402020209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9100" y="4090035"/>
            <a:ext cx="315214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基于数据流</a:t>
            </a:r>
            <a:r>
              <a:rPr lang="en-US" altLang="zh-CN" sz="16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ASIC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方案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低功耗：相比</a:t>
            </a:r>
            <a:r>
              <a:rPr lang="en-US" altLang="zh-CN" sz="16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CPU/GPU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方案，能耗比有着</a:t>
            </a:r>
            <a:r>
              <a:rPr lang="en-US" altLang="zh-CN" sz="1600" b="1">
                <a:solidFill>
                  <a:srgbClr val="BF002A"/>
                </a:solidFill>
                <a:latin typeface="Arial-BoldMT" panose="020B0604020202090204"/>
                <a:ea typeface="Arial-BoldMT" panose="020B0604020202090204"/>
              </a:rPr>
              <a:t>10</a:t>
            </a:r>
            <a:r>
              <a:rPr lang="zh-CN" altLang="en-US" sz="1600" b="1">
                <a:solidFill>
                  <a:srgbClr val="BF002A"/>
                </a:solidFill>
                <a:latin typeface="MicrosoftYaHei-Bold"/>
                <a:ea typeface="MicrosoftYaHei-Bold"/>
              </a:rPr>
              <a:t>倍以上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的优势 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低成本：同样的算力性能，面积为其他方案的</a:t>
            </a:r>
            <a:r>
              <a:rPr lang="en-US" altLang="zh-CN" sz="16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1/2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至</a:t>
            </a:r>
            <a:r>
              <a:rPr lang="en-US" altLang="zh-CN" sz="1600">
                <a:solidFill>
                  <a:srgbClr val="000000"/>
                </a:solidFill>
                <a:latin typeface="ArialMT" panose="020B0604020202090204"/>
                <a:ea typeface="ArialMT" panose="020B0604020202090204"/>
              </a:rPr>
              <a:t>1/4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甚至更低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045" y="1645285"/>
            <a:ext cx="2878455" cy="195326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1320" y="4398010"/>
            <a:ext cx="3328670" cy="131191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253093" y="3819844"/>
            <a:ext cx="1115482" cy="368300"/>
          </a:xfrm>
          <a:prstGeom prst="rect">
            <a:avLst/>
          </a:prstGeom>
          <a:solidFill>
            <a:srgbClr val="E1EAF9"/>
          </a:solidFill>
        </p:spPr>
        <p:txBody>
          <a:bodyPr wrap="square" rtlCol="0">
            <a:spAutoFit/>
          </a:bodyPr>
          <a:p>
            <a:pPr algn="ctr" defTabSz="457200"/>
            <a:r>
              <a:rPr lang="zh-CN" altLang="en-US" kern="0" spc="-10" dirty="0">
                <a:solidFill>
                  <a:srgbClr val="000000">
                    <a:alpha val="100000"/>
                  </a:srgbClr>
                </a:solidFill>
                <a:latin typeface="+mj-ea"/>
                <a:ea typeface="+mj-ea"/>
                <a:cs typeface="+mj-ea"/>
              </a:rPr>
              <a:t>存储调度</a:t>
            </a:r>
            <a:endParaRPr lang="zh-CN" altLang="en-US" kern="0" spc="-10" dirty="0">
              <a:solidFill>
                <a:srgbClr val="000000">
                  <a:alpha val="100000"/>
                </a:srgbClr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5275" y="1432560"/>
            <a:ext cx="3537585" cy="195326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936865" y="4093210"/>
            <a:ext cx="3465830" cy="25533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缓存复用与生命周期管理：将中间激活值和权重数据保留在 SRAM 中，避免重复从 DRAM 加载；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  <a:sym typeface="+mn-ea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数据重排与共享算子融合：多个相邻算子共享输入或输出时，通过编译器优化实现数据复用，避免冗余写回与读取；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Wingdings-Regular" panose="05000000000000000000"/>
                <a:ea typeface="Wingdings-Regular" panose="05000000000000000000"/>
                <a:sym typeface="+mn-ea"/>
              </a:rPr>
              <a:t>ü </a:t>
            </a:r>
            <a:r>
              <a:rPr lang="zh-CN" altLang="en-US" sz="1600">
                <a:solidFill>
                  <a:srgbClr val="000000"/>
                </a:solidFill>
                <a:latin typeface="MicrosoftYaHei"/>
                <a:ea typeface="MicrosoftYaHei"/>
              </a:rPr>
              <a:t>带宽感知的数据流调度：根据当前内存带宽使用情况动态调整数据读写顺序，降低访问冲突与功耗峰值。</a:t>
            </a:r>
            <a:endParaRPr lang="zh-CN" altLang="en-US" sz="1600">
              <a:solidFill>
                <a:srgbClr val="000000"/>
              </a:solidFill>
              <a:latin typeface="MicrosoftYaHei"/>
              <a:ea typeface="MicrosoftYaHei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5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SLIDE_ID" val="diagram20220059_1"/>
  <p:tag name="KSO_WM_TEMPLATE_SUBCATEGORY" val="25"/>
  <p:tag name="KSO_WM_TEMPLATE_MASTER_TYPE" val="0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20059"/>
  <p:tag name="KSO_WM_SLIDE_TYPE" val="text"/>
  <p:tag name="KSO_WM_SLIDE_SUBTYPE" val="picTxt"/>
  <p:tag name="KSO_WM_SLIDE_LAYOUTTYPE" val="topbottom"/>
  <p:tag name="KSO_WM_SLIDE_SIZE" val="888*504"/>
  <p:tag name="KSO_WM_SLIDE_POSITION" val="36*12"/>
  <p:tag name="KSO_WM_SLIDE_LAYOUT" val="a_d"/>
  <p:tag name="KSO_WM_SLIDE_LAYOUT_CNT" val="1_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4-10-28T11:20:15&quot;,&quot;maxSize&quot;:{&quot;size1&quot;:22.2},&quot;minSize&quot;:{&quot;size1&quot;:13.5},&quot;normalSize&quot;:{&quot;size1&quot;:13.5},&quot;subLayout&quot;:[{&quot;id&quot;:&quot;2024-10-28T11:20:15&quot;,&quot;margin&quot;:{&quot;bottom&quot;:0.025999998673796654,&quot;left&quot;:2.117000102996826,&quot;right&quot;:1.2699999809265137,&quot;top&quot;:0.4230000376701355},&quot;type&quot;:0},{&quot;id&quot;:&quot;2024-10-28T11:20:15&quot;,&quot;margin&quot;:{&quot;bottom&quot;:0.847000002861023,&quot;left&quot;:1.2790000438690186,&quot;right&quot;:1.2609999179840088,&quot;top&quot;:0.3970000147819519},&quot;type&quot;:0}],&quot;type&quot;:0}"/>
  <p:tag name="KSO_WM_SLIDE_RATIO" val="1.777778"/>
  <p:tag name="KSO_WM_SLIDE_BACKGROUND" val="[&quot;general&quot;]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MjAwMmM4MjgyZWNkMzMwNWVhMGM0NjU1YWJkMDk2MzIifQ=="/>
  <p:tag name="RESOURCE_RECORD_KEY" val="{&quot;65&quot;:[20220059],&quot;70&quot;:[3320069,3320073,3314651]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WPS 文字</Application>
  <PresentationFormat>宽屏</PresentationFormat>
  <Paragraphs>67</Paragraphs>
  <Slides>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汉仪旗黑</vt:lpstr>
      <vt:lpstr>楷体</vt:lpstr>
      <vt:lpstr>汉仪楷体KW</vt:lpstr>
      <vt:lpstr>MicrosoftYaHei-Bold</vt:lpstr>
      <vt:lpstr>Wingdings-Regular</vt:lpstr>
      <vt:lpstr>MicrosoftYaHei</vt:lpstr>
      <vt:lpstr>Times New Roman</vt:lpstr>
      <vt:lpstr>ArialMT</vt:lpstr>
      <vt:lpstr>Arial-BoldMT</vt:lpstr>
      <vt:lpstr>Thonburi</vt:lpstr>
      <vt:lpstr>宋体</vt:lpstr>
      <vt:lpstr>汉仪书宋二KW</vt:lpstr>
      <vt:lpstr>Arial Unicode MS</vt:lpstr>
      <vt:lpstr>等线</vt:lpstr>
      <vt:lpstr>汉仪中等线KW</vt:lpstr>
      <vt:lpstr>微软雅黑</vt:lpstr>
      <vt:lpstr>Office 主题​​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吴伯涛</cp:lastModifiedBy>
  <cp:revision>1284</cp:revision>
  <dcterms:created xsi:type="dcterms:W3CDTF">2025-07-14T04:45:28Z</dcterms:created>
  <dcterms:modified xsi:type="dcterms:W3CDTF">2025-07-14T04:45:28Z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C0C22EBFB433481D99EB2F9633AB6FC8_13</vt:lpwstr>
  </property>
  <property fmtid="{D5CDD505-2E9C-101B-9397-08002B2CF9AE}" pid="12" name="KSOProductBuildVer">
    <vt:lpwstr>2052-6.12.1.8902</vt:lpwstr>
  </property>
</Properties>
</file>
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1.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notesSlides/notesSlide2.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9" r:id="rId2"/>
  </p:sldMasterIdLst>
  <p:notesMasterIdLst>
    <p:notesMasterId r:id="rId7"/>
  </p:notesMasterIdLst>
  <p:handoutMasterIdLst>
    <p:handoutMasterId r:id="rId8"/>
  </p:handoutMasterIdLst>
  <p:sldIdLst>
    <p:sldId id="11471" r:id="rId3"/>
    <p:sldId id="11473" r:id="rId4"/>
    <p:sldId id="11453" r:id="rId5"/>
    <p:sldId id="11476" r:id="rId6"/>
  </p:sldIdLst>
  <p:sldSz cx="12192000" cy="6858000"/>
  <p:notesSz cx="6858000" cy="9144000"/>
  <p:custDataLst>
    <p:tags r:id="rId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内容页" id="{EB11151C-0E14-47B0-8218-1431BF894351}">
          <p14:sldIdLst>
            <p14:sldId id="11471"/>
            <p14:sldId id="11473"/>
            <p14:sldId id="11453"/>
            <p14:sldId id="11476"/>
          </p14:sldIdLst>
        </p14:section>
      </p14:sectionLst>
    </p:ext>
    <p:ext uri="{EFAFB233-063F-42B5-8137-9DF3F51BA10A}">
      <p15:sldGuideLst xmlns:p15="http://schemas.microsoft.com/office/powerpoint/2012/main">
        <p15:guide id="4" pos="3786" userDrawn="1">
          <p15:clr>
            <a:srgbClr val="A4A3A4"/>
          </p15:clr>
        </p15:guide>
        <p15:guide id="5" orient="horz" pos="1032" userDrawn="1">
          <p15:clr>
            <a:srgbClr val="A4A3A4"/>
          </p15:clr>
        </p15:guide>
        <p15:guide id="6" orient="horz" pos="1564" userDrawn="1">
          <p15:clr>
            <a:srgbClr val="A4A3A4"/>
          </p15:clr>
        </p15:guide>
        <p15:guide id="7" orient="horz" pos="3387" userDrawn="1">
          <p15:clr>
            <a:srgbClr val="A4A3A4"/>
          </p15:clr>
        </p15:guide>
        <p15:guide id="8" pos="2172" userDrawn="1">
          <p15:clr>
            <a:srgbClr val="A4A3A4"/>
          </p15:clr>
        </p15:guide>
        <p15:guide id="9" pos="3970" userDrawn="1">
          <p15:clr>
            <a:srgbClr val="A4A3A4"/>
          </p15:clr>
        </p15:guide>
        <p15:guide id="10" pos="6138" userDrawn="1">
          <p15:clr>
            <a:srgbClr val="A4A3A4"/>
          </p15:clr>
        </p15:guide>
        <p15:guide id="11" pos="5312" userDrawn="1">
          <p15:clr>
            <a:srgbClr val="A4A3A4"/>
          </p15:clr>
        </p15:guide>
        <p15:guide id="12" pos="23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任 安然" initials="任"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43A8"/>
    <a:srgbClr val="006FBF"/>
    <a:srgbClr val="C8161E"/>
    <a:srgbClr val="3974D7"/>
    <a:srgbClr val="D94E5D"/>
    <a:srgbClr val="FFFFFF"/>
    <a:srgbClr val="E8E8EF"/>
    <a:srgbClr val="9CB9EB"/>
    <a:srgbClr val="E1EAF9"/>
    <a:srgbClr val="E2ED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86" autoAdjust="0"/>
    <p:restoredTop sz="97417" autoAdjust="0"/>
  </p:normalViewPr>
  <p:slideViewPr>
    <p:cSldViewPr snapToGrid="0" showGuides="1">
      <p:cViewPr varScale="1">
        <p:scale>
          <a:sx n="89" d="100"/>
          <a:sy n="89" d="100"/>
        </p:scale>
        <p:origin x="184" y="60"/>
      </p:cViewPr>
      <p:guideLst>
        <p:guide pos="3786"/>
        <p:guide orient="horz" pos="1032"/>
        <p:guide orient="horz" pos="1564"/>
        <p:guide orient="horz" pos="3387"/>
        <p:guide pos="2172"/>
        <p:guide pos="3970"/>
        <p:guide pos="6138"/>
        <p:guide pos="5312"/>
        <p:guide pos="2360"/>
      </p:guideLst>
    </p:cSldViewPr>
  </p:slideViewPr>
  <p:outlineViewPr>
    <p:cViewPr>
      <p:scale>
        <a:sx n="33" d="100"/>
        <a:sy n="33" d="100"/>
      </p:scale>
      <p:origin x="0" y="-576"/>
    </p:cViewPr>
  </p:outlineViewPr>
  <p:notesTextViewPr>
    <p:cViewPr>
      <p:scale>
        <a:sx n="1" d="1"/>
        <a:sy n="1" d="1"/>
      </p:scale>
      <p:origin x="0" y="0"/>
    </p:cViewPr>
  </p:notesTextViewPr>
  <p:sorterViewPr>
    <p:cViewPr varScale="1">
      <p:scale>
        <a:sx n="1" d="1"/>
        <a:sy n="1" d="1"/>
      </p:scale>
      <p:origin x="0" y="-2170"/>
    </p:cViewPr>
  </p:sorterViewPr>
  <p:notesViewPr>
    <p:cSldViewPr snapToGrid="0">
      <p:cViewPr varScale="1">
        <p:scale>
          <a:sx n="85" d="100"/>
          <a:sy n="85" d="100"/>
        </p:scale>
        <p:origin x="3804"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notesMaster" Target="notesMasters/notesMaster1.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tags" Target="tags/tag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12A60F-63B3-4D54-AA63-B159FADA9F31}" type="datetimeFigureOut">
              <a:rPr lang="zh-CN" altLang="en-US" smtClean="0"/>
              <a:t>2025/7/9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494E6C1-322F-4AF4-A541-6A7DCE3853A3}"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513A3C-D0C5-45C0-BD52-194E76396705}" type="datetimeFigureOut">
              <a:rPr lang="zh-CN" altLang="en-US" smtClean="0"/>
              <a:t>2025/7/9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0D5545-95D4-489F-B8ED-7EAFA774B56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E0D5545-95D4-489F-B8ED-7EAFA774B567}"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15000"/>
              </a:lnSpc>
              <a:spcAft>
                <a:spcPts val="800"/>
              </a:spcAft>
              <a:buNone/>
            </a:pPr>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需求：</a:t>
            </a:r>
          </a:p>
          <a:p>
            <a:pPr indent="266700">
              <a:lnSpc>
                <a:spcPct val="115000"/>
              </a:lnSpc>
              <a:spcAft>
                <a:spcPts val="800"/>
              </a:spcAft>
              <a:buNone/>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现代电子对抗与频谱管理领域，精准感知与高效预测辐射源的动态电磁行为对于提升态势感知能力、优化频谱分配策略以及增强电子对抗系统的智能化水平具有至关重要的作用。然而，传统基于规则和统计建模的方法在处理复杂多变的电磁环境时存在诸多局限性，例如对非线性、非平稳信号适应性较差，难以充分挖掘隐含模式和关联特征。因此，针对复杂电磁环境下辐射源动态电磁行为难以精准感知与预测的问题，采集多维异构电磁特征集，并设计智能化的认知与预测系统至关重要。</a:t>
            </a:r>
          </a:p>
          <a:p>
            <a:pPr>
              <a:lnSpc>
                <a:spcPct val="115000"/>
              </a:lnSpc>
              <a:spcAft>
                <a:spcPts val="800"/>
              </a:spcAft>
              <a:buNone/>
            </a:pPr>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研究目标：</a:t>
            </a:r>
          </a:p>
          <a:p>
            <a:pPr indent="266700">
              <a:lnSpc>
                <a:spcPct val="115000"/>
              </a:lnSpc>
              <a:spcAft>
                <a:spcPts val="800"/>
              </a:spcAf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针对复杂电磁环境下辐射源动态电磁行为难以精准感知与预测的问题，通过综合物理域、变换域、无线域、标准域和业务域的多模态数据，并进行特征工程来构建多维异构电磁特征集。在此基础上，基于知识嵌入、深度学习、智能预测等关键技术，通过构建智能认知与预测框架，提升对电磁信号的建模精度和泛化能力，最终实现对辐射源状态的高精度感知、对频谱占用趋势的智能预测，并优化电子对抗与频谱管理系统的适应性和决策效率。</a:t>
            </a:r>
          </a:p>
          <a:p>
            <a:endParaRPr lang="zh-CN" altLang="en-US" dirty="0"/>
          </a:p>
        </p:txBody>
      </p:sp>
      <p:sp>
        <p:nvSpPr>
          <p:cNvPr id="4" name="灯片编号占位符 3"/>
          <p:cNvSpPr>
            <a:spLocks noGrp="1"/>
          </p:cNvSpPr>
          <p:nvPr>
            <p:ph type="sldNum" sz="quarter" idx="5"/>
          </p:nvPr>
        </p:nvSpPr>
        <p:spPr/>
        <p:txBody>
          <a:bodyPr/>
          <a:lstStyle/>
          <a:p>
            <a:fld id="{6E0D5545-95D4-489F-B8ED-7EAFA774B567}" type="slidenum">
              <a:rPr lang="zh-CN" altLang="en-US" smtClean="0"/>
              <a:t>3</a:t>
            </a:fld>
            <a:endParaRPr lang="zh-CN" altLang="en-US"/>
          </a:p>
        </p:txBody>
      </p:sp>
    </p:spTree>
    <p:extLst>
      <p:ext uri="{BB962C8B-B14F-4D97-AF65-F5344CB8AC3E}">
        <p14:creationId xmlns:p14="http://schemas.microsoft.com/office/powerpoint/2010/main" val="3241027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E0D5545-95D4-489F-B8ED-7EAFA774B567}" type="slidenum">
              <a:rPr lang="zh-CN" altLang="en-US" smtClean="0"/>
              <a:t>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Master" Target="../slideMasters/slideMaster2.xml"/><Relationship Id="rId5" Type="http://schemas.openxmlformats.org/officeDocument/2006/relationships/tags" Target="../tags/tag12.xml"/><Relationship Id="rId4" Type="http://schemas.openxmlformats.org/officeDocument/2006/relationships/tags" Target="../tags/tag11.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Master" Target="../slideMasters/slideMaster2.xml"/><Relationship Id="rId5" Type="http://schemas.openxmlformats.org/officeDocument/2006/relationships/tags" Target="../tags/tag17.xml"/><Relationship Id="rId4" Type="http://schemas.openxmlformats.org/officeDocument/2006/relationships/tags" Target="../tags/tag16.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slideMaster" Target="../slideMasters/slideMaster2.xml"/><Relationship Id="rId5" Type="http://schemas.openxmlformats.org/officeDocument/2006/relationships/tags" Target="../tags/tag22.xml"/><Relationship Id="rId4" Type="http://schemas.openxmlformats.org/officeDocument/2006/relationships/tags" Target="../tags/tag21.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slideMaster" Target="../slideMasters/slideMaster2.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36.xml"/><Relationship Id="rId3" Type="http://schemas.openxmlformats.org/officeDocument/2006/relationships/tags" Target="../tags/tag31.xml"/><Relationship Id="rId7" Type="http://schemas.openxmlformats.org/officeDocument/2006/relationships/tags" Target="../tags/tag35.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9"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slideMaster" Target="../slideMasters/slideMaster2.xml"/><Relationship Id="rId4" Type="http://schemas.openxmlformats.org/officeDocument/2006/relationships/tags" Target="../tags/tag40.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tags" Target="../tags/tag46.xml"/><Relationship Id="rId7" Type="http://schemas.openxmlformats.org/officeDocument/2006/relationships/slideMaster" Target="../slideMasters/slideMaster2.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s>
</file>

<file path=ppt/slideLayouts/_rels/slideLayout29.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slideMaster" Target="../slideMasters/slideMaster2.xml"/><Relationship Id="rId5" Type="http://schemas.openxmlformats.org/officeDocument/2006/relationships/tags" Target="../tags/tag54.xml"/><Relationship Id="rId4" Type="http://schemas.openxmlformats.org/officeDocument/2006/relationships/tags" Target="../tags/tag53.xml"/></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slideMaster" Target="../slideMasters/slideMaster2.xml"/><Relationship Id="rId4" Type="http://schemas.openxmlformats.org/officeDocument/2006/relationships/tags" Target="../tags/tag58.xml"/></Relationships>
</file>

<file path=ppt/slideLayouts/_rels/slideLayout31.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slideMaster" Target="../slideMasters/slideMaster2.xml"/><Relationship Id="rId5" Type="http://schemas.openxmlformats.org/officeDocument/2006/relationships/tags" Target="../tags/tag63.xml"/><Relationship Id="rId4" Type="http://schemas.openxmlformats.org/officeDocument/2006/relationships/tags" Target="../tags/tag6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3" name="灯片编号占位符 2"/>
          <p:cNvSpPr>
            <a:spLocks noGrp="1"/>
          </p:cNvSpPr>
          <p:nvPr>
            <p:ph type="sldNum" sz="quarter" idx="10"/>
          </p:nvPr>
        </p:nvSpPr>
        <p:spPr/>
        <p:txBody>
          <a:bodyPr/>
          <a:lstStyle/>
          <a:p>
            <a:fld id="{6C53781C-E1F6-4315-A39D-61273F2E0596}"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空白（lowpoly）">
    <p:spTree>
      <p:nvGrpSpPr>
        <p:cNvPr id="1" name=""/>
        <p:cNvGrpSpPr/>
        <p:nvPr/>
      </p:nvGrpSpPr>
      <p:grpSpPr>
        <a:xfrm>
          <a:off x="0" y="0"/>
          <a:ext cx="0" cy="0"/>
          <a:chOff x="0" y="0"/>
          <a:chExt cx="0" cy="0"/>
        </a:xfrm>
      </p:grpSpPr>
      <p:sp>
        <p:nvSpPr>
          <p:cNvPr id="3" name="灯片编号占位符 2"/>
          <p:cNvSpPr>
            <a:spLocks noGrp="1"/>
          </p:cNvSpPr>
          <p:nvPr>
            <p:ph type="sldNum" sz="quarter" idx="10"/>
          </p:nvPr>
        </p:nvSpPr>
        <p:spPr/>
        <p:txBody>
          <a:bodyPr/>
          <a:lstStyle/>
          <a:p>
            <a:fld id="{6C53781C-E1F6-4315-A39D-61273F2E0596}" type="slidenum">
              <a:rPr lang="zh-CN" altLang="en-US" smtClean="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DCEDA9-FE4E-45E7-BD88-ED2AE9648CD7}"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灯片编号占位符 2"/>
          <p:cNvSpPr>
            <a:spLocks noGrp="1"/>
          </p:cNvSpPr>
          <p:nvPr>
            <p:ph type="sldNum" sz="quarter" idx="10"/>
          </p:nvPr>
        </p:nvSpPr>
        <p:spPr/>
        <p:txBody>
          <a:bodyPr/>
          <a:lstStyle/>
          <a:p>
            <a:fld id="{6C53781C-E1F6-4315-A39D-61273F2E0596}" type="slidenum">
              <a:rPr lang="zh-CN" altLang="en-US" smtClean="0"/>
              <a:t>‹#›</a:t>
            </a:fld>
            <a:endParaRPr lang="zh-CN" altLang="en-US" dirty="0"/>
          </a:p>
        </p:txBody>
      </p:sp>
      <p:sp>
        <p:nvSpPr>
          <p:cNvPr id="8" name="文本占位符 31"/>
          <p:cNvSpPr>
            <a:spLocks noGrp="1"/>
          </p:cNvSpPr>
          <p:nvPr>
            <p:ph type="body" sz="quarter" idx="11"/>
          </p:nvPr>
        </p:nvSpPr>
        <p:spPr>
          <a:xfrm>
            <a:off x="1075351" y="43657"/>
            <a:ext cx="7081677" cy="598488"/>
          </a:xfrm>
          <a:prstGeom prst="rect">
            <a:avLst/>
          </a:prstGeom>
        </p:spPr>
        <p:txBody>
          <a:bodyPr anchor="ctr"/>
          <a:lstStyle>
            <a:lvl1pPr marL="0" indent="0" algn="l">
              <a:lnSpc>
                <a:spcPct val="100000"/>
              </a:lnSpc>
              <a:buNone/>
              <a:defRPr sz="3200" b="1">
                <a:solidFill>
                  <a:schemeClr val="bg1"/>
                </a:solidFill>
              </a:defRPr>
            </a:lvl1pPr>
          </a:lstStyle>
          <a:p>
            <a:pPr lvl="0"/>
            <a:endParaRPr lang="zh-CN" altLang="en-US" dirty="0"/>
          </a:p>
        </p:txBody>
      </p:sp>
      <p:sp>
        <p:nvSpPr>
          <p:cNvPr id="9" name="文本占位符 31"/>
          <p:cNvSpPr>
            <a:spLocks noGrp="1"/>
          </p:cNvSpPr>
          <p:nvPr>
            <p:ph type="body" sz="quarter" idx="12"/>
          </p:nvPr>
        </p:nvSpPr>
        <p:spPr>
          <a:xfrm>
            <a:off x="319056" y="6438900"/>
            <a:ext cx="4151344" cy="419100"/>
          </a:xfrm>
          <a:prstGeom prst="rect">
            <a:avLst/>
          </a:prstGeom>
        </p:spPr>
        <p:txBody>
          <a:bodyPr lIns="0" tIns="0" rIns="0" bIns="0" anchor="ctr"/>
          <a:lstStyle>
            <a:lvl1pPr marL="0" indent="0" algn="l">
              <a:lnSpc>
                <a:spcPct val="100000"/>
              </a:lnSpc>
              <a:buNone/>
              <a:defRPr sz="2000" b="0">
                <a:solidFill>
                  <a:schemeClr val="tx1">
                    <a:lumMod val="75000"/>
                    <a:lumOff val="25000"/>
                  </a:schemeClr>
                </a:solidFill>
              </a:defRPr>
            </a:lvl1pPr>
          </a:lstStyle>
          <a:p>
            <a:pPr lvl="0"/>
            <a:endParaRPr lang="zh-CN" altLang="en-US" dirty="0"/>
          </a:p>
        </p:txBody>
      </p:sp>
      <p:sp>
        <p:nvSpPr>
          <p:cNvPr id="10" name="文本占位符 31"/>
          <p:cNvSpPr>
            <a:spLocks noGrp="1"/>
          </p:cNvSpPr>
          <p:nvPr>
            <p:ph type="body" sz="quarter" idx="13"/>
          </p:nvPr>
        </p:nvSpPr>
        <p:spPr>
          <a:xfrm>
            <a:off x="4788940" y="6438900"/>
            <a:ext cx="4151344" cy="419100"/>
          </a:xfrm>
          <a:prstGeom prst="rect">
            <a:avLst/>
          </a:prstGeom>
        </p:spPr>
        <p:txBody>
          <a:bodyPr lIns="0" tIns="0" rIns="0" bIns="0" anchor="ctr"/>
          <a:lstStyle>
            <a:lvl1pPr marL="0" indent="0" algn="l">
              <a:lnSpc>
                <a:spcPct val="100000"/>
              </a:lnSpc>
              <a:buNone/>
              <a:defRPr sz="2000" b="0">
                <a:solidFill>
                  <a:schemeClr val="tx1">
                    <a:lumMod val="75000"/>
                    <a:lumOff val="25000"/>
                  </a:schemeClr>
                </a:solidFill>
              </a:defRPr>
            </a:lvl1pPr>
          </a:lstStyle>
          <a:p>
            <a:pPr lvl="0"/>
            <a:endParaRPr lang="zh-CN" altLang="en-US" dirty="0"/>
          </a:p>
        </p:txBody>
      </p:sp>
      <p:sp>
        <p:nvSpPr>
          <p:cNvPr id="17" name="文本占位符 16"/>
          <p:cNvSpPr>
            <a:spLocks noGrp="1"/>
          </p:cNvSpPr>
          <p:nvPr>
            <p:ph type="body" sz="quarter" idx="14" hasCustomPrompt="1"/>
          </p:nvPr>
        </p:nvSpPr>
        <p:spPr>
          <a:xfrm>
            <a:off x="319056" y="766710"/>
            <a:ext cx="11568144" cy="4765791"/>
          </a:xfrm>
          <a:prstGeom prst="rect">
            <a:avLst/>
          </a:prstGeom>
        </p:spPr>
        <p:txBody>
          <a:bodyPr/>
          <a:lstStyle>
            <a:lvl1pPr marL="228600" indent="-228600">
              <a:lnSpc>
                <a:spcPct val="130000"/>
              </a:lnSpc>
              <a:buFontTx/>
              <a:buBlip>
                <a:blip r:embed="rId2"/>
              </a:buBlip>
              <a:defRPr sz="2000">
                <a:solidFill>
                  <a:schemeClr val="accent2"/>
                </a:solidFill>
              </a:defRPr>
            </a:lvl1pPr>
            <a:lvl2pPr>
              <a:lnSpc>
                <a:spcPct val="130000"/>
              </a:lnSpc>
              <a:defRPr sz="2000">
                <a:solidFill>
                  <a:schemeClr val="accent2"/>
                </a:solidFill>
              </a:defRPr>
            </a:lvl2pPr>
            <a:lvl3pPr>
              <a:lnSpc>
                <a:spcPct val="130000"/>
              </a:lnSpc>
              <a:defRPr sz="1800">
                <a:solidFill>
                  <a:schemeClr val="accent2"/>
                </a:solidFill>
              </a:defRPr>
            </a:lvl3pPr>
            <a:lvl4pPr>
              <a:lnSpc>
                <a:spcPct val="130000"/>
              </a:lnSpc>
              <a:defRPr sz="1600">
                <a:solidFill>
                  <a:schemeClr val="accent2"/>
                </a:solidFill>
              </a:defRPr>
            </a:lvl4pPr>
            <a:lvl5pPr>
              <a:lnSpc>
                <a:spcPct val="130000"/>
              </a:lnSpc>
              <a:defRPr sz="1600">
                <a:solidFill>
                  <a:schemeClr val="accent2"/>
                </a:solidFill>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theme" Target="../theme/theme2.xml"/><Relationship Id="rId17" Type="http://schemas.openxmlformats.org/officeDocument/2006/relationships/tags" Target="../tags/tag6.xml"/><Relationship Id="rId2" Type="http://schemas.openxmlformats.org/officeDocument/2006/relationships/slideLayout" Target="../slideLayouts/slideLayout22.xml"/><Relationship Id="rId16" Type="http://schemas.openxmlformats.org/officeDocument/2006/relationships/tags" Target="../tags/tag5.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tags" Target="../tags/tag4.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灯片编号占位符 5"/>
          <p:cNvSpPr>
            <a:spLocks noGrp="1"/>
          </p:cNvSpPr>
          <p:nvPr>
            <p:ph type="sldNum" sz="quarter" idx="4"/>
          </p:nvPr>
        </p:nvSpPr>
        <p:spPr>
          <a:xfrm>
            <a:off x="10849970" y="6515101"/>
            <a:ext cx="1037230" cy="342900"/>
          </a:xfrm>
          <a:prstGeom prst="rect">
            <a:avLst/>
          </a:prstGeom>
        </p:spPr>
        <p:txBody>
          <a:bodyPr vert="horz" lIns="91440" tIns="45720" rIns="91440" bIns="45720" rtlCol="0" anchor="ctr"/>
          <a:lstStyle>
            <a:lvl1pPr algn="r">
              <a:defRPr sz="1200">
                <a:solidFill>
                  <a:schemeClr val="tx1">
                    <a:tint val="75000"/>
                  </a:schemeClr>
                </a:solidFill>
              </a:defRPr>
            </a:lvl1pPr>
          </a:lstStyle>
          <a:p>
            <a:fld id="{548644C6-89F0-466C-949F-E70AD72679A8}"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hdr="0" ftr="0" dt="0"/>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slideLayout" Target="../slideLayouts/slideLayout3.xml"/><Relationship Id="rId5" Type="http://schemas.openxmlformats.org/officeDocument/2006/relationships/tags" Target="../tags/tag68.xml"/><Relationship Id="rId4" Type="http://schemas.openxmlformats.org/officeDocument/2006/relationships/tags" Target="../tags/tag67.xml"/></Relationships>
</file>

<file path=ppt/slides/_rels/slide2.xml.rels><?xml version="1.0" encoding="UTF-8" standalone="yes"?>
<Relationships xmlns="http://schemas.openxmlformats.org/package/2006/relationships"><Relationship Id="rId8" Type="http://schemas.openxmlformats.org/officeDocument/2006/relationships/image" Target="../media/image2.emf"/><Relationship Id="rId13" Type="http://schemas.openxmlformats.org/officeDocument/2006/relationships/image" Target="../media/image7.emf"/><Relationship Id="rId3" Type="http://schemas.openxmlformats.org/officeDocument/2006/relationships/tags" Target="../tags/tag71.xml"/><Relationship Id="rId7" Type="http://schemas.openxmlformats.org/officeDocument/2006/relationships/notesSlide" Target="../notesSlides/notesSlide1.xml"/><Relationship Id="rId12" Type="http://schemas.openxmlformats.org/officeDocument/2006/relationships/image" Target="../media/image6.png"/><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slideLayout" Target="../slideLayouts/slideLayout4.xml"/><Relationship Id="rId11" Type="http://schemas.openxmlformats.org/officeDocument/2006/relationships/image" Target="../media/image5.emf"/><Relationship Id="rId5" Type="http://schemas.openxmlformats.org/officeDocument/2006/relationships/tags" Target="../tags/tag73.xml"/><Relationship Id="rId10" Type="http://schemas.openxmlformats.org/officeDocument/2006/relationships/image" Target="../media/image4.jpeg"/><Relationship Id="rId4" Type="http://schemas.openxmlformats.org/officeDocument/2006/relationships/tags" Target="../tags/tag72.xml"/><Relationship Id="rId9" Type="http://schemas.openxmlformats.org/officeDocument/2006/relationships/image" Target="../media/image3.png"/><Relationship Id="rId14" Type="http://schemas.openxmlformats.org/officeDocument/2006/relationships/image" Target="../media/image8.emf"/></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75.xml"/><Relationship Id="rId1" Type="http://schemas.openxmlformats.org/officeDocument/2006/relationships/tags" Target="../tags/tag74.xml"/><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2.png"/><Relationship Id="rId3" Type="http://schemas.openxmlformats.org/officeDocument/2006/relationships/tags" Target="../tags/tag78.xml"/><Relationship Id="rId7" Type="http://schemas.openxmlformats.org/officeDocument/2006/relationships/tags" Target="../tags/tag82.xml"/><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tags" Target="../tags/tag77.xml"/><Relationship Id="rId16" Type="http://schemas.openxmlformats.org/officeDocument/2006/relationships/image" Target="../media/image15.png"/><Relationship Id="rId1" Type="http://schemas.openxmlformats.org/officeDocument/2006/relationships/tags" Target="../tags/tag76.xml"/><Relationship Id="rId6" Type="http://schemas.openxmlformats.org/officeDocument/2006/relationships/tags" Target="../tags/tag81.xml"/><Relationship Id="rId11" Type="http://schemas.openxmlformats.org/officeDocument/2006/relationships/image" Target="../media/image10.png"/><Relationship Id="rId5" Type="http://schemas.openxmlformats.org/officeDocument/2006/relationships/tags" Target="../tags/tag80.xml"/><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tags" Target="../tags/tag79.xml"/><Relationship Id="rId9" Type="http://schemas.openxmlformats.org/officeDocument/2006/relationships/notesSlide" Target="../notesSlides/notesSlide3.xml"/><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647699" y="83820"/>
            <a:ext cx="9977039" cy="7620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buSzPct val="100000"/>
            </a:pPr>
            <a:r>
              <a:rPr lang="zh-CN" altLang="en-US" sz="3000" dirty="0">
                <a:solidFill>
                  <a:srgbClr val="0043A8"/>
                </a:solidFill>
              </a:rPr>
              <a:t>研究内容二：</a:t>
            </a:r>
            <a:r>
              <a:rPr lang="zh-CN" altLang="en-US" sz="3100" dirty="0">
                <a:solidFill>
                  <a:srgbClr val="0043A8"/>
                </a:solidFill>
              </a:rPr>
              <a:t>轻量化空口</a:t>
            </a:r>
            <a:r>
              <a:rPr lang="en-US" altLang="zh-CN" sz="3100" dirty="0">
                <a:solidFill>
                  <a:srgbClr val="0043A8"/>
                </a:solidFill>
              </a:rPr>
              <a:t>AI</a:t>
            </a:r>
            <a:r>
              <a:rPr lang="zh-CN" altLang="en-US" sz="3100" dirty="0">
                <a:solidFill>
                  <a:srgbClr val="0043A8"/>
                </a:solidFill>
              </a:rPr>
              <a:t>软硬件协同处理方法</a:t>
            </a:r>
            <a:endParaRPr lang="zh-CN" altLang="zh-CN" sz="3100" dirty="0">
              <a:solidFill>
                <a:srgbClr val="0043A8"/>
              </a:solidFill>
            </a:endParaRPr>
          </a:p>
        </p:txBody>
      </p:sp>
      <p:cxnSp>
        <p:nvCxnSpPr>
          <p:cNvPr id="8" name="直接连接符 7"/>
          <p:cNvCxnSpPr/>
          <p:nvPr>
            <p:custDataLst>
              <p:tags r:id="rId2"/>
            </p:custDataLst>
          </p:nvPr>
        </p:nvCxnSpPr>
        <p:spPr>
          <a:xfrm>
            <a:off x="414024" y="245115"/>
            <a:ext cx="5080" cy="439420"/>
          </a:xfrm>
          <a:prstGeom prst="line">
            <a:avLst/>
          </a:prstGeom>
          <a:ln w="101600">
            <a:solidFill>
              <a:srgbClr val="0043A8"/>
            </a:solidFill>
          </a:ln>
        </p:spPr>
        <p:style>
          <a:lnRef idx="1">
            <a:schemeClr val="accent1"/>
          </a:lnRef>
          <a:fillRef idx="0">
            <a:schemeClr val="accent1"/>
          </a:fillRef>
          <a:effectRef idx="0">
            <a:schemeClr val="accent1"/>
          </a:effectRef>
          <a:fontRef idx="minor">
            <a:schemeClr val="tx1"/>
          </a:fontRef>
        </p:style>
      </p:cxnSp>
      <p:sp>
        <p:nvSpPr>
          <p:cNvPr id="3" name="灯片编号占位符 2"/>
          <p:cNvSpPr>
            <a:spLocks noGrp="1"/>
          </p:cNvSpPr>
          <p:nvPr>
            <p:ph type="sldNum" sz="quarter" idx="12"/>
          </p:nvPr>
        </p:nvSpPr>
        <p:spPr>
          <a:xfrm>
            <a:off x="11161412" y="6602766"/>
            <a:ext cx="1037230" cy="342900"/>
          </a:xfrm>
        </p:spPr>
        <p:txBody>
          <a:bodyPr/>
          <a:lstStyle/>
          <a:p>
            <a:fld id="{48DCEDA9-FE4E-45E7-BD88-ED2AE9648CD7}" type="slidenum">
              <a:rPr lang="zh-CN" altLang="en-US" smtClean="0"/>
              <a:t>1</a:t>
            </a:fld>
            <a:endParaRPr lang="zh-CN" altLang="en-US" dirty="0"/>
          </a:p>
        </p:txBody>
      </p:sp>
      <p:sp>
        <p:nvSpPr>
          <p:cNvPr id="4" name="圆角矩形 3"/>
          <p:cNvSpPr/>
          <p:nvPr/>
        </p:nvSpPr>
        <p:spPr>
          <a:xfrm>
            <a:off x="127051" y="1253940"/>
            <a:ext cx="3371790" cy="5258948"/>
          </a:xfrm>
          <a:prstGeom prst="roundRect">
            <a:avLst/>
          </a:prstGeom>
          <a:solidFill>
            <a:schemeClr val="bg1"/>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 name="圆角矩形 5"/>
          <p:cNvSpPr/>
          <p:nvPr/>
        </p:nvSpPr>
        <p:spPr>
          <a:xfrm>
            <a:off x="3911491" y="1253939"/>
            <a:ext cx="4733269" cy="5258949"/>
          </a:xfrm>
          <a:prstGeom prst="roundRect">
            <a:avLst/>
          </a:prstGeom>
          <a:solidFill>
            <a:schemeClr val="bg1"/>
          </a:solid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圆角矩形 19"/>
          <p:cNvSpPr/>
          <p:nvPr/>
        </p:nvSpPr>
        <p:spPr>
          <a:xfrm>
            <a:off x="9065813" y="1253940"/>
            <a:ext cx="3010166" cy="5258948"/>
          </a:xfrm>
          <a:prstGeom prst="roundRect">
            <a:avLst/>
          </a:prstGeom>
          <a:solidFill>
            <a:schemeClr val="bg1"/>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p:cNvSpPr txBox="1"/>
          <p:nvPr/>
        </p:nvSpPr>
        <p:spPr>
          <a:xfrm>
            <a:off x="672110" y="3865117"/>
            <a:ext cx="2276755" cy="369332"/>
          </a:xfrm>
          <a:prstGeom prst="rect">
            <a:avLst/>
          </a:prstGeom>
          <a:solidFill>
            <a:schemeClr val="bg1"/>
          </a:solidFill>
          <a:ln>
            <a:solidFill>
              <a:schemeClr val="accent3">
                <a:lumMod val="40000"/>
                <a:lumOff val="60000"/>
              </a:schemeClr>
            </a:solidFill>
            <a:prstDash val="dash"/>
          </a:ln>
        </p:spPr>
        <p:txBody>
          <a:bodyPr wrap="square" rtlCol="0">
            <a:spAutoFit/>
          </a:bodyPr>
          <a:lstStyle/>
          <a:p>
            <a:pPr algn="ctr"/>
            <a:r>
              <a:rPr lang="zh-CN" altLang="en-US" dirty="0">
                <a:latin typeface="楷体" panose="02010609060101010101" pitchFamily="49" charset="-122"/>
                <a:ea typeface="楷体" panose="02010609060101010101" pitchFamily="49" charset="-122"/>
              </a:rPr>
              <a:t>全频段超宽带接收</a:t>
            </a:r>
          </a:p>
        </p:txBody>
      </p:sp>
      <p:sp>
        <p:nvSpPr>
          <p:cNvPr id="154" name="文本框 153"/>
          <p:cNvSpPr txBox="1"/>
          <p:nvPr/>
        </p:nvSpPr>
        <p:spPr>
          <a:xfrm>
            <a:off x="228607" y="4941057"/>
            <a:ext cx="1327603" cy="923330"/>
          </a:xfrm>
          <a:prstGeom prst="rect">
            <a:avLst/>
          </a:prstGeom>
          <a:solidFill>
            <a:schemeClr val="bg1"/>
          </a:solidFill>
          <a:ln>
            <a:solidFill>
              <a:schemeClr val="accent3">
                <a:lumMod val="60000"/>
                <a:lumOff val="40000"/>
              </a:schemeClr>
            </a:solidFill>
            <a:prstDash val="dash"/>
          </a:ln>
        </p:spPr>
        <p:txBody>
          <a:bodyPr wrap="square" rtlCol="0">
            <a:spAutoFit/>
          </a:bodyPr>
          <a:lstStyle/>
          <a:p>
            <a:pPr algn="ctr"/>
            <a:r>
              <a:rPr lang="zh-CN" altLang="zh-CN" dirty="0">
                <a:latin typeface="楷体" panose="02010609060101010101" pitchFamily="49" charset="-122"/>
                <a:ea typeface="楷体" panose="02010609060101010101" pitchFamily="49" charset="-122"/>
              </a:rPr>
              <a:t>全频段超宽带射频接收</a:t>
            </a:r>
            <a:r>
              <a:rPr lang="zh-CN" altLang="en-US" dirty="0">
                <a:latin typeface="楷体" panose="02010609060101010101" pitchFamily="49" charset="-122"/>
                <a:ea typeface="楷体" panose="02010609060101010101" pitchFamily="49" charset="-122"/>
              </a:rPr>
              <a:t>技术</a:t>
            </a:r>
          </a:p>
        </p:txBody>
      </p:sp>
      <p:sp>
        <p:nvSpPr>
          <p:cNvPr id="166" name="文本框 165"/>
          <p:cNvSpPr txBox="1"/>
          <p:nvPr/>
        </p:nvSpPr>
        <p:spPr>
          <a:xfrm>
            <a:off x="2073582" y="4941057"/>
            <a:ext cx="1324070" cy="923330"/>
          </a:xfrm>
          <a:prstGeom prst="rect">
            <a:avLst/>
          </a:prstGeom>
          <a:solidFill>
            <a:schemeClr val="bg1"/>
          </a:solidFill>
          <a:ln>
            <a:solidFill>
              <a:schemeClr val="accent3">
                <a:lumMod val="60000"/>
                <a:lumOff val="40000"/>
              </a:schemeClr>
            </a:solidFill>
            <a:prstDash val="dash"/>
          </a:ln>
        </p:spPr>
        <p:txBody>
          <a:bodyPr wrap="square" rtlCol="0">
            <a:spAutoFit/>
          </a:bodyPr>
          <a:lstStyle/>
          <a:p>
            <a:pPr algn="ctr"/>
            <a:r>
              <a:rPr lang="zh-CN" altLang="en-US" dirty="0">
                <a:latin typeface="楷体" panose="02010609060101010101" pitchFamily="49" charset="-122"/>
                <a:ea typeface="楷体" panose="02010609060101010101" pitchFamily="49" charset="-122"/>
              </a:rPr>
              <a:t>超宽带频谱的高效采样技术</a:t>
            </a:r>
            <a:endParaRPr lang="en-US" altLang="zh-CN" dirty="0">
              <a:latin typeface="楷体" panose="02010609060101010101" pitchFamily="49" charset="-122"/>
              <a:ea typeface="楷体" panose="02010609060101010101" pitchFamily="49" charset="-122"/>
            </a:endParaRPr>
          </a:p>
        </p:txBody>
      </p:sp>
      <p:sp>
        <p:nvSpPr>
          <p:cNvPr id="167" name="文本框 166"/>
          <p:cNvSpPr txBox="1"/>
          <p:nvPr/>
        </p:nvSpPr>
        <p:spPr>
          <a:xfrm>
            <a:off x="670276" y="2178826"/>
            <a:ext cx="2276757" cy="369332"/>
          </a:xfrm>
          <a:prstGeom prst="rect">
            <a:avLst/>
          </a:prstGeom>
          <a:solidFill>
            <a:schemeClr val="bg1"/>
          </a:solidFill>
          <a:ln>
            <a:solidFill>
              <a:schemeClr val="accent3">
                <a:lumMod val="60000"/>
                <a:lumOff val="40000"/>
              </a:schemeClr>
            </a:solidFill>
            <a:prstDash val="dash"/>
          </a:ln>
        </p:spPr>
        <p:txBody>
          <a:bodyPr wrap="square" rtlCol="0">
            <a:spAutoFit/>
          </a:bodyPr>
          <a:lstStyle/>
          <a:p>
            <a:pPr algn="ctr"/>
            <a:r>
              <a:rPr lang="zh-CN" altLang="en-US" dirty="0">
                <a:latin typeface="楷体" panose="02010609060101010101" pitchFamily="49" charset="-122"/>
                <a:ea typeface="楷体" panose="02010609060101010101" pitchFamily="49" charset="-122"/>
              </a:rPr>
              <a:t>卫星信号频谱涵盖广</a:t>
            </a:r>
          </a:p>
        </p:txBody>
      </p:sp>
      <p:sp>
        <p:nvSpPr>
          <p:cNvPr id="168" name="文本框 167"/>
          <p:cNvSpPr txBox="1"/>
          <p:nvPr/>
        </p:nvSpPr>
        <p:spPr>
          <a:xfrm>
            <a:off x="670276" y="3024434"/>
            <a:ext cx="2276756" cy="369332"/>
          </a:xfrm>
          <a:prstGeom prst="rect">
            <a:avLst/>
          </a:prstGeom>
          <a:solidFill>
            <a:schemeClr val="bg1"/>
          </a:solidFill>
          <a:ln>
            <a:solidFill>
              <a:schemeClr val="accent3">
                <a:lumMod val="40000"/>
                <a:lumOff val="60000"/>
              </a:schemeClr>
            </a:solidFill>
            <a:prstDash val="dash"/>
          </a:ln>
        </p:spPr>
        <p:txBody>
          <a:bodyPr wrap="square" rtlCol="0">
            <a:spAutoFit/>
          </a:bodyPr>
          <a:lstStyle/>
          <a:p>
            <a:pPr algn="ctr"/>
            <a:r>
              <a:rPr lang="zh-CN" altLang="en-US" dirty="0">
                <a:latin typeface="楷体" panose="02010609060101010101" pitchFamily="49" charset="-122"/>
                <a:ea typeface="楷体" panose="02010609060101010101" pitchFamily="49" charset="-122"/>
              </a:rPr>
              <a:t>卫星信号无遗漏侦察</a:t>
            </a:r>
          </a:p>
        </p:txBody>
      </p:sp>
      <p:sp>
        <p:nvSpPr>
          <p:cNvPr id="173" name="圆角矩形 172"/>
          <p:cNvSpPr/>
          <p:nvPr>
            <p:custDataLst>
              <p:tags r:id="rId3"/>
            </p:custDataLst>
          </p:nvPr>
        </p:nvSpPr>
        <p:spPr>
          <a:xfrm>
            <a:off x="400650" y="1260011"/>
            <a:ext cx="2824592" cy="465258"/>
          </a:xfrm>
          <a:prstGeom prst="roundRect">
            <a:avLst>
              <a:gd name="adj" fmla="val 50000"/>
            </a:avLst>
          </a:prstGeom>
          <a:solidFill>
            <a:srgbClr val="0043A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marL="338455" indent="-234950" algn="ctr" rtl="0" eaLnBrk="0" fontAlgn="auto">
              <a:lnSpc>
                <a:spcPct val="100000"/>
              </a:lnSpc>
              <a:spcBef>
                <a:spcPts val="900"/>
              </a:spcBef>
            </a:pPr>
            <a:r>
              <a:rPr lang="zh-CN" altLang="en-US" sz="2000" b="1" kern="100" spc="30" dirty="0">
                <a:solidFill>
                  <a:schemeClr val="bg1"/>
                </a:solidFill>
                <a:effectLst/>
                <a:latin typeface="微软雅黑" panose="020B0503020204020204" charset="-122"/>
                <a:ea typeface="微软雅黑" panose="020B0503020204020204" charset="-122"/>
                <a:cs typeface="Times New Roman" panose="02020603050405020304" pitchFamily="18" charset="0"/>
                <a:sym typeface="+mn-ea"/>
              </a:rPr>
              <a:t>需求</a:t>
            </a:r>
          </a:p>
        </p:txBody>
      </p:sp>
      <p:cxnSp>
        <p:nvCxnSpPr>
          <p:cNvPr id="176" name="直接箭头连接符 175"/>
          <p:cNvCxnSpPr/>
          <p:nvPr/>
        </p:nvCxnSpPr>
        <p:spPr>
          <a:xfrm flipH="1">
            <a:off x="975329" y="4377484"/>
            <a:ext cx="367637" cy="420538"/>
          </a:xfrm>
          <a:prstGeom prst="straightConnector1">
            <a:avLst/>
          </a:prstGeom>
          <a:ln w="38100">
            <a:solidFill>
              <a:srgbClr val="0043A8"/>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直接箭头连接符 176"/>
          <p:cNvCxnSpPr/>
          <p:nvPr/>
        </p:nvCxnSpPr>
        <p:spPr>
          <a:xfrm>
            <a:off x="2363036" y="4377484"/>
            <a:ext cx="298674" cy="420538"/>
          </a:xfrm>
          <a:prstGeom prst="straightConnector1">
            <a:avLst/>
          </a:prstGeom>
          <a:ln w="38100">
            <a:solidFill>
              <a:srgbClr val="0043A8"/>
            </a:solidFill>
            <a:tailEnd type="triangle"/>
          </a:ln>
        </p:spPr>
        <p:style>
          <a:lnRef idx="1">
            <a:schemeClr val="accent1"/>
          </a:lnRef>
          <a:fillRef idx="0">
            <a:schemeClr val="accent1"/>
          </a:fillRef>
          <a:effectRef idx="0">
            <a:schemeClr val="accent1"/>
          </a:effectRef>
          <a:fontRef idx="minor">
            <a:schemeClr val="tx1"/>
          </a:fontRef>
        </p:style>
      </p:cxnSp>
      <p:sp>
        <p:nvSpPr>
          <p:cNvPr id="180" name="圆角矩形 179"/>
          <p:cNvSpPr/>
          <p:nvPr>
            <p:custDataLst>
              <p:tags r:id="rId4"/>
            </p:custDataLst>
          </p:nvPr>
        </p:nvSpPr>
        <p:spPr>
          <a:xfrm>
            <a:off x="4382919" y="1260011"/>
            <a:ext cx="3790412" cy="465258"/>
          </a:xfrm>
          <a:prstGeom prst="roundRect">
            <a:avLst>
              <a:gd name="adj" fmla="val 50000"/>
            </a:avLst>
          </a:prstGeom>
          <a:solidFill>
            <a:srgbClr val="0043A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marL="338455" indent="-234950" algn="ctr" rtl="0" eaLnBrk="0" fontAlgn="auto">
              <a:lnSpc>
                <a:spcPct val="100000"/>
              </a:lnSpc>
              <a:spcBef>
                <a:spcPts val="900"/>
              </a:spcBef>
            </a:pPr>
            <a:r>
              <a:rPr lang="zh-CN" altLang="en-US" sz="2000" b="1" kern="100" spc="30" dirty="0">
                <a:solidFill>
                  <a:schemeClr val="bg1"/>
                </a:solidFill>
                <a:effectLst/>
                <a:latin typeface="微软雅黑" panose="020B0503020204020204" charset="-122"/>
                <a:ea typeface="微软雅黑" panose="020B0503020204020204" charset="-122"/>
                <a:cs typeface="Times New Roman" panose="02020603050405020304" pitchFamily="18" charset="0"/>
                <a:sym typeface="+mn-ea"/>
              </a:rPr>
              <a:t>研究内容</a:t>
            </a:r>
          </a:p>
        </p:txBody>
      </p:sp>
      <p:sp>
        <p:nvSpPr>
          <p:cNvPr id="106" name="矩形 105"/>
          <p:cNvSpPr/>
          <p:nvPr/>
        </p:nvSpPr>
        <p:spPr>
          <a:xfrm>
            <a:off x="4589070" y="1949991"/>
            <a:ext cx="3894199" cy="685126"/>
          </a:xfrm>
          <a:prstGeom prst="rect">
            <a:avLst/>
          </a:prstGeom>
          <a:solidFill>
            <a:schemeClr val="accent3">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b="1" dirty="0">
                <a:solidFill>
                  <a:schemeClr val="tx1"/>
                </a:solidFill>
                <a:latin typeface="楷体" panose="02010609060101010101" pitchFamily="49" charset="-122"/>
                <a:ea typeface="楷体" panose="02010609060101010101" pitchFamily="49" charset="-122"/>
              </a:rPr>
              <a:t>超宽带微波射频模块及接收天线</a:t>
            </a:r>
          </a:p>
        </p:txBody>
      </p:sp>
      <p:sp>
        <p:nvSpPr>
          <p:cNvPr id="183" name="矩形 182"/>
          <p:cNvSpPr/>
          <p:nvPr/>
        </p:nvSpPr>
        <p:spPr>
          <a:xfrm>
            <a:off x="4581647" y="4278873"/>
            <a:ext cx="3901622" cy="685126"/>
          </a:xfrm>
          <a:prstGeom prst="rect">
            <a:avLst/>
          </a:prstGeom>
          <a:solidFill>
            <a:schemeClr val="accent3">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楷体" panose="02010609060101010101" pitchFamily="49" charset="-122"/>
                <a:ea typeface="楷体" panose="02010609060101010101" pitchFamily="49" charset="-122"/>
              </a:rPr>
              <a:t>超宽带信号</a:t>
            </a:r>
            <a:r>
              <a:rPr lang="zh-CN" altLang="zh-CN" b="1" dirty="0">
                <a:solidFill>
                  <a:schemeClr val="tx1"/>
                </a:solidFill>
                <a:latin typeface="楷体" panose="02010609060101010101" pitchFamily="49" charset="-122"/>
                <a:ea typeface="楷体" panose="02010609060101010101" pitchFamily="49" charset="-122"/>
              </a:rPr>
              <a:t>高速采样技术</a:t>
            </a:r>
          </a:p>
        </p:txBody>
      </p:sp>
      <p:sp>
        <p:nvSpPr>
          <p:cNvPr id="184" name="矩形 183"/>
          <p:cNvSpPr/>
          <p:nvPr/>
        </p:nvSpPr>
        <p:spPr>
          <a:xfrm>
            <a:off x="4029973" y="1949991"/>
            <a:ext cx="550313" cy="685126"/>
          </a:xfrm>
          <a:prstGeom prst="rect">
            <a:avLst/>
          </a:prstGeom>
          <a:solidFill>
            <a:schemeClr val="accent3">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1</a:t>
            </a:r>
            <a:endParaRPr lang="zh-CN" altLang="en-US" b="1" dirty="0">
              <a:solidFill>
                <a:schemeClr val="tx1"/>
              </a:solidFill>
            </a:endParaRPr>
          </a:p>
        </p:txBody>
      </p:sp>
      <p:sp>
        <p:nvSpPr>
          <p:cNvPr id="185" name="矩形 184"/>
          <p:cNvSpPr/>
          <p:nvPr/>
        </p:nvSpPr>
        <p:spPr>
          <a:xfrm>
            <a:off x="4012276" y="4278873"/>
            <a:ext cx="560555" cy="702076"/>
          </a:xfrm>
          <a:prstGeom prst="rect">
            <a:avLst/>
          </a:prstGeom>
          <a:solidFill>
            <a:schemeClr val="accent3">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2</a:t>
            </a:r>
            <a:endParaRPr lang="zh-CN" altLang="en-US" b="1" dirty="0">
              <a:solidFill>
                <a:schemeClr val="tx1"/>
              </a:solidFill>
            </a:endParaRPr>
          </a:p>
        </p:txBody>
      </p:sp>
      <p:sp>
        <p:nvSpPr>
          <p:cNvPr id="186" name="矩形 185"/>
          <p:cNvSpPr/>
          <p:nvPr/>
        </p:nvSpPr>
        <p:spPr>
          <a:xfrm>
            <a:off x="4587398" y="2638965"/>
            <a:ext cx="3895871" cy="1396193"/>
          </a:xfrm>
          <a:prstGeom prst="rect">
            <a:avLst/>
          </a:prstGeom>
          <a:solidFill>
            <a:schemeClr val="bg1"/>
          </a:solidFill>
          <a:ln>
            <a:solidFill>
              <a:schemeClr val="accent3">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zh-CN" altLang="zh-CN" sz="1600" dirty="0">
                <a:solidFill>
                  <a:schemeClr val="tx1"/>
                </a:solidFill>
                <a:latin typeface="楷体" panose="02010609060101010101" pitchFamily="49" charset="-122"/>
                <a:ea typeface="楷体" panose="02010609060101010101" pitchFamily="49" charset="-122"/>
              </a:rPr>
              <a:t>有源器件结构优化</a:t>
            </a:r>
            <a:r>
              <a:rPr lang="zh-CN" altLang="en-US" sz="1600" dirty="0">
                <a:solidFill>
                  <a:schemeClr val="tx1"/>
                </a:solidFill>
                <a:latin typeface="楷体" panose="02010609060101010101" pitchFamily="49" charset="-122"/>
                <a:ea typeface="楷体" panose="02010609060101010101" pitchFamily="49" charset="-122"/>
              </a:rPr>
              <a:t>与</a:t>
            </a:r>
            <a:r>
              <a:rPr lang="zh-CN" altLang="zh-CN" sz="1600" dirty="0">
                <a:solidFill>
                  <a:schemeClr val="tx1"/>
                </a:solidFill>
                <a:latin typeface="楷体" panose="02010609060101010101" pitchFamily="49" charset="-122"/>
                <a:ea typeface="楷体" panose="02010609060101010101" pitchFamily="49" charset="-122"/>
              </a:rPr>
              <a:t>宽带建模</a:t>
            </a:r>
            <a:endParaRPr lang="en-US" altLang="zh-CN" sz="1600" dirty="0">
              <a:solidFill>
                <a:schemeClr val="tx1"/>
              </a:solidFill>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r>
              <a:rPr lang="zh-CN" altLang="en-US" sz="1600" dirty="0">
                <a:solidFill>
                  <a:schemeClr val="tx1"/>
                </a:solidFill>
                <a:latin typeface="楷体" panose="02010609060101010101" pitchFamily="49" charset="-122"/>
                <a:ea typeface="楷体" panose="02010609060101010101" pitchFamily="49" charset="-122"/>
              </a:rPr>
              <a:t>射频接收</a:t>
            </a:r>
            <a:r>
              <a:rPr lang="zh-CN" altLang="zh-CN" sz="1600" dirty="0">
                <a:solidFill>
                  <a:schemeClr val="tx1"/>
                </a:solidFill>
                <a:latin typeface="楷体" panose="02010609060101010101" pitchFamily="49" charset="-122"/>
                <a:ea typeface="楷体" panose="02010609060101010101" pitchFamily="49" charset="-122"/>
              </a:rPr>
              <a:t>增益提升</a:t>
            </a:r>
            <a:endParaRPr lang="en-US" altLang="zh-CN" sz="1600" dirty="0">
              <a:solidFill>
                <a:schemeClr val="tx1"/>
              </a:solidFill>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r>
              <a:rPr lang="zh-CN" altLang="zh-CN" sz="1600" dirty="0">
                <a:solidFill>
                  <a:schemeClr val="tx1"/>
                </a:solidFill>
                <a:latin typeface="楷体" panose="02010609060101010101" pitchFamily="49" charset="-122"/>
                <a:ea typeface="楷体" panose="02010609060101010101" pitchFamily="49" charset="-122"/>
              </a:rPr>
              <a:t>超宽带低噪声放大器</a:t>
            </a:r>
            <a:endParaRPr lang="en-US" altLang="zh-CN" sz="1600" dirty="0">
              <a:solidFill>
                <a:schemeClr val="tx1"/>
              </a:solidFill>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r>
              <a:rPr lang="zh-CN" altLang="zh-CN" sz="1600" dirty="0">
                <a:solidFill>
                  <a:schemeClr val="tx1"/>
                </a:solidFill>
                <a:latin typeface="楷体" panose="02010609060101010101" pitchFamily="49" charset="-122"/>
                <a:ea typeface="楷体" panose="02010609060101010101" pitchFamily="49" charset="-122"/>
              </a:rPr>
              <a:t>宽带化小型化接收天线</a:t>
            </a:r>
          </a:p>
        </p:txBody>
      </p:sp>
      <p:sp>
        <p:nvSpPr>
          <p:cNvPr id="187" name="矩形 186"/>
          <p:cNvSpPr/>
          <p:nvPr/>
        </p:nvSpPr>
        <p:spPr>
          <a:xfrm>
            <a:off x="4586929" y="4969151"/>
            <a:ext cx="3896340" cy="1077688"/>
          </a:xfrm>
          <a:prstGeom prst="rect">
            <a:avLst/>
          </a:prstGeom>
          <a:solidFill>
            <a:schemeClr val="bg1"/>
          </a:solidFill>
          <a:ln>
            <a:solidFill>
              <a:schemeClr val="accent3">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zh-CN" altLang="en-US" sz="1600" dirty="0">
                <a:solidFill>
                  <a:schemeClr val="tx1"/>
                </a:solidFill>
                <a:latin typeface="楷体" panose="02010609060101010101" pitchFamily="49" charset="-122"/>
                <a:ea typeface="楷体" panose="02010609060101010101" pitchFamily="49" charset="-122"/>
              </a:rPr>
              <a:t>次奈奎斯特高速采样技术</a:t>
            </a:r>
            <a:endParaRPr lang="en-US" altLang="zh-CN" sz="1600" dirty="0">
              <a:solidFill>
                <a:schemeClr val="tx1"/>
              </a:solidFill>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r>
              <a:rPr lang="zh-CN" altLang="en-US" sz="1600" dirty="0">
                <a:solidFill>
                  <a:schemeClr val="tx1"/>
                </a:solidFill>
                <a:latin typeface="楷体" panose="02010609060101010101" pitchFamily="49" charset="-122"/>
                <a:ea typeface="楷体" panose="02010609060101010101" pitchFamily="49" charset="-122"/>
              </a:rPr>
              <a:t>融合压缩感知</a:t>
            </a:r>
          </a:p>
        </p:txBody>
      </p:sp>
      <p:cxnSp>
        <p:nvCxnSpPr>
          <p:cNvPr id="188" name="直接箭头连接符 187"/>
          <p:cNvCxnSpPr/>
          <p:nvPr/>
        </p:nvCxnSpPr>
        <p:spPr>
          <a:xfrm>
            <a:off x="1606417" y="5394030"/>
            <a:ext cx="416271" cy="0"/>
          </a:xfrm>
          <a:prstGeom prst="straightConnector1">
            <a:avLst/>
          </a:prstGeom>
          <a:ln w="38100">
            <a:solidFill>
              <a:srgbClr val="0043A8"/>
            </a:solidFill>
            <a:tailEnd type="triangle"/>
          </a:ln>
        </p:spPr>
        <p:style>
          <a:lnRef idx="1">
            <a:schemeClr val="accent1"/>
          </a:lnRef>
          <a:fillRef idx="0">
            <a:schemeClr val="accent1"/>
          </a:fillRef>
          <a:effectRef idx="0">
            <a:schemeClr val="accent1"/>
          </a:effectRef>
          <a:fontRef idx="minor">
            <a:schemeClr val="tx1"/>
          </a:fontRef>
        </p:style>
      </p:cxnSp>
      <p:sp>
        <p:nvSpPr>
          <p:cNvPr id="202" name="圆角矩形 201"/>
          <p:cNvSpPr/>
          <p:nvPr>
            <p:custDataLst>
              <p:tags r:id="rId5"/>
            </p:custDataLst>
          </p:nvPr>
        </p:nvSpPr>
        <p:spPr>
          <a:xfrm>
            <a:off x="9158600" y="1260011"/>
            <a:ext cx="2824592" cy="465258"/>
          </a:xfrm>
          <a:prstGeom prst="roundRect">
            <a:avLst>
              <a:gd name="adj" fmla="val 50000"/>
            </a:avLst>
          </a:prstGeom>
          <a:solidFill>
            <a:srgbClr val="0043A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marL="338455" indent="-234950" algn="ctr" rtl="0" eaLnBrk="0" fontAlgn="auto">
              <a:lnSpc>
                <a:spcPct val="100000"/>
              </a:lnSpc>
              <a:spcBef>
                <a:spcPts val="900"/>
              </a:spcBef>
            </a:pPr>
            <a:r>
              <a:rPr lang="zh-CN" altLang="en-US" sz="2000" b="1" kern="100" spc="30" dirty="0">
                <a:solidFill>
                  <a:schemeClr val="bg1"/>
                </a:solidFill>
                <a:latin typeface="微软雅黑" panose="020B0503020204020204" charset="-122"/>
                <a:ea typeface="微软雅黑" panose="020B0503020204020204" charset="-122"/>
                <a:cs typeface="Times New Roman" panose="02020603050405020304" pitchFamily="18" charset="0"/>
                <a:sym typeface="+mn-ea"/>
              </a:rPr>
              <a:t>研究目标</a:t>
            </a:r>
            <a:endParaRPr lang="zh-CN" altLang="en-US" sz="2000" b="1" kern="100" spc="30" dirty="0">
              <a:solidFill>
                <a:schemeClr val="bg1"/>
              </a:solidFill>
              <a:effectLst/>
              <a:latin typeface="微软雅黑" panose="020B0503020204020204" charset="-122"/>
              <a:ea typeface="微软雅黑" panose="020B0503020204020204" charset="-122"/>
              <a:cs typeface="Times New Roman" panose="02020603050405020304" pitchFamily="18" charset="0"/>
              <a:sym typeface="+mn-ea"/>
            </a:endParaRPr>
          </a:p>
        </p:txBody>
      </p:sp>
      <p:sp>
        <p:nvSpPr>
          <p:cNvPr id="203" name="矩形 202"/>
          <p:cNvSpPr/>
          <p:nvPr/>
        </p:nvSpPr>
        <p:spPr>
          <a:xfrm>
            <a:off x="9422128" y="1949991"/>
            <a:ext cx="2371540" cy="1522034"/>
          </a:xfrm>
          <a:prstGeom prst="rect">
            <a:avLst/>
          </a:prstGeom>
          <a:solidFill>
            <a:schemeClr val="bg1"/>
          </a:solidFill>
          <a:ln>
            <a:solidFill>
              <a:schemeClr val="accent3">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楷体" panose="02010609060101010101" pitchFamily="49" charset="-122"/>
                <a:ea typeface="楷体" panose="02010609060101010101" pitchFamily="49" charset="-122"/>
              </a:rPr>
              <a:t>构建超宽带、低功耗、小型化射频前端接收系统</a:t>
            </a:r>
          </a:p>
        </p:txBody>
      </p:sp>
      <p:sp>
        <p:nvSpPr>
          <p:cNvPr id="204" name="矩形 203"/>
          <p:cNvSpPr/>
          <p:nvPr/>
        </p:nvSpPr>
        <p:spPr>
          <a:xfrm>
            <a:off x="9422128" y="4278873"/>
            <a:ext cx="2371540" cy="1522034"/>
          </a:xfrm>
          <a:prstGeom prst="rect">
            <a:avLst/>
          </a:prstGeom>
          <a:solidFill>
            <a:schemeClr val="bg1"/>
          </a:solidFill>
          <a:ln>
            <a:solidFill>
              <a:schemeClr val="accent3">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楷体" panose="02010609060101010101" pitchFamily="49" charset="-122"/>
                <a:ea typeface="楷体" panose="02010609060101010101" pitchFamily="49" charset="-122"/>
              </a:rPr>
              <a:t>构建面向</a:t>
            </a:r>
            <a:r>
              <a:rPr lang="zh-CN" altLang="zh-CN" dirty="0">
                <a:solidFill>
                  <a:schemeClr val="tx1"/>
                </a:solidFill>
                <a:latin typeface="楷体" panose="02010609060101010101" pitchFamily="49" charset="-122"/>
                <a:ea typeface="楷体" panose="02010609060101010101" pitchFamily="49" charset="-122"/>
              </a:rPr>
              <a:t>超宽带</a:t>
            </a:r>
            <a:r>
              <a:rPr lang="zh-CN" altLang="en-US" dirty="0">
                <a:solidFill>
                  <a:schemeClr val="tx1"/>
                </a:solidFill>
                <a:latin typeface="楷体" panose="02010609060101010101" pitchFamily="49" charset="-122"/>
                <a:ea typeface="楷体" panose="02010609060101010101" pitchFamily="49" charset="-122"/>
              </a:rPr>
              <a:t>卫星</a:t>
            </a:r>
            <a:r>
              <a:rPr lang="zh-CN" altLang="zh-CN" dirty="0">
                <a:solidFill>
                  <a:schemeClr val="tx1"/>
                </a:solidFill>
                <a:latin typeface="楷体" panose="02010609060101010101" pitchFamily="49" charset="-122"/>
                <a:ea typeface="楷体" panose="02010609060101010101" pitchFamily="49" charset="-122"/>
              </a:rPr>
              <a:t>信号</a:t>
            </a:r>
            <a:r>
              <a:rPr lang="zh-CN" altLang="en-US" dirty="0">
                <a:solidFill>
                  <a:schemeClr val="tx1"/>
                </a:solidFill>
                <a:latin typeface="楷体" panose="02010609060101010101" pitchFamily="49" charset="-122"/>
                <a:ea typeface="楷体" panose="02010609060101010101" pitchFamily="49" charset="-122"/>
              </a:rPr>
              <a:t>侦收</a:t>
            </a:r>
            <a:r>
              <a:rPr lang="zh-CN" altLang="zh-CN" dirty="0">
                <a:solidFill>
                  <a:schemeClr val="tx1"/>
                </a:solidFill>
                <a:latin typeface="楷体" panose="02010609060101010101" pitchFamily="49" charset="-122"/>
                <a:ea typeface="楷体" panose="02010609060101010101" pitchFamily="49" charset="-122"/>
              </a:rPr>
              <a:t>的</a:t>
            </a:r>
            <a:r>
              <a:rPr lang="zh-CN" altLang="en-US" dirty="0">
                <a:solidFill>
                  <a:schemeClr val="tx1"/>
                </a:solidFill>
                <a:latin typeface="楷体" panose="02010609060101010101" pitchFamily="49" charset="-122"/>
                <a:ea typeface="楷体" panose="02010609060101010101" pitchFamily="49" charset="-122"/>
              </a:rPr>
              <a:t>高速采样技术</a:t>
            </a:r>
            <a:endParaRPr lang="en-US" altLang="zh-CN" dirty="0">
              <a:solidFill>
                <a:schemeClr val="tx1"/>
              </a:solidFill>
              <a:latin typeface="楷体" panose="02010609060101010101" pitchFamily="49" charset="-122"/>
              <a:ea typeface="楷体" panose="02010609060101010101" pitchFamily="49" charset="-122"/>
            </a:endParaRPr>
          </a:p>
        </p:txBody>
      </p:sp>
      <p:sp>
        <p:nvSpPr>
          <p:cNvPr id="205" name="右箭头 204"/>
          <p:cNvSpPr/>
          <p:nvPr/>
        </p:nvSpPr>
        <p:spPr>
          <a:xfrm>
            <a:off x="3429117" y="3501630"/>
            <a:ext cx="569060" cy="833848"/>
          </a:xfrm>
          <a:prstGeom prst="rightArrow">
            <a:avLst/>
          </a:prstGeom>
          <a:solidFill>
            <a:srgbClr val="0043A8"/>
          </a:solidFill>
          <a:ln>
            <a:solidFill>
              <a:srgbClr val="0043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0" name="直接箭头连接符 209"/>
          <p:cNvCxnSpPr/>
          <p:nvPr/>
        </p:nvCxnSpPr>
        <p:spPr>
          <a:xfrm>
            <a:off x="4412520" y="2725238"/>
            <a:ext cx="16271" cy="14619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4" name="文本框 213"/>
          <p:cNvSpPr txBox="1"/>
          <p:nvPr/>
        </p:nvSpPr>
        <p:spPr>
          <a:xfrm>
            <a:off x="4094866" y="2979166"/>
            <a:ext cx="241159" cy="954107"/>
          </a:xfrm>
          <a:prstGeom prst="rect">
            <a:avLst/>
          </a:prstGeom>
          <a:noFill/>
        </p:spPr>
        <p:txBody>
          <a:bodyPr wrap="square" rtlCol="0">
            <a:spAutoFit/>
          </a:bodyPr>
          <a:lstStyle/>
          <a:p>
            <a:pPr algn="ctr"/>
            <a:r>
              <a:rPr lang="zh-CN" altLang="en-US" sz="1400" dirty="0">
                <a:latin typeface="楷体" panose="02010609060101010101" pitchFamily="49" charset="-122"/>
                <a:ea typeface="楷体" panose="02010609060101010101" pitchFamily="49" charset="-122"/>
              </a:rPr>
              <a:t>物理支撑</a:t>
            </a:r>
          </a:p>
        </p:txBody>
      </p:sp>
      <p:sp>
        <p:nvSpPr>
          <p:cNvPr id="2" name="文本框 1"/>
          <p:cNvSpPr txBox="1"/>
          <p:nvPr/>
        </p:nvSpPr>
        <p:spPr>
          <a:xfrm>
            <a:off x="1517861" y="5035114"/>
            <a:ext cx="590538" cy="307777"/>
          </a:xfrm>
          <a:prstGeom prst="rect">
            <a:avLst/>
          </a:prstGeom>
          <a:noFill/>
        </p:spPr>
        <p:txBody>
          <a:bodyPr wrap="square" rtlCol="0">
            <a:spAutoFit/>
          </a:bodyPr>
          <a:lstStyle/>
          <a:p>
            <a:r>
              <a:rPr lang="zh-CN" altLang="en-US" sz="1400" dirty="0">
                <a:latin typeface="楷体" panose="02010609060101010101" pitchFamily="49" charset="-122"/>
                <a:ea typeface="楷体" panose="02010609060101010101" pitchFamily="49" charset="-122"/>
              </a:rPr>
              <a:t>支持</a:t>
            </a:r>
          </a:p>
        </p:txBody>
      </p:sp>
      <p:cxnSp>
        <p:nvCxnSpPr>
          <p:cNvPr id="9" name="直接箭头连接符 8"/>
          <p:cNvCxnSpPr/>
          <p:nvPr/>
        </p:nvCxnSpPr>
        <p:spPr>
          <a:xfrm>
            <a:off x="1808654" y="2611521"/>
            <a:ext cx="0" cy="344049"/>
          </a:xfrm>
          <a:prstGeom prst="straightConnector1">
            <a:avLst/>
          </a:prstGeom>
          <a:ln w="38100">
            <a:solidFill>
              <a:srgbClr val="0043A8"/>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a:off x="1808654" y="3456219"/>
            <a:ext cx="0" cy="344049"/>
          </a:xfrm>
          <a:prstGeom prst="straightConnector1">
            <a:avLst/>
          </a:prstGeom>
          <a:ln w="38100">
            <a:solidFill>
              <a:srgbClr val="0043A8"/>
            </a:solidFill>
            <a:tailEnd type="triangle"/>
          </a:ln>
        </p:spPr>
        <p:style>
          <a:lnRef idx="1">
            <a:schemeClr val="accent1"/>
          </a:lnRef>
          <a:fillRef idx="0">
            <a:schemeClr val="accent1"/>
          </a:fillRef>
          <a:effectRef idx="0">
            <a:schemeClr val="accent1"/>
          </a:effectRef>
          <a:fontRef idx="minor">
            <a:schemeClr val="tx1"/>
          </a:fontRef>
        </p:style>
      </p:cxnSp>
      <p:sp>
        <p:nvSpPr>
          <p:cNvPr id="10" name="右箭头 9"/>
          <p:cNvSpPr/>
          <p:nvPr/>
        </p:nvSpPr>
        <p:spPr>
          <a:xfrm rot="5400000">
            <a:off x="10438388" y="3669375"/>
            <a:ext cx="339020" cy="421540"/>
          </a:xfrm>
          <a:prstGeom prst="rightArrow">
            <a:avLst/>
          </a:prstGeom>
          <a:solidFill>
            <a:srgbClr val="0043A8"/>
          </a:solidFill>
          <a:ln>
            <a:solidFill>
              <a:srgbClr val="0043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右箭头 10"/>
          <p:cNvSpPr/>
          <p:nvPr/>
        </p:nvSpPr>
        <p:spPr>
          <a:xfrm>
            <a:off x="8570757" y="2107888"/>
            <a:ext cx="751043" cy="369332"/>
          </a:xfrm>
          <a:prstGeom prst="rightArrow">
            <a:avLst/>
          </a:prstGeom>
          <a:solidFill>
            <a:srgbClr val="0043A8"/>
          </a:solidFill>
          <a:ln>
            <a:solidFill>
              <a:srgbClr val="0043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右箭头 38"/>
          <p:cNvSpPr/>
          <p:nvPr/>
        </p:nvSpPr>
        <p:spPr>
          <a:xfrm>
            <a:off x="8570756" y="4403087"/>
            <a:ext cx="751043" cy="369332"/>
          </a:xfrm>
          <a:prstGeom prst="rightArrow">
            <a:avLst/>
          </a:prstGeom>
          <a:solidFill>
            <a:srgbClr val="0043A8"/>
          </a:solidFill>
          <a:ln>
            <a:solidFill>
              <a:srgbClr val="0043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矩形 126"/>
          <p:cNvSpPr/>
          <p:nvPr/>
        </p:nvSpPr>
        <p:spPr>
          <a:xfrm>
            <a:off x="9220863" y="3950131"/>
            <a:ext cx="2802837" cy="1203282"/>
          </a:xfrm>
          <a:prstGeom prst="rect">
            <a:avLst/>
          </a:prstGeom>
          <a:solidFill>
            <a:schemeClr val="bg1"/>
          </a:solidFill>
          <a:ln>
            <a:solidFill>
              <a:schemeClr val="accent3">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矩形 125"/>
          <p:cNvSpPr/>
          <p:nvPr/>
        </p:nvSpPr>
        <p:spPr>
          <a:xfrm>
            <a:off x="6331591" y="3950132"/>
            <a:ext cx="2784603" cy="1203281"/>
          </a:xfrm>
          <a:prstGeom prst="rect">
            <a:avLst/>
          </a:prstGeom>
          <a:solidFill>
            <a:schemeClr val="bg1"/>
          </a:solidFill>
          <a:ln>
            <a:solidFill>
              <a:schemeClr val="accent3">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矩形 124"/>
          <p:cNvSpPr/>
          <p:nvPr/>
        </p:nvSpPr>
        <p:spPr>
          <a:xfrm>
            <a:off x="9220863" y="2615559"/>
            <a:ext cx="2802837" cy="1051014"/>
          </a:xfrm>
          <a:prstGeom prst="rect">
            <a:avLst/>
          </a:prstGeom>
          <a:solidFill>
            <a:schemeClr val="bg1"/>
          </a:solidFill>
          <a:ln>
            <a:solidFill>
              <a:schemeClr val="accent3">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accent5">
                    <a:lumMod val="20000"/>
                    <a:lumOff val="80000"/>
                  </a:schemeClr>
                </a:solidFill>
              </a:ln>
            </a:endParaRPr>
          </a:p>
        </p:txBody>
      </p:sp>
      <p:sp>
        <p:nvSpPr>
          <p:cNvPr id="121" name="矩形 120"/>
          <p:cNvSpPr/>
          <p:nvPr/>
        </p:nvSpPr>
        <p:spPr>
          <a:xfrm>
            <a:off x="6308642" y="2630053"/>
            <a:ext cx="2799798" cy="1036520"/>
          </a:xfrm>
          <a:prstGeom prst="rect">
            <a:avLst/>
          </a:prstGeom>
          <a:solidFill>
            <a:schemeClr val="bg1"/>
          </a:solidFill>
          <a:ln>
            <a:solidFill>
              <a:schemeClr val="accent3">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182880" y="1053874"/>
            <a:ext cx="5751871" cy="5523907"/>
          </a:xfrm>
          <a:prstGeom prst="rect">
            <a:avLst/>
          </a:prstGeom>
          <a:noFill/>
          <a:ln>
            <a:solidFill>
              <a:srgbClr val="0043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custDataLst>
              <p:tags r:id="rId2"/>
            </p:custDataLst>
          </p:nvPr>
        </p:nvCxnSpPr>
        <p:spPr>
          <a:xfrm>
            <a:off x="414024" y="245115"/>
            <a:ext cx="5080" cy="439420"/>
          </a:xfrm>
          <a:prstGeom prst="line">
            <a:avLst/>
          </a:prstGeom>
          <a:ln w="101600">
            <a:solidFill>
              <a:srgbClr val="0043A8"/>
            </a:solidFill>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227396" y="1920662"/>
            <a:ext cx="2864283" cy="1733667"/>
          </a:xfrm>
          <a:prstGeom prst="rect">
            <a:avLst/>
          </a:prstGeom>
          <a:solidFill>
            <a:schemeClr val="bg1"/>
          </a:solidFill>
          <a:ln>
            <a:solidFill>
              <a:schemeClr val="accent3">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灯片编号占位符 3"/>
          <p:cNvSpPr>
            <a:spLocks noGrp="1"/>
          </p:cNvSpPr>
          <p:nvPr>
            <p:ph type="sldNum" sz="quarter" idx="12"/>
          </p:nvPr>
        </p:nvSpPr>
        <p:spPr/>
        <p:txBody>
          <a:bodyPr/>
          <a:lstStyle/>
          <a:p>
            <a:fld id="{E077DA78-E013-4A8C-AD75-63A150561B10}" type="slidenum">
              <a:rPr lang="zh-CN" altLang="en-US" smtClean="0"/>
              <a:t>2</a:t>
            </a:fld>
            <a:endParaRPr lang="zh-CN" altLang="en-US"/>
          </a:p>
        </p:txBody>
      </p:sp>
      <p:pic>
        <p:nvPicPr>
          <p:cNvPr id="49" name="图片 48"/>
          <p:cNvPicPr/>
          <p:nvPr/>
        </p:nvPicPr>
        <p:blipFill>
          <a:blip r:embed="rId8" cstate="print">
            <a:extLst>
              <a:ext uri="{28A0092B-C50C-407E-A947-70E740481C1C}">
                <a14:useLocalDpi xmlns:a14="http://schemas.microsoft.com/office/drawing/2010/main" val="0"/>
              </a:ext>
            </a:extLst>
          </a:blip>
          <a:srcRect r="27418"/>
          <a:stretch>
            <a:fillRect/>
          </a:stretch>
        </p:blipFill>
        <p:spPr>
          <a:xfrm>
            <a:off x="273845" y="1919852"/>
            <a:ext cx="2762250" cy="1706780"/>
          </a:xfrm>
          <a:prstGeom prst="rect">
            <a:avLst/>
          </a:prstGeom>
          <a:solidFill>
            <a:schemeClr val="bg1"/>
          </a:solidFill>
          <a:ln>
            <a:noFill/>
            <a:prstDash val="dash"/>
          </a:ln>
        </p:spPr>
      </p:pic>
      <p:sp>
        <p:nvSpPr>
          <p:cNvPr id="2" name="文本框 6"/>
          <p:cNvSpPr txBox="1"/>
          <p:nvPr>
            <p:custDataLst>
              <p:tags r:id="rId3"/>
            </p:custDataLst>
          </p:nvPr>
        </p:nvSpPr>
        <p:spPr>
          <a:xfrm>
            <a:off x="647700" y="83820"/>
            <a:ext cx="8460740" cy="7620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marL="0" indent="0" algn="l">
              <a:lnSpc>
                <a:spcPct val="100000"/>
              </a:lnSpc>
              <a:spcBef>
                <a:spcPts val="0"/>
              </a:spcBef>
              <a:spcAft>
                <a:spcPts val="0"/>
              </a:spcAft>
              <a:buSzPct val="100000"/>
              <a:buNone/>
            </a:pPr>
            <a:r>
              <a:rPr lang="zh-CN" altLang="en-US" sz="3000" dirty="0">
                <a:solidFill>
                  <a:srgbClr val="0043A8"/>
                </a:solidFill>
              </a:rPr>
              <a:t>技术路线二：轻量化空口</a:t>
            </a:r>
            <a:r>
              <a:rPr lang="en-US" altLang="zh-CN" sz="3000" dirty="0">
                <a:solidFill>
                  <a:srgbClr val="0043A8"/>
                </a:solidFill>
              </a:rPr>
              <a:t>AI</a:t>
            </a:r>
            <a:r>
              <a:rPr lang="zh-CN" altLang="en-US" sz="3000" dirty="0">
                <a:solidFill>
                  <a:srgbClr val="0043A8"/>
                </a:solidFill>
              </a:rPr>
              <a:t>软硬件协同处理方法</a:t>
            </a:r>
          </a:p>
        </p:txBody>
      </p:sp>
      <p:pic>
        <p:nvPicPr>
          <p:cNvPr id="54" name="图片 53"/>
          <p:cNvPicPr/>
          <p:nvPr/>
        </p:nvPicPr>
        <p:blipFill>
          <a:blip r:embed="rId9"/>
          <a:stretch>
            <a:fillRect/>
          </a:stretch>
        </p:blipFill>
        <p:spPr>
          <a:xfrm>
            <a:off x="6331591" y="2652384"/>
            <a:ext cx="2747287" cy="708352"/>
          </a:xfrm>
          <a:prstGeom prst="rect">
            <a:avLst/>
          </a:prstGeom>
        </p:spPr>
      </p:pic>
      <p:pic>
        <p:nvPicPr>
          <p:cNvPr id="55" name="图片 54"/>
          <p:cNvPicPr/>
          <p:nvPr/>
        </p:nvPicPr>
        <p:blipFill>
          <a:blip r:embed="rId10" cstate="print">
            <a:extLst>
              <a:ext uri="{28A0092B-C50C-407E-A947-70E740481C1C}">
                <a14:useLocalDpi xmlns:a14="http://schemas.microsoft.com/office/drawing/2010/main" val="0"/>
              </a:ext>
            </a:extLst>
          </a:blip>
          <a:stretch>
            <a:fillRect/>
          </a:stretch>
        </p:blipFill>
        <p:spPr>
          <a:xfrm>
            <a:off x="6357779" y="3999782"/>
            <a:ext cx="2721099" cy="804906"/>
          </a:xfrm>
          <a:prstGeom prst="rect">
            <a:avLst/>
          </a:prstGeom>
        </p:spPr>
      </p:pic>
      <p:pic>
        <p:nvPicPr>
          <p:cNvPr id="68" name="图片 67"/>
          <p:cNvPicPr/>
          <p:nvPr/>
        </p:nvPicPr>
        <p:blipFill>
          <a:blip r:embed="rId11" cstate="print">
            <a:extLst>
              <a:ext uri="{28A0092B-C50C-407E-A947-70E740481C1C}">
                <a14:useLocalDpi xmlns:a14="http://schemas.microsoft.com/office/drawing/2010/main" val="0"/>
              </a:ext>
            </a:extLst>
          </a:blip>
          <a:srcRect/>
          <a:stretch>
            <a:fillRect/>
          </a:stretch>
        </p:blipFill>
        <p:spPr>
          <a:xfrm>
            <a:off x="9282112" y="2646902"/>
            <a:ext cx="2705377" cy="673613"/>
          </a:xfrm>
          <a:prstGeom prst="rect">
            <a:avLst/>
          </a:prstGeom>
          <a:noFill/>
          <a:ln>
            <a:noFill/>
          </a:ln>
        </p:spPr>
      </p:pic>
      <p:pic>
        <p:nvPicPr>
          <p:cNvPr id="69" name="图片 68"/>
          <p:cNvPicPr/>
          <p:nvPr/>
        </p:nvPicPr>
        <p:blipFill>
          <a:blip r:embed="rId12" cstate="print">
            <a:extLst>
              <a:ext uri="{28A0092B-C50C-407E-A947-70E740481C1C}">
                <a14:useLocalDpi xmlns:a14="http://schemas.microsoft.com/office/drawing/2010/main" val="0"/>
              </a:ext>
            </a:extLst>
          </a:blip>
          <a:stretch>
            <a:fillRect/>
          </a:stretch>
        </p:blipFill>
        <p:spPr>
          <a:xfrm>
            <a:off x="9250681" y="4009537"/>
            <a:ext cx="2743200" cy="772232"/>
          </a:xfrm>
          <a:prstGeom prst="rect">
            <a:avLst/>
          </a:prstGeom>
        </p:spPr>
      </p:pic>
      <p:sp>
        <p:nvSpPr>
          <p:cNvPr id="71" name="圆角矩形 70"/>
          <p:cNvSpPr/>
          <p:nvPr>
            <p:custDataLst>
              <p:tags r:id="rId4"/>
            </p:custDataLst>
          </p:nvPr>
        </p:nvSpPr>
        <p:spPr>
          <a:xfrm>
            <a:off x="241873" y="834941"/>
            <a:ext cx="5633884" cy="465258"/>
          </a:xfrm>
          <a:prstGeom prst="roundRect">
            <a:avLst>
              <a:gd name="adj" fmla="val 50000"/>
            </a:avLst>
          </a:prstGeom>
          <a:solidFill>
            <a:srgbClr val="0043A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marL="338455" indent="-234950" algn="ctr" eaLnBrk="0">
              <a:spcBef>
                <a:spcPts val="900"/>
              </a:spcBef>
            </a:pPr>
            <a:r>
              <a:rPr lang="zh-CN" altLang="zh-CN" dirty="0"/>
              <a:t>全频段超宽带小型化微波射频模块及接收天线</a:t>
            </a:r>
            <a:r>
              <a:rPr lang="zh-CN" altLang="en-US" dirty="0"/>
              <a:t>研究</a:t>
            </a:r>
            <a:endParaRPr lang="zh-CN" altLang="zh-CN" dirty="0"/>
          </a:p>
        </p:txBody>
      </p:sp>
      <p:sp>
        <p:nvSpPr>
          <p:cNvPr id="11" name="矩形 10"/>
          <p:cNvSpPr/>
          <p:nvPr/>
        </p:nvSpPr>
        <p:spPr>
          <a:xfrm>
            <a:off x="230935" y="1548504"/>
            <a:ext cx="2861852" cy="372159"/>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600" dirty="0">
                <a:solidFill>
                  <a:schemeClr val="tx1"/>
                </a:solidFill>
                <a:latin typeface="楷体" panose="02010609060101010101" pitchFamily="49" charset="-122"/>
                <a:ea typeface="楷体" panose="02010609060101010101" pitchFamily="49" charset="-122"/>
              </a:rPr>
              <a:t>有源器件结构优化与宽带建模</a:t>
            </a:r>
            <a:endParaRPr lang="zh-CN" altLang="en-US" sz="1600" dirty="0">
              <a:solidFill>
                <a:schemeClr val="tx1"/>
              </a:solidFill>
              <a:latin typeface="楷体" panose="02010609060101010101" pitchFamily="49" charset="-122"/>
              <a:ea typeface="楷体" panose="02010609060101010101" pitchFamily="49" charset="-122"/>
            </a:endParaRPr>
          </a:p>
        </p:txBody>
      </p:sp>
      <p:sp>
        <p:nvSpPr>
          <p:cNvPr id="72" name="矩形 71"/>
          <p:cNvSpPr/>
          <p:nvPr/>
        </p:nvSpPr>
        <p:spPr>
          <a:xfrm>
            <a:off x="3186873" y="1919852"/>
            <a:ext cx="2717273" cy="1734477"/>
          </a:xfrm>
          <a:prstGeom prst="rect">
            <a:avLst/>
          </a:prstGeom>
          <a:solidFill>
            <a:schemeClr val="bg1"/>
          </a:solidFill>
          <a:ln>
            <a:solidFill>
              <a:schemeClr val="accent3">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1" name="图片 50"/>
          <p:cNvPicPr/>
          <p:nvPr/>
        </p:nvPicPr>
        <p:blipFill>
          <a:blip r:embed="rId13" cstate="print">
            <a:extLst>
              <a:ext uri="{28A0092B-C50C-407E-A947-70E740481C1C}">
                <a14:useLocalDpi xmlns:a14="http://schemas.microsoft.com/office/drawing/2010/main" val="0"/>
              </a:ext>
            </a:extLst>
          </a:blip>
          <a:srcRect/>
          <a:stretch>
            <a:fillRect/>
          </a:stretch>
        </p:blipFill>
        <p:spPr>
          <a:xfrm>
            <a:off x="3204150" y="2021820"/>
            <a:ext cx="2700040" cy="1042303"/>
          </a:xfrm>
          <a:prstGeom prst="rect">
            <a:avLst/>
          </a:prstGeom>
          <a:noFill/>
          <a:ln>
            <a:noFill/>
          </a:ln>
        </p:spPr>
      </p:pic>
      <p:sp>
        <p:nvSpPr>
          <p:cNvPr id="74" name="矩形 73"/>
          <p:cNvSpPr/>
          <p:nvPr/>
        </p:nvSpPr>
        <p:spPr>
          <a:xfrm>
            <a:off x="3180169" y="1537015"/>
            <a:ext cx="2723977" cy="382837"/>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楷体" panose="02010609060101010101" pitchFamily="49" charset="-122"/>
                <a:ea typeface="楷体" panose="02010609060101010101" pitchFamily="49" charset="-122"/>
              </a:rPr>
              <a:t>射频</a:t>
            </a:r>
            <a:r>
              <a:rPr lang="zh-CN" altLang="zh-CN" sz="1600" dirty="0">
                <a:solidFill>
                  <a:schemeClr val="tx1"/>
                </a:solidFill>
                <a:latin typeface="楷体" panose="02010609060101010101" pitchFamily="49" charset="-122"/>
                <a:ea typeface="楷体" panose="02010609060101010101" pitchFamily="49" charset="-122"/>
              </a:rPr>
              <a:t>接收系统增益提升</a:t>
            </a:r>
            <a:r>
              <a:rPr lang="zh-CN" altLang="en-US" sz="1600" dirty="0">
                <a:solidFill>
                  <a:schemeClr val="tx1"/>
                </a:solidFill>
                <a:latin typeface="楷体" panose="02010609060101010101" pitchFamily="49" charset="-122"/>
                <a:ea typeface="楷体" panose="02010609060101010101" pitchFamily="49" charset="-122"/>
              </a:rPr>
              <a:t>技术</a:t>
            </a:r>
          </a:p>
        </p:txBody>
      </p:sp>
      <p:sp>
        <p:nvSpPr>
          <p:cNvPr id="75" name="矩形 74"/>
          <p:cNvSpPr/>
          <p:nvPr/>
        </p:nvSpPr>
        <p:spPr>
          <a:xfrm>
            <a:off x="3193300" y="4350511"/>
            <a:ext cx="2699536" cy="2008543"/>
          </a:xfrm>
          <a:prstGeom prst="rect">
            <a:avLst/>
          </a:prstGeom>
          <a:solidFill>
            <a:schemeClr val="bg1"/>
          </a:solidFill>
          <a:ln>
            <a:solidFill>
              <a:schemeClr val="accent3">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76"/>
          <p:cNvSpPr/>
          <p:nvPr/>
        </p:nvSpPr>
        <p:spPr>
          <a:xfrm>
            <a:off x="3192181" y="3919858"/>
            <a:ext cx="2711965" cy="430653"/>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600" dirty="0">
                <a:solidFill>
                  <a:schemeClr val="tx1"/>
                </a:solidFill>
                <a:latin typeface="楷体" panose="02010609060101010101" pitchFamily="49" charset="-122"/>
                <a:ea typeface="楷体" panose="02010609060101010101" pitchFamily="49" charset="-122"/>
              </a:rPr>
              <a:t>超宽带</a:t>
            </a:r>
            <a:r>
              <a:rPr lang="zh-CN" altLang="en-US" sz="1600" dirty="0">
                <a:solidFill>
                  <a:schemeClr val="tx1"/>
                </a:solidFill>
                <a:latin typeface="楷体" panose="02010609060101010101" pitchFamily="49" charset="-122"/>
                <a:ea typeface="楷体" panose="02010609060101010101" pitchFamily="49" charset="-122"/>
              </a:rPr>
              <a:t>低噪放研究</a:t>
            </a:r>
          </a:p>
        </p:txBody>
      </p:sp>
      <p:pic>
        <p:nvPicPr>
          <p:cNvPr id="53" name="図 10"/>
          <p:cNvPicPr/>
          <p:nvPr/>
        </p:nvPicPr>
        <p:blipFill>
          <a:blip r:embed="rId14" cstate="print">
            <a:extLst>
              <a:ext uri="{28A0092B-C50C-407E-A947-70E740481C1C}">
                <a14:useLocalDpi xmlns:a14="http://schemas.microsoft.com/office/drawing/2010/main" val="0"/>
              </a:ext>
            </a:extLst>
          </a:blip>
          <a:srcRect/>
          <a:stretch>
            <a:fillRect/>
          </a:stretch>
        </p:blipFill>
        <p:spPr>
          <a:xfrm>
            <a:off x="3194242" y="4569444"/>
            <a:ext cx="2692695" cy="1006694"/>
          </a:xfrm>
          <a:prstGeom prst="rect">
            <a:avLst/>
          </a:prstGeom>
          <a:noFill/>
          <a:ln>
            <a:noFill/>
          </a:ln>
        </p:spPr>
      </p:pic>
      <p:sp>
        <p:nvSpPr>
          <p:cNvPr id="78" name="矩形 77"/>
          <p:cNvSpPr/>
          <p:nvPr/>
        </p:nvSpPr>
        <p:spPr>
          <a:xfrm>
            <a:off x="246075" y="4361842"/>
            <a:ext cx="2809395" cy="1997213"/>
          </a:xfrm>
          <a:prstGeom prst="rect">
            <a:avLst/>
          </a:prstGeom>
          <a:solidFill>
            <a:schemeClr val="bg1"/>
          </a:solidFill>
          <a:ln>
            <a:solidFill>
              <a:schemeClr val="accent3">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nvSpPr>
        <p:spPr>
          <a:xfrm>
            <a:off x="241289" y="3931191"/>
            <a:ext cx="2832561" cy="430653"/>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600" dirty="0">
                <a:solidFill>
                  <a:schemeClr val="tx1"/>
                </a:solidFill>
                <a:latin typeface="楷体" panose="02010609060101010101" pitchFamily="49" charset="-122"/>
                <a:ea typeface="楷体" panose="02010609060101010101" pitchFamily="49" charset="-122"/>
              </a:rPr>
              <a:t>宽带化小型化接收天线</a:t>
            </a:r>
            <a:r>
              <a:rPr lang="zh-CN" altLang="en-US" sz="1600" dirty="0">
                <a:solidFill>
                  <a:schemeClr val="tx1"/>
                </a:solidFill>
                <a:latin typeface="楷体" panose="02010609060101010101" pitchFamily="49" charset="-122"/>
                <a:ea typeface="楷体" panose="02010609060101010101" pitchFamily="49" charset="-122"/>
              </a:rPr>
              <a:t>研究</a:t>
            </a:r>
          </a:p>
        </p:txBody>
      </p:sp>
      <p:sp>
        <p:nvSpPr>
          <p:cNvPr id="28" name="矩形 27"/>
          <p:cNvSpPr/>
          <p:nvPr/>
        </p:nvSpPr>
        <p:spPr>
          <a:xfrm>
            <a:off x="3231195" y="3175222"/>
            <a:ext cx="1274095" cy="329495"/>
          </a:xfrm>
          <a:prstGeom prst="rect">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latin typeface="楷体" panose="02010609060101010101" pitchFamily="49" charset="-122"/>
                <a:ea typeface="楷体" panose="02010609060101010101" pitchFamily="49" charset="-122"/>
              </a:rPr>
              <a:t>传统结构</a:t>
            </a:r>
            <a:r>
              <a:rPr lang="zh-CN" altLang="zh-CN" sz="1000" dirty="0">
                <a:solidFill>
                  <a:schemeClr val="tx1"/>
                </a:solidFill>
                <a:latin typeface="楷体" panose="02010609060101010101" pitchFamily="49" charset="-122"/>
                <a:ea typeface="楷体" panose="02010609060101010101" pitchFamily="49" charset="-122"/>
              </a:rPr>
              <a:t>最大可达增益</a:t>
            </a:r>
            <a:endParaRPr lang="zh-CN" altLang="en-US" sz="1000" dirty="0">
              <a:solidFill>
                <a:schemeClr val="tx1"/>
              </a:solidFill>
              <a:latin typeface="楷体" panose="02010609060101010101" pitchFamily="49" charset="-122"/>
              <a:ea typeface="楷体" panose="02010609060101010101" pitchFamily="49" charset="-122"/>
            </a:endParaRPr>
          </a:p>
        </p:txBody>
      </p:sp>
      <p:sp>
        <p:nvSpPr>
          <p:cNvPr id="81" name="矩形 80"/>
          <p:cNvSpPr/>
          <p:nvPr/>
        </p:nvSpPr>
        <p:spPr>
          <a:xfrm>
            <a:off x="4592672" y="3176188"/>
            <a:ext cx="1274095" cy="328529"/>
          </a:xfrm>
          <a:prstGeom prst="rect">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000" dirty="0">
                <a:solidFill>
                  <a:schemeClr val="tx1"/>
                </a:solidFill>
                <a:latin typeface="楷体" panose="02010609060101010101" pitchFamily="49" charset="-122"/>
                <a:ea typeface="楷体" panose="02010609060101010101" pitchFamily="49" charset="-122"/>
              </a:rPr>
              <a:t>漏栅间无源网络</a:t>
            </a:r>
            <a:r>
              <a:rPr lang="zh-CN" altLang="en-US" sz="1000" dirty="0">
                <a:solidFill>
                  <a:schemeClr val="tx1"/>
                </a:solidFill>
                <a:latin typeface="楷体" panose="02010609060101010101" pitchFamily="49" charset="-122"/>
                <a:ea typeface="楷体" panose="02010609060101010101" pitchFamily="49" charset="-122"/>
              </a:rPr>
              <a:t>提升增益</a:t>
            </a:r>
          </a:p>
        </p:txBody>
      </p:sp>
      <p:sp>
        <p:nvSpPr>
          <p:cNvPr id="82" name="矩形 81"/>
          <p:cNvSpPr/>
          <p:nvPr/>
        </p:nvSpPr>
        <p:spPr>
          <a:xfrm>
            <a:off x="3231195" y="5787754"/>
            <a:ext cx="1132467" cy="388445"/>
          </a:xfrm>
          <a:prstGeom prst="rect">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buFont typeface="Arial" panose="020B0604020202020204" pitchFamily="34" charset="0"/>
              <a:buChar char="•"/>
            </a:pPr>
            <a:r>
              <a:rPr lang="zh-CN" altLang="en-US" sz="1000" dirty="0">
                <a:solidFill>
                  <a:schemeClr val="tx1"/>
                </a:solidFill>
                <a:latin typeface="楷体" panose="02010609060101010101" pitchFamily="49" charset="-122"/>
                <a:ea typeface="楷体" panose="02010609060101010101" pitchFamily="49" charset="-122"/>
              </a:rPr>
              <a:t>噪声对消</a:t>
            </a:r>
            <a:endParaRPr lang="en-US" altLang="zh-CN" sz="1000" dirty="0">
              <a:solidFill>
                <a:schemeClr val="tx1"/>
              </a:solidFill>
              <a:latin typeface="楷体" panose="02010609060101010101" pitchFamily="49" charset="-122"/>
              <a:ea typeface="楷体" panose="02010609060101010101" pitchFamily="49" charset="-122"/>
            </a:endParaRPr>
          </a:p>
          <a:p>
            <a:pPr marL="171450" indent="-171450" algn="ctr">
              <a:buFont typeface="Arial" panose="020B0604020202020204" pitchFamily="34" charset="0"/>
              <a:buChar char="•"/>
            </a:pPr>
            <a:r>
              <a:rPr lang="zh-CN" altLang="en-US" sz="1000" dirty="0">
                <a:solidFill>
                  <a:schemeClr val="tx1"/>
                </a:solidFill>
                <a:latin typeface="楷体" panose="02010609060101010101" pitchFamily="49" charset="-122"/>
                <a:ea typeface="楷体" panose="02010609060101010101" pitchFamily="49" charset="-122"/>
              </a:rPr>
              <a:t>提高增益</a:t>
            </a:r>
          </a:p>
        </p:txBody>
      </p:sp>
      <p:sp>
        <p:nvSpPr>
          <p:cNvPr id="29" name="圆角矩形 28"/>
          <p:cNvSpPr/>
          <p:nvPr/>
        </p:nvSpPr>
        <p:spPr>
          <a:xfrm>
            <a:off x="934771" y="5098784"/>
            <a:ext cx="1413414" cy="477354"/>
          </a:xfrm>
          <a:prstGeom prst="roundRect">
            <a:avLst/>
          </a:prstGeom>
          <a:solidFill>
            <a:schemeClr val="bg1"/>
          </a:solidFill>
          <a:ln>
            <a:solidFill>
              <a:schemeClr val="accent3">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200" dirty="0">
                <a:solidFill>
                  <a:schemeClr val="tx1"/>
                </a:solidFill>
                <a:latin typeface="楷体" panose="02010609060101010101" pitchFamily="49" charset="-122"/>
                <a:ea typeface="楷体" panose="02010609060101010101" pitchFamily="49" charset="-122"/>
              </a:rPr>
              <a:t>需求频段合理分段</a:t>
            </a:r>
            <a:endParaRPr lang="zh-CN" altLang="en-US" sz="1200" dirty="0">
              <a:solidFill>
                <a:schemeClr val="tx1"/>
              </a:solidFill>
              <a:latin typeface="楷体" panose="02010609060101010101" pitchFamily="49" charset="-122"/>
              <a:ea typeface="楷体" panose="02010609060101010101" pitchFamily="49" charset="-122"/>
            </a:endParaRPr>
          </a:p>
        </p:txBody>
      </p:sp>
      <p:sp>
        <p:nvSpPr>
          <p:cNvPr id="83" name="圆角矩形 82"/>
          <p:cNvSpPr/>
          <p:nvPr/>
        </p:nvSpPr>
        <p:spPr>
          <a:xfrm>
            <a:off x="954006" y="4413230"/>
            <a:ext cx="1413415" cy="477354"/>
          </a:xfrm>
          <a:prstGeom prst="roundRect">
            <a:avLst/>
          </a:prstGeom>
          <a:solidFill>
            <a:schemeClr val="bg1"/>
          </a:solidFill>
          <a:ln>
            <a:solidFill>
              <a:schemeClr val="accent3">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200" dirty="0">
                <a:solidFill>
                  <a:schemeClr val="tx1"/>
                </a:solidFill>
                <a:latin typeface="楷体" panose="02010609060101010101" pitchFamily="49" charset="-122"/>
                <a:ea typeface="楷体" panose="02010609060101010101" pitchFamily="49" charset="-122"/>
              </a:rPr>
              <a:t>基于多层介质基板结构</a:t>
            </a:r>
            <a:endParaRPr lang="zh-CN" altLang="en-US" sz="1200" dirty="0">
              <a:solidFill>
                <a:schemeClr val="tx1"/>
              </a:solidFill>
              <a:latin typeface="楷体" panose="02010609060101010101" pitchFamily="49" charset="-122"/>
              <a:ea typeface="楷体" panose="02010609060101010101" pitchFamily="49" charset="-122"/>
            </a:endParaRPr>
          </a:p>
        </p:txBody>
      </p:sp>
      <p:sp>
        <p:nvSpPr>
          <p:cNvPr id="84" name="圆角矩形 83"/>
          <p:cNvSpPr/>
          <p:nvPr/>
        </p:nvSpPr>
        <p:spPr>
          <a:xfrm>
            <a:off x="328378" y="5791463"/>
            <a:ext cx="965583" cy="477354"/>
          </a:xfrm>
          <a:prstGeom prst="roundRect">
            <a:avLst/>
          </a:prstGeom>
          <a:solidFill>
            <a:schemeClr val="bg1"/>
          </a:solidFill>
          <a:ln>
            <a:solidFill>
              <a:schemeClr val="accent3">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楷体" panose="02010609060101010101" pitchFamily="49" charset="-122"/>
                <a:ea typeface="楷体" panose="02010609060101010101" pitchFamily="49" charset="-122"/>
              </a:rPr>
              <a:t>天线增益</a:t>
            </a:r>
          </a:p>
        </p:txBody>
      </p:sp>
      <p:sp>
        <p:nvSpPr>
          <p:cNvPr id="85" name="圆角矩形 84"/>
          <p:cNvSpPr/>
          <p:nvPr/>
        </p:nvSpPr>
        <p:spPr>
          <a:xfrm>
            <a:off x="1983476" y="5807730"/>
            <a:ext cx="994335" cy="477354"/>
          </a:xfrm>
          <a:prstGeom prst="roundRect">
            <a:avLst/>
          </a:prstGeom>
          <a:solidFill>
            <a:schemeClr val="bg1"/>
          </a:solidFill>
          <a:ln>
            <a:solidFill>
              <a:schemeClr val="accent3">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楷体" panose="02010609060101010101" pitchFamily="49" charset="-122"/>
                <a:ea typeface="楷体" panose="02010609060101010101" pitchFamily="49" charset="-122"/>
              </a:rPr>
              <a:t>系统尺寸</a:t>
            </a:r>
          </a:p>
        </p:txBody>
      </p:sp>
      <p:cxnSp>
        <p:nvCxnSpPr>
          <p:cNvPr id="32" name="直接箭头连接符 31"/>
          <p:cNvCxnSpPr/>
          <p:nvPr/>
        </p:nvCxnSpPr>
        <p:spPr>
          <a:xfrm>
            <a:off x="1657569" y="4920255"/>
            <a:ext cx="879" cy="15094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flipH="1">
            <a:off x="1002626" y="5617392"/>
            <a:ext cx="128250" cy="14008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a:off x="2165350" y="5620567"/>
            <a:ext cx="121154" cy="14152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直接箭头连接符 85"/>
          <p:cNvCxnSpPr/>
          <p:nvPr/>
        </p:nvCxnSpPr>
        <p:spPr>
          <a:xfrm>
            <a:off x="1386616" y="6020630"/>
            <a:ext cx="523485" cy="0"/>
          </a:xfrm>
          <a:prstGeom prst="straightConnector1">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87" name="文本框 86"/>
          <p:cNvSpPr txBox="1"/>
          <p:nvPr/>
        </p:nvSpPr>
        <p:spPr>
          <a:xfrm>
            <a:off x="1375302" y="5729961"/>
            <a:ext cx="543226" cy="261610"/>
          </a:xfrm>
          <a:prstGeom prst="rect">
            <a:avLst/>
          </a:prstGeom>
          <a:noFill/>
        </p:spPr>
        <p:txBody>
          <a:bodyPr wrap="square" rtlCol="0">
            <a:spAutoFit/>
          </a:bodyPr>
          <a:lstStyle/>
          <a:p>
            <a:pPr algn="ctr"/>
            <a:r>
              <a:rPr lang="zh-CN" altLang="en-US" sz="1100" dirty="0">
                <a:latin typeface="楷体" panose="02010609060101010101" pitchFamily="49" charset="-122"/>
                <a:ea typeface="楷体" panose="02010609060101010101" pitchFamily="49" charset="-122"/>
              </a:rPr>
              <a:t>权衡</a:t>
            </a:r>
          </a:p>
        </p:txBody>
      </p:sp>
      <p:sp>
        <p:nvSpPr>
          <p:cNvPr id="91" name="矩形 90"/>
          <p:cNvSpPr/>
          <p:nvPr/>
        </p:nvSpPr>
        <p:spPr>
          <a:xfrm>
            <a:off x="6295354" y="1053874"/>
            <a:ext cx="5751871" cy="5523907"/>
          </a:xfrm>
          <a:prstGeom prst="rect">
            <a:avLst/>
          </a:prstGeom>
          <a:noFill/>
          <a:ln>
            <a:solidFill>
              <a:srgbClr val="0043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圆角矩形 93"/>
          <p:cNvSpPr/>
          <p:nvPr>
            <p:custDataLst>
              <p:tags r:id="rId5"/>
            </p:custDataLst>
          </p:nvPr>
        </p:nvSpPr>
        <p:spPr>
          <a:xfrm>
            <a:off x="6502857" y="824435"/>
            <a:ext cx="5350592" cy="465258"/>
          </a:xfrm>
          <a:prstGeom prst="roundRect">
            <a:avLst>
              <a:gd name="adj" fmla="val 50000"/>
            </a:avLst>
          </a:prstGeom>
          <a:solidFill>
            <a:srgbClr val="0043A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lvl="1"/>
            <a:r>
              <a:rPr lang="zh-CN" altLang="zh-CN" dirty="0"/>
              <a:t>基于压缩感知的次奈奎斯特高速采样模块设计</a:t>
            </a:r>
          </a:p>
        </p:txBody>
      </p:sp>
      <p:sp>
        <p:nvSpPr>
          <p:cNvPr id="95" name="矩形 94"/>
          <p:cNvSpPr/>
          <p:nvPr/>
        </p:nvSpPr>
        <p:spPr>
          <a:xfrm>
            <a:off x="7705234" y="1493900"/>
            <a:ext cx="2919746" cy="384659"/>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楷体" panose="02010609060101010101" pitchFamily="49" charset="-122"/>
                <a:ea typeface="楷体" panose="02010609060101010101" pitchFamily="49" charset="-122"/>
              </a:rPr>
              <a:t>次奈奎斯特高速采样模块设计</a:t>
            </a:r>
          </a:p>
        </p:txBody>
      </p:sp>
      <p:sp>
        <p:nvSpPr>
          <p:cNvPr id="119" name="矩形 118"/>
          <p:cNvSpPr/>
          <p:nvPr/>
        </p:nvSpPr>
        <p:spPr>
          <a:xfrm>
            <a:off x="7777828" y="5411734"/>
            <a:ext cx="2661224" cy="430653"/>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dirty="0">
                <a:solidFill>
                  <a:schemeClr val="tx1"/>
                </a:solidFill>
              </a:rPr>
              <a:t>与压缩感知原理融合</a:t>
            </a:r>
          </a:p>
        </p:txBody>
      </p:sp>
      <p:sp>
        <p:nvSpPr>
          <p:cNvPr id="120" name="矩形 119"/>
          <p:cNvSpPr/>
          <p:nvPr/>
        </p:nvSpPr>
        <p:spPr>
          <a:xfrm>
            <a:off x="7777828" y="6105151"/>
            <a:ext cx="2661224" cy="430653"/>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dirty="0">
                <a:solidFill>
                  <a:schemeClr val="tx1"/>
                </a:solidFill>
              </a:rPr>
              <a:t>超宽带稀疏采样信号</a:t>
            </a:r>
          </a:p>
        </p:txBody>
      </p:sp>
      <p:sp>
        <p:nvSpPr>
          <p:cNvPr id="122" name="矩形 121"/>
          <p:cNvSpPr/>
          <p:nvPr/>
        </p:nvSpPr>
        <p:spPr>
          <a:xfrm>
            <a:off x="6305603" y="2188226"/>
            <a:ext cx="2802837" cy="430653"/>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dirty="0">
                <a:solidFill>
                  <a:schemeClr val="tx1"/>
                </a:solidFill>
              </a:rPr>
              <a:t>基于非均匀采样的次奈奎斯特采样</a:t>
            </a:r>
          </a:p>
        </p:txBody>
      </p:sp>
      <p:sp>
        <p:nvSpPr>
          <p:cNvPr id="124" name="矩形 123"/>
          <p:cNvSpPr/>
          <p:nvPr/>
        </p:nvSpPr>
        <p:spPr>
          <a:xfrm>
            <a:off x="9220863" y="2188226"/>
            <a:ext cx="2802837" cy="430652"/>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dirty="0">
                <a:solidFill>
                  <a:schemeClr val="tx1"/>
                </a:solidFill>
              </a:rPr>
              <a:t>基于多陪集的次奈奎斯特采样</a:t>
            </a:r>
          </a:p>
        </p:txBody>
      </p:sp>
      <p:cxnSp>
        <p:nvCxnSpPr>
          <p:cNvPr id="129" name="直接箭头连接符 128"/>
          <p:cNvCxnSpPr/>
          <p:nvPr/>
        </p:nvCxnSpPr>
        <p:spPr>
          <a:xfrm flipH="1">
            <a:off x="7960690" y="1911082"/>
            <a:ext cx="150434" cy="231624"/>
          </a:xfrm>
          <a:prstGeom prst="straightConnector1">
            <a:avLst/>
          </a:prstGeom>
          <a:ln w="38100">
            <a:solidFill>
              <a:srgbClr val="0043A8"/>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直接箭头连接符 132"/>
          <p:cNvCxnSpPr/>
          <p:nvPr/>
        </p:nvCxnSpPr>
        <p:spPr>
          <a:xfrm>
            <a:off x="10225088" y="1911082"/>
            <a:ext cx="191104" cy="235337"/>
          </a:xfrm>
          <a:prstGeom prst="straightConnector1">
            <a:avLst/>
          </a:prstGeom>
          <a:ln w="38100">
            <a:solidFill>
              <a:srgbClr val="0043A8"/>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直接箭头连接符 137"/>
          <p:cNvCxnSpPr/>
          <p:nvPr/>
        </p:nvCxnSpPr>
        <p:spPr>
          <a:xfrm>
            <a:off x="7697697" y="3683805"/>
            <a:ext cx="7537" cy="264042"/>
          </a:xfrm>
          <a:prstGeom prst="straightConnector1">
            <a:avLst/>
          </a:prstGeom>
          <a:ln w="38100">
            <a:solidFill>
              <a:srgbClr val="0043A8"/>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直接箭头连接符 142"/>
          <p:cNvCxnSpPr/>
          <p:nvPr/>
        </p:nvCxnSpPr>
        <p:spPr>
          <a:xfrm>
            <a:off x="8111124" y="5184342"/>
            <a:ext cx="139495" cy="223141"/>
          </a:xfrm>
          <a:prstGeom prst="straightConnector1">
            <a:avLst/>
          </a:prstGeom>
          <a:ln w="38100">
            <a:solidFill>
              <a:srgbClr val="0043A8"/>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直接箭头连接符 147"/>
          <p:cNvCxnSpPr/>
          <p:nvPr/>
        </p:nvCxnSpPr>
        <p:spPr>
          <a:xfrm flipH="1">
            <a:off x="10230248" y="5184342"/>
            <a:ext cx="109137" cy="218362"/>
          </a:xfrm>
          <a:prstGeom prst="straightConnector1">
            <a:avLst/>
          </a:prstGeom>
          <a:ln w="38100">
            <a:solidFill>
              <a:srgbClr val="0043A8"/>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直接箭头连接符 150"/>
          <p:cNvCxnSpPr/>
          <p:nvPr/>
        </p:nvCxnSpPr>
        <p:spPr>
          <a:xfrm>
            <a:off x="9154999" y="5864539"/>
            <a:ext cx="7754" cy="229525"/>
          </a:xfrm>
          <a:prstGeom prst="straightConnector1">
            <a:avLst/>
          </a:prstGeom>
          <a:ln w="38100">
            <a:solidFill>
              <a:srgbClr val="0043A8"/>
            </a:solidFill>
            <a:tailEnd type="triangle"/>
          </a:ln>
        </p:spPr>
        <p:style>
          <a:lnRef idx="1">
            <a:schemeClr val="accent1"/>
          </a:lnRef>
          <a:fillRef idx="0">
            <a:schemeClr val="accent1"/>
          </a:fillRef>
          <a:effectRef idx="0">
            <a:schemeClr val="accent1"/>
          </a:effectRef>
          <a:fontRef idx="minor">
            <a:schemeClr val="tx1"/>
          </a:fontRef>
        </p:style>
      </p:cxnSp>
      <p:sp>
        <p:nvSpPr>
          <p:cNvPr id="152" name="右箭头 151"/>
          <p:cNvSpPr/>
          <p:nvPr/>
        </p:nvSpPr>
        <p:spPr>
          <a:xfrm>
            <a:off x="5881340" y="3533245"/>
            <a:ext cx="471329" cy="506565"/>
          </a:xfrm>
          <a:prstGeom prst="rightArrow">
            <a:avLst/>
          </a:prstGeom>
          <a:solidFill>
            <a:srgbClr val="0043A8"/>
          </a:solidFill>
          <a:ln>
            <a:solidFill>
              <a:srgbClr val="0043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文本框 154"/>
          <p:cNvSpPr txBox="1"/>
          <p:nvPr/>
        </p:nvSpPr>
        <p:spPr>
          <a:xfrm>
            <a:off x="6023241" y="785513"/>
            <a:ext cx="184731" cy="369332"/>
          </a:xfrm>
          <a:prstGeom prst="rect">
            <a:avLst/>
          </a:prstGeom>
          <a:noFill/>
        </p:spPr>
        <p:txBody>
          <a:bodyPr wrap="none" rtlCol="0">
            <a:spAutoFit/>
          </a:bodyPr>
          <a:lstStyle/>
          <a:p>
            <a:endParaRPr lang="zh-CN" altLang="en-US" dirty="0"/>
          </a:p>
        </p:txBody>
      </p:sp>
      <p:sp>
        <p:nvSpPr>
          <p:cNvPr id="156" name="矩形 155"/>
          <p:cNvSpPr/>
          <p:nvPr/>
        </p:nvSpPr>
        <p:spPr>
          <a:xfrm>
            <a:off x="6560084" y="3378862"/>
            <a:ext cx="2330692" cy="243967"/>
          </a:xfrm>
          <a:prstGeom prst="rect">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800" dirty="0">
                <a:solidFill>
                  <a:schemeClr val="tx1"/>
                </a:solidFill>
              </a:rPr>
              <a:t>基于非均匀采样的次奈奎斯特采样方案</a:t>
            </a:r>
            <a:endParaRPr lang="zh-CN" altLang="en-US" sz="800" dirty="0">
              <a:solidFill>
                <a:schemeClr val="tx1"/>
              </a:solidFill>
            </a:endParaRPr>
          </a:p>
        </p:txBody>
      </p:sp>
      <p:sp>
        <p:nvSpPr>
          <p:cNvPr id="158" name="矩形 157"/>
          <p:cNvSpPr/>
          <p:nvPr/>
        </p:nvSpPr>
        <p:spPr>
          <a:xfrm>
            <a:off x="9485593" y="3378863"/>
            <a:ext cx="2330692" cy="243966"/>
          </a:xfrm>
          <a:prstGeom prst="rect">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chemeClr val="tx1"/>
                </a:solidFill>
              </a:rPr>
              <a:t>基于</a:t>
            </a:r>
            <a:r>
              <a:rPr lang="zh-CN" altLang="zh-CN" sz="800" dirty="0">
                <a:solidFill>
                  <a:schemeClr val="tx1"/>
                </a:solidFill>
              </a:rPr>
              <a:t>多陪集采样方案</a:t>
            </a:r>
            <a:endParaRPr lang="zh-CN" altLang="en-US" sz="800" dirty="0">
              <a:solidFill>
                <a:schemeClr val="tx1"/>
              </a:solidFill>
            </a:endParaRPr>
          </a:p>
        </p:txBody>
      </p:sp>
      <p:cxnSp>
        <p:nvCxnSpPr>
          <p:cNvPr id="141" name="直接箭头连接符 140"/>
          <p:cNvCxnSpPr/>
          <p:nvPr/>
        </p:nvCxnSpPr>
        <p:spPr>
          <a:xfrm flipH="1">
            <a:off x="10620633" y="3678947"/>
            <a:ext cx="3296" cy="264042"/>
          </a:xfrm>
          <a:prstGeom prst="straightConnector1">
            <a:avLst/>
          </a:prstGeom>
          <a:ln w="38100">
            <a:solidFill>
              <a:srgbClr val="0043A8"/>
            </a:solidFill>
            <a:tailEnd type="triangle"/>
          </a:ln>
        </p:spPr>
        <p:style>
          <a:lnRef idx="1">
            <a:schemeClr val="accent1"/>
          </a:lnRef>
          <a:fillRef idx="0">
            <a:schemeClr val="accent1"/>
          </a:fillRef>
          <a:effectRef idx="0">
            <a:schemeClr val="accent1"/>
          </a:effectRef>
          <a:fontRef idx="minor">
            <a:schemeClr val="tx1"/>
          </a:fontRef>
        </p:style>
      </p:cxnSp>
      <p:sp>
        <p:nvSpPr>
          <p:cNvPr id="162" name="矩形 161"/>
          <p:cNvSpPr/>
          <p:nvPr/>
        </p:nvSpPr>
        <p:spPr>
          <a:xfrm>
            <a:off x="6551010" y="4890758"/>
            <a:ext cx="2330692" cy="243967"/>
          </a:xfrm>
          <a:prstGeom prst="rect">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800" dirty="0">
                <a:solidFill>
                  <a:schemeClr val="tx1"/>
                </a:solidFill>
              </a:rPr>
              <a:t>非均匀采样结构</a:t>
            </a:r>
            <a:endParaRPr lang="zh-CN" altLang="en-US" sz="800" dirty="0">
              <a:solidFill>
                <a:schemeClr val="tx1"/>
              </a:solidFill>
            </a:endParaRPr>
          </a:p>
        </p:txBody>
      </p:sp>
      <p:sp>
        <p:nvSpPr>
          <p:cNvPr id="163" name="矩形 162"/>
          <p:cNvSpPr/>
          <p:nvPr/>
        </p:nvSpPr>
        <p:spPr>
          <a:xfrm>
            <a:off x="9456935" y="4880584"/>
            <a:ext cx="2330692" cy="243967"/>
          </a:xfrm>
          <a:prstGeom prst="rect">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chemeClr val="tx1"/>
                </a:solidFill>
              </a:rPr>
              <a:t>基于</a:t>
            </a:r>
            <a:r>
              <a:rPr lang="zh-CN" altLang="zh-CN" sz="800" dirty="0">
                <a:solidFill>
                  <a:schemeClr val="tx1"/>
                </a:solidFill>
              </a:rPr>
              <a:t>多陪集压缩采样</a:t>
            </a:r>
            <a:r>
              <a:rPr lang="zh-CN" altLang="en-US" sz="800" dirty="0">
                <a:solidFill>
                  <a:schemeClr val="tx1"/>
                </a:solidFill>
              </a:rPr>
              <a:t>整体</a:t>
            </a:r>
            <a:r>
              <a:rPr lang="zh-CN" altLang="zh-CN" sz="800" dirty="0">
                <a:solidFill>
                  <a:schemeClr val="tx1"/>
                </a:solidFill>
              </a:rPr>
              <a:t>流程</a:t>
            </a:r>
            <a:endParaRPr lang="zh-CN" altLang="en-US" sz="800" dirty="0">
              <a:solidFill>
                <a:schemeClr val="tx1"/>
              </a:solidFill>
            </a:endParaRPr>
          </a:p>
        </p:txBody>
      </p:sp>
      <p:sp>
        <p:nvSpPr>
          <p:cNvPr id="92" name="矩形 91"/>
          <p:cNvSpPr/>
          <p:nvPr/>
        </p:nvSpPr>
        <p:spPr>
          <a:xfrm>
            <a:off x="4724266" y="5787754"/>
            <a:ext cx="1142502" cy="388445"/>
          </a:xfrm>
          <a:prstGeom prst="rect">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000" dirty="0">
                <a:solidFill>
                  <a:schemeClr val="tx1"/>
                </a:solidFill>
                <a:latin typeface="楷体" panose="02010609060101010101" pitchFamily="49" charset="-122"/>
                <a:ea typeface="楷体" panose="02010609060101010101" pitchFamily="49" charset="-122"/>
              </a:rPr>
              <a:t>电流复用</a:t>
            </a:r>
            <a:r>
              <a:rPr lang="zh-CN" altLang="en-US" sz="1000" dirty="0">
                <a:solidFill>
                  <a:schemeClr val="tx1"/>
                </a:solidFill>
                <a:latin typeface="楷体" panose="02010609060101010101" pitchFamily="49" charset="-122"/>
                <a:ea typeface="楷体" panose="02010609060101010101" pitchFamily="49" charset="-122"/>
              </a:rPr>
              <a:t>低噪放结构</a:t>
            </a:r>
            <a:r>
              <a:rPr lang="zh-CN" altLang="zh-CN" sz="1000" dirty="0">
                <a:solidFill>
                  <a:schemeClr val="tx1"/>
                </a:solidFill>
                <a:latin typeface="楷体" panose="02010609060101010101" pitchFamily="49" charset="-122"/>
                <a:ea typeface="楷体" panose="02010609060101010101" pitchFamily="49" charset="-122"/>
              </a:rPr>
              <a:t>与测试结果</a:t>
            </a:r>
            <a:endParaRPr lang="zh-CN" altLang="en-US" sz="1000" dirty="0">
              <a:solidFill>
                <a:schemeClr val="tx1"/>
              </a:solidFill>
              <a:latin typeface="楷体" panose="02010609060101010101" pitchFamily="49" charset="-122"/>
              <a:ea typeface="楷体" panose="02010609060101010101" pitchFamily="49" charset="-122"/>
            </a:endParaRPr>
          </a:p>
        </p:txBody>
      </p:sp>
      <p:cxnSp>
        <p:nvCxnSpPr>
          <p:cNvPr id="42" name="直接箭头连接符 41"/>
          <p:cNvCxnSpPr/>
          <p:nvPr/>
        </p:nvCxnSpPr>
        <p:spPr>
          <a:xfrm flipH="1">
            <a:off x="4406900" y="5991571"/>
            <a:ext cx="28028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4333871" y="5760570"/>
            <a:ext cx="444302" cy="246221"/>
          </a:xfrm>
          <a:prstGeom prst="rect">
            <a:avLst/>
          </a:prstGeom>
          <a:noFill/>
        </p:spPr>
        <p:txBody>
          <a:bodyPr wrap="square" rtlCol="0">
            <a:spAutoFit/>
          </a:bodyPr>
          <a:lstStyle/>
          <a:p>
            <a:r>
              <a:rPr lang="zh-CN" altLang="en-US" sz="1000" dirty="0">
                <a:latin typeface="楷体" panose="02010609060101010101" pitchFamily="49" charset="-122"/>
                <a:ea typeface="楷体" panose="02010609060101010101" pitchFamily="49" charset="-122"/>
              </a:rPr>
              <a:t>进而</a:t>
            </a:r>
          </a:p>
        </p:txBody>
      </p:sp>
      <p:cxnSp>
        <p:nvCxnSpPr>
          <p:cNvPr id="47" name="直接箭头连接符 46"/>
          <p:cNvCxnSpPr/>
          <p:nvPr/>
        </p:nvCxnSpPr>
        <p:spPr>
          <a:xfrm flipV="1">
            <a:off x="5295517" y="5576139"/>
            <a:ext cx="0" cy="18134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环形箭头 62"/>
          <p:cNvSpPr/>
          <p:nvPr/>
        </p:nvSpPr>
        <p:spPr>
          <a:xfrm rot="1628329">
            <a:off x="2900112" y="3549810"/>
            <a:ext cx="479381" cy="484536"/>
          </a:xfrm>
          <a:prstGeom prst="circularArrow">
            <a:avLst>
              <a:gd name="adj1" fmla="val 11874"/>
              <a:gd name="adj2" fmla="val 1636547"/>
              <a:gd name="adj3" fmla="val 4313311"/>
              <a:gd name="adj4" fmla="val 12296862"/>
              <a:gd name="adj5" fmla="val 12500"/>
            </a:avLst>
          </a:prstGeom>
          <a:solidFill>
            <a:srgbClr val="0043A8"/>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697797" y="50926"/>
            <a:ext cx="10737756" cy="7620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marL="0" indent="0" algn="l">
              <a:lnSpc>
                <a:spcPct val="100000"/>
              </a:lnSpc>
              <a:spcBef>
                <a:spcPts val="0"/>
              </a:spcBef>
              <a:spcAft>
                <a:spcPts val="0"/>
              </a:spcAft>
              <a:buSzPct val="100000"/>
              <a:buNone/>
            </a:pPr>
            <a:r>
              <a:rPr lang="zh-CN" altLang="en-US" sz="3000" dirty="0">
                <a:solidFill>
                  <a:srgbClr val="0043A8"/>
                </a:solidFill>
              </a:rPr>
              <a:t>研究内容三：端侧高能效比</a:t>
            </a:r>
            <a:r>
              <a:rPr lang="en-US" altLang="zh-CN" sz="3000" dirty="0">
                <a:solidFill>
                  <a:srgbClr val="0043A8"/>
                </a:solidFill>
              </a:rPr>
              <a:t>NPU</a:t>
            </a:r>
            <a:r>
              <a:rPr lang="zh-CN" altLang="en-US" sz="3000" dirty="0">
                <a:solidFill>
                  <a:srgbClr val="0043A8"/>
                </a:solidFill>
              </a:rPr>
              <a:t>全链路技术</a:t>
            </a:r>
          </a:p>
        </p:txBody>
      </p:sp>
      <p:cxnSp>
        <p:nvCxnSpPr>
          <p:cNvPr id="8" name="直接连接符 7"/>
          <p:cNvCxnSpPr/>
          <p:nvPr>
            <p:custDataLst>
              <p:tags r:id="rId2"/>
            </p:custDataLst>
          </p:nvPr>
        </p:nvCxnSpPr>
        <p:spPr>
          <a:xfrm>
            <a:off x="414024" y="245115"/>
            <a:ext cx="5080" cy="439420"/>
          </a:xfrm>
          <a:prstGeom prst="line">
            <a:avLst/>
          </a:prstGeom>
          <a:ln w="101600">
            <a:solidFill>
              <a:srgbClr val="0043A8"/>
            </a:solidFill>
          </a:ln>
        </p:spPr>
        <p:style>
          <a:lnRef idx="1">
            <a:schemeClr val="accent1"/>
          </a:lnRef>
          <a:fillRef idx="0">
            <a:schemeClr val="accent1"/>
          </a:fillRef>
          <a:effectRef idx="0">
            <a:schemeClr val="accent1"/>
          </a:effectRef>
          <a:fontRef idx="minor">
            <a:schemeClr val="tx1"/>
          </a:fontRef>
        </p:style>
      </p:cxnSp>
      <p:cxnSp>
        <p:nvCxnSpPr>
          <p:cNvPr id="166" name="直接连接符 165">
            <a:extLst>
              <a:ext uri="{FF2B5EF4-FFF2-40B4-BE49-F238E27FC236}">
                <a16:creationId xmlns:a16="http://schemas.microsoft.com/office/drawing/2014/main" id="{3C99E427-9CB2-F86C-6CBA-11757B283476}"/>
              </a:ext>
            </a:extLst>
          </p:cNvPr>
          <p:cNvCxnSpPr>
            <a:cxnSpLocks/>
          </p:cNvCxnSpPr>
          <p:nvPr/>
        </p:nvCxnSpPr>
        <p:spPr>
          <a:xfrm flipH="1" flipV="1">
            <a:off x="7202753" y="5380576"/>
            <a:ext cx="94" cy="126841"/>
          </a:xfrm>
          <a:prstGeom prst="line">
            <a:avLst/>
          </a:prstGeom>
          <a:ln>
            <a:solidFill>
              <a:srgbClr val="0043A8"/>
            </a:solidFill>
            <a:prstDash val="sysDash"/>
            <a:headEnd type="arrow" w="sm" len="sm"/>
            <a:tailEnd type="none" w="sm" len="sm"/>
          </a:ln>
        </p:spPr>
        <p:style>
          <a:lnRef idx="1">
            <a:schemeClr val="accent1"/>
          </a:lnRef>
          <a:fillRef idx="0">
            <a:schemeClr val="accent1"/>
          </a:fillRef>
          <a:effectRef idx="0">
            <a:schemeClr val="accent1"/>
          </a:effectRef>
          <a:fontRef idx="minor">
            <a:schemeClr val="tx1"/>
          </a:fontRef>
        </p:style>
      </p:cxnSp>
      <p:grpSp>
        <p:nvGrpSpPr>
          <p:cNvPr id="177" name="组合 176">
            <a:extLst>
              <a:ext uri="{FF2B5EF4-FFF2-40B4-BE49-F238E27FC236}">
                <a16:creationId xmlns:a16="http://schemas.microsoft.com/office/drawing/2014/main" id="{77318795-ECA1-EEE7-1FF2-02863A6C5AAD}"/>
              </a:ext>
            </a:extLst>
          </p:cNvPr>
          <p:cNvGrpSpPr/>
          <p:nvPr/>
        </p:nvGrpSpPr>
        <p:grpSpPr>
          <a:xfrm>
            <a:off x="5629774" y="3973459"/>
            <a:ext cx="3990410" cy="2696871"/>
            <a:chOff x="3707417" y="1729843"/>
            <a:chExt cx="3990410" cy="2696871"/>
          </a:xfrm>
        </p:grpSpPr>
        <p:sp>
          <p:nvSpPr>
            <p:cNvPr id="50" name="矩形 49">
              <a:extLst>
                <a:ext uri="{FF2B5EF4-FFF2-40B4-BE49-F238E27FC236}">
                  <a16:creationId xmlns:a16="http://schemas.microsoft.com/office/drawing/2014/main" id="{D7B60359-7002-442A-E95B-628E4AF0B860}"/>
                </a:ext>
              </a:extLst>
            </p:cNvPr>
            <p:cNvSpPr/>
            <p:nvPr/>
          </p:nvSpPr>
          <p:spPr>
            <a:xfrm>
              <a:off x="3707417" y="1729843"/>
              <a:ext cx="3990410" cy="2696871"/>
            </a:xfrm>
            <a:prstGeom prst="rect">
              <a:avLst/>
            </a:prstGeom>
            <a:solidFill>
              <a:schemeClr val="bg1"/>
            </a:solidFill>
            <a:ln w="25400" cmpd="sng">
              <a:solidFill>
                <a:srgbClr val="0043A8"/>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rgbClr val="0043A8"/>
                </a:solidFill>
              </a:endParaRPr>
            </a:p>
          </p:txBody>
        </p:sp>
        <p:sp>
          <p:nvSpPr>
            <p:cNvPr id="51" name="文本框 50">
              <a:extLst>
                <a:ext uri="{FF2B5EF4-FFF2-40B4-BE49-F238E27FC236}">
                  <a16:creationId xmlns:a16="http://schemas.microsoft.com/office/drawing/2014/main" id="{6D1E48F4-5022-5B51-05E6-AFCE72B240BD}"/>
                </a:ext>
              </a:extLst>
            </p:cNvPr>
            <p:cNvSpPr txBox="1"/>
            <p:nvPr/>
          </p:nvSpPr>
          <p:spPr>
            <a:xfrm>
              <a:off x="3936318" y="1759048"/>
              <a:ext cx="3460680" cy="403169"/>
            </a:xfrm>
            <a:prstGeom prst="rect">
              <a:avLst/>
            </a:prstGeom>
            <a:noFill/>
          </p:spPr>
          <p:txBody>
            <a:bodyPr wrap="square" rtlCol="0">
              <a:spAutoFit/>
            </a:bodyPr>
            <a:lstStyle/>
            <a:p>
              <a:pPr algn="ctr"/>
              <a:r>
                <a:rPr lang="zh-CN" altLang="en-US" b="1" kern="100" dirty="0">
                  <a:solidFill>
                    <a:srgbClr val="0043A8"/>
                  </a:solidFill>
                  <a:latin typeface="+mj-ea"/>
                  <a:ea typeface="+mj-ea"/>
                  <a:cs typeface="Times New Roman" panose="02020603050405020304" pitchFamily="18" charset="0"/>
                </a:rPr>
                <a:t>时序预测技术</a:t>
              </a:r>
            </a:p>
          </p:txBody>
        </p:sp>
        <p:sp>
          <p:nvSpPr>
            <p:cNvPr id="52" name="矩形 51">
              <a:extLst>
                <a:ext uri="{FF2B5EF4-FFF2-40B4-BE49-F238E27FC236}">
                  <a16:creationId xmlns:a16="http://schemas.microsoft.com/office/drawing/2014/main" id="{CCCB9D8D-8AC2-D401-9AA7-4AA9EBE1AA05}"/>
                </a:ext>
              </a:extLst>
            </p:cNvPr>
            <p:cNvSpPr/>
            <p:nvPr/>
          </p:nvSpPr>
          <p:spPr>
            <a:xfrm>
              <a:off x="3982428" y="2399552"/>
              <a:ext cx="1544955" cy="457806"/>
            </a:xfrm>
            <a:prstGeom prst="rect">
              <a:avLst/>
            </a:prstGeom>
            <a:solidFill>
              <a:srgbClr val="E2EDF7"/>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1400" dirty="0">
                <a:solidFill>
                  <a:srgbClr val="0043A8"/>
                </a:solidFill>
              </a:endParaRPr>
            </a:p>
          </p:txBody>
        </p:sp>
        <p:sp>
          <p:nvSpPr>
            <p:cNvPr id="53" name="文本框 52">
              <a:extLst>
                <a:ext uri="{FF2B5EF4-FFF2-40B4-BE49-F238E27FC236}">
                  <a16:creationId xmlns:a16="http://schemas.microsoft.com/office/drawing/2014/main" id="{471E4FC5-9B2F-4362-DD8C-BD641DA79B95}"/>
                </a:ext>
              </a:extLst>
            </p:cNvPr>
            <p:cNvSpPr txBox="1"/>
            <p:nvPr/>
          </p:nvSpPr>
          <p:spPr>
            <a:xfrm>
              <a:off x="4322931" y="2415123"/>
              <a:ext cx="902811" cy="307777"/>
            </a:xfrm>
            <a:prstGeom prst="rect">
              <a:avLst/>
            </a:prstGeom>
            <a:noFill/>
          </p:spPr>
          <p:txBody>
            <a:bodyPr wrap="none" rtlCol="0">
              <a:spAutoFit/>
            </a:bodyPr>
            <a:lstStyle/>
            <a:p>
              <a:r>
                <a:rPr lang="zh-CN" altLang="en-US" sz="1400" dirty="0">
                  <a:solidFill>
                    <a:srgbClr val="0043A8"/>
                  </a:solidFill>
                  <a:latin typeface="+mn-ea"/>
                </a:rPr>
                <a:t>特征提取</a:t>
              </a:r>
            </a:p>
          </p:txBody>
        </p:sp>
        <p:sp>
          <p:nvSpPr>
            <p:cNvPr id="54" name="矩形 53">
              <a:extLst>
                <a:ext uri="{FF2B5EF4-FFF2-40B4-BE49-F238E27FC236}">
                  <a16:creationId xmlns:a16="http://schemas.microsoft.com/office/drawing/2014/main" id="{1E71AEA5-BB25-D069-2590-35ABF6996EDC}"/>
                </a:ext>
              </a:extLst>
            </p:cNvPr>
            <p:cNvSpPr/>
            <p:nvPr/>
          </p:nvSpPr>
          <p:spPr>
            <a:xfrm>
              <a:off x="5812966" y="2382105"/>
              <a:ext cx="1544955" cy="457806"/>
            </a:xfrm>
            <a:prstGeom prst="rect">
              <a:avLst/>
            </a:prstGeom>
            <a:solidFill>
              <a:srgbClr val="E2EDF7"/>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1400" dirty="0">
                <a:solidFill>
                  <a:srgbClr val="0043A8"/>
                </a:solidFill>
              </a:endParaRPr>
            </a:p>
          </p:txBody>
        </p:sp>
        <p:sp>
          <p:nvSpPr>
            <p:cNvPr id="66" name="文本框 65">
              <a:extLst>
                <a:ext uri="{FF2B5EF4-FFF2-40B4-BE49-F238E27FC236}">
                  <a16:creationId xmlns:a16="http://schemas.microsoft.com/office/drawing/2014/main" id="{AFE5B7D8-BE8E-9DA6-636F-B6F8C3DE0A77}"/>
                </a:ext>
              </a:extLst>
            </p:cNvPr>
            <p:cNvSpPr txBox="1"/>
            <p:nvPr/>
          </p:nvSpPr>
          <p:spPr>
            <a:xfrm>
              <a:off x="5998930" y="2415120"/>
              <a:ext cx="1261884" cy="307777"/>
            </a:xfrm>
            <a:prstGeom prst="rect">
              <a:avLst/>
            </a:prstGeom>
            <a:noFill/>
          </p:spPr>
          <p:txBody>
            <a:bodyPr wrap="none" rtlCol="0">
              <a:spAutoFit/>
            </a:bodyPr>
            <a:lstStyle/>
            <a:p>
              <a:r>
                <a:rPr lang="zh-CN" altLang="en-US" sz="1400" dirty="0">
                  <a:solidFill>
                    <a:srgbClr val="0043A8"/>
                  </a:solidFill>
                  <a:latin typeface="+mn-ea"/>
                </a:rPr>
                <a:t>时序信号分析</a:t>
              </a:r>
            </a:p>
          </p:txBody>
        </p:sp>
        <p:cxnSp>
          <p:nvCxnSpPr>
            <p:cNvPr id="67" name="直接连接符 66">
              <a:extLst>
                <a:ext uri="{FF2B5EF4-FFF2-40B4-BE49-F238E27FC236}">
                  <a16:creationId xmlns:a16="http://schemas.microsoft.com/office/drawing/2014/main" id="{B7E9EF9F-B041-6DB5-45D1-34A95FC43BBB}"/>
                </a:ext>
              </a:extLst>
            </p:cNvPr>
            <p:cNvCxnSpPr>
              <a:cxnSpLocks/>
              <a:stCxn id="52" idx="2"/>
            </p:cNvCxnSpPr>
            <p:nvPr/>
          </p:nvCxnSpPr>
          <p:spPr>
            <a:xfrm>
              <a:off x="4754906" y="2857358"/>
              <a:ext cx="5285" cy="48307"/>
            </a:xfrm>
            <a:prstGeom prst="line">
              <a:avLst/>
            </a:prstGeom>
            <a:ln w="12700">
              <a:solidFill>
                <a:srgbClr val="0043A8"/>
              </a:solidFill>
              <a:prstDash val="sysDash"/>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F62B6440-5FBE-D922-34DD-A8B87CB5F55D}"/>
                </a:ext>
              </a:extLst>
            </p:cNvPr>
            <p:cNvCxnSpPr>
              <a:cxnSpLocks/>
              <a:stCxn id="54" idx="2"/>
            </p:cNvCxnSpPr>
            <p:nvPr/>
          </p:nvCxnSpPr>
          <p:spPr>
            <a:xfrm>
              <a:off x="6585444" y="2839911"/>
              <a:ext cx="6403" cy="65754"/>
            </a:xfrm>
            <a:prstGeom prst="line">
              <a:avLst/>
            </a:prstGeom>
            <a:ln w="12700">
              <a:solidFill>
                <a:srgbClr val="0043A8"/>
              </a:solidFill>
              <a:prstDash val="sysDash"/>
            </a:ln>
          </p:spPr>
          <p:style>
            <a:lnRef idx="1">
              <a:schemeClr val="accent1"/>
            </a:lnRef>
            <a:fillRef idx="0">
              <a:schemeClr val="accent1"/>
            </a:fillRef>
            <a:effectRef idx="0">
              <a:schemeClr val="accent1"/>
            </a:effectRef>
            <a:fontRef idx="minor">
              <a:schemeClr val="tx1"/>
            </a:fontRef>
          </p:style>
        </p:cxnSp>
        <p:sp>
          <p:nvSpPr>
            <p:cNvPr id="108" name="矩形 107">
              <a:extLst>
                <a:ext uri="{FF2B5EF4-FFF2-40B4-BE49-F238E27FC236}">
                  <a16:creationId xmlns:a16="http://schemas.microsoft.com/office/drawing/2014/main" id="{0D1C242A-E13A-F411-2D88-1ED2C0492E94}"/>
                </a:ext>
              </a:extLst>
            </p:cNvPr>
            <p:cNvSpPr/>
            <p:nvPr/>
          </p:nvSpPr>
          <p:spPr>
            <a:xfrm>
              <a:off x="4641247" y="3008303"/>
              <a:ext cx="2060575" cy="395766"/>
            </a:xfrm>
            <a:prstGeom prst="rect">
              <a:avLst/>
            </a:prstGeom>
            <a:solidFill>
              <a:srgbClr val="E2EDF7"/>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400" dirty="0">
                  <a:solidFill>
                    <a:srgbClr val="0043A8"/>
                  </a:solidFill>
                  <a:latin typeface="+mn-ea"/>
                  <a:sym typeface="+mn-ea"/>
                </a:rPr>
                <a:t>智能时序模型</a:t>
              </a:r>
            </a:p>
          </p:txBody>
        </p:sp>
        <p:sp>
          <p:nvSpPr>
            <p:cNvPr id="109" name="矩形 108">
              <a:extLst>
                <a:ext uri="{FF2B5EF4-FFF2-40B4-BE49-F238E27FC236}">
                  <a16:creationId xmlns:a16="http://schemas.microsoft.com/office/drawing/2014/main" id="{A864A086-C559-FDA1-8459-F9324ED701B2}"/>
                </a:ext>
              </a:extLst>
            </p:cNvPr>
            <p:cNvSpPr/>
            <p:nvPr/>
          </p:nvSpPr>
          <p:spPr>
            <a:xfrm>
              <a:off x="4641246" y="3499961"/>
              <a:ext cx="2060575" cy="395766"/>
            </a:xfrm>
            <a:prstGeom prst="rect">
              <a:avLst/>
            </a:prstGeom>
            <a:solidFill>
              <a:srgbClr val="E2EDF7"/>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400" dirty="0">
                  <a:solidFill>
                    <a:srgbClr val="0043A8"/>
                  </a:solidFill>
                  <a:latin typeface="+mn-ea"/>
                  <a:sym typeface="+mn-ea"/>
                </a:rPr>
                <a:t>行为预测模型</a:t>
              </a:r>
            </a:p>
          </p:txBody>
        </p:sp>
        <p:sp>
          <p:nvSpPr>
            <p:cNvPr id="152" name="矩形 151">
              <a:extLst>
                <a:ext uri="{FF2B5EF4-FFF2-40B4-BE49-F238E27FC236}">
                  <a16:creationId xmlns:a16="http://schemas.microsoft.com/office/drawing/2014/main" id="{6778BD30-FCEC-403E-E4EF-4F631C6E6D92}"/>
                </a:ext>
              </a:extLst>
            </p:cNvPr>
            <p:cNvSpPr/>
            <p:nvPr/>
          </p:nvSpPr>
          <p:spPr>
            <a:xfrm>
              <a:off x="4641246" y="3989872"/>
              <a:ext cx="2060614" cy="360000"/>
            </a:xfrm>
            <a:prstGeom prst="rect">
              <a:avLst/>
            </a:prstGeom>
            <a:solidFill>
              <a:srgbClr val="9CB9EB"/>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400" dirty="0">
                  <a:solidFill>
                    <a:srgbClr val="0043A8"/>
                  </a:solidFill>
                  <a:latin typeface="+mn-ea"/>
                </a:rPr>
                <a:t>未来行为预测</a:t>
              </a:r>
            </a:p>
          </p:txBody>
        </p:sp>
        <p:cxnSp>
          <p:nvCxnSpPr>
            <p:cNvPr id="154" name="直接连接符 153">
              <a:extLst>
                <a:ext uri="{FF2B5EF4-FFF2-40B4-BE49-F238E27FC236}">
                  <a16:creationId xmlns:a16="http://schemas.microsoft.com/office/drawing/2014/main" id="{80E6EDBB-CCD7-3085-E3FD-3BC4547A137E}"/>
                </a:ext>
              </a:extLst>
            </p:cNvPr>
            <p:cNvCxnSpPr>
              <a:cxnSpLocks/>
              <a:stCxn id="108" idx="0"/>
            </p:cNvCxnSpPr>
            <p:nvPr/>
          </p:nvCxnSpPr>
          <p:spPr>
            <a:xfrm flipH="1" flipV="1">
              <a:off x="5671533" y="2905665"/>
              <a:ext cx="2" cy="102638"/>
            </a:xfrm>
            <a:prstGeom prst="line">
              <a:avLst/>
            </a:prstGeom>
            <a:ln w="12700">
              <a:solidFill>
                <a:srgbClr val="0043A8"/>
              </a:solidFill>
              <a:prstDash val="sysDash"/>
              <a:headEnd type="arrow" w="sm" len="sm"/>
              <a:tailEnd type="none" w="sm" len="sm"/>
            </a:ln>
          </p:spPr>
          <p:style>
            <a:lnRef idx="1">
              <a:schemeClr val="accent1"/>
            </a:lnRef>
            <a:fillRef idx="0">
              <a:schemeClr val="accent1"/>
            </a:fillRef>
            <a:effectRef idx="0">
              <a:schemeClr val="accent1"/>
            </a:effectRef>
            <a:fontRef idx="minor">
              <a:schemeClr val="tx1"/>
            </a:fontRef>
          </p:style>
        </p:cxnSp>
        <p:cxnSp>
          <p:nvCxnSpPr>
            <p:cNvPr id="155" name="直接连接符 154">
              <a:extLst>
                <a:ext uri="{FF2B5EF4-FFF2-40B4-BE49-F238E27FC236}">
                  <a16:creationId xmlns:a16="http://schemas.microsoft.com/office/drawing/2014/main" id="{A7A65F76-80A5-194F-D83F-EC61F9568BB3}"/>
                </a:ext>
              </a:extLst>
            </p:cNvPr>
            <p:cNvCxnSpPr>
              <a:cxnSpLocks/>
              <a:stCxn id="152" idx="0"/>
              <a:endCxn id="109" idx="2"/>
            </p:cNvCxnSpPr>
            <p:nvPr/>
          </p:nvCxnSpPr>
          <p:spPr>
            <a:xfrm flipH="1" flipV="1">
              <a:off x="5671534" y="3895727"/>
              <a:ext cx="19" cy="94145"/>
            </a:xfrm>
            <a:prstGeom prst="line">
              <a:avLst/>
            </a:prstGeom>
            <a:ln w="12700">
              <a:solidFill>
                <a:srgbClr val="0043A8"/>
              </a:solidFill>
              <a:prstDash val="sysDash"/>
              <a:headEnd type="arrow" w="sm" len="sm"/>
              <a:tailEnd type="none" w="sm" len="sm"/>
            </a:ln>
          </p:spPr>
          <p:style>
            <a:lnRef idx="1">
              <a:schemeClr val="accent1"/>
            </a:lnRef>
            <a:fillRef idx="0">
              <a:schemeClr val="accent1"/>
            </a:fillRef>
            <a:effectRef idx="0">
              <a:schemeClr val="accent1"/>
            </a:effectRef>
            <a:fontRef idx="minor">
              <a:schemeClr val="tx1"/>
            </a:fontRef>
          </p:style>
        </p:cxnSp>
        <p:cxnSp>
          <p:nvCxnSpPr>
            <p:cNvPr id="165" name="直接连接符 164">
              <a:extLst>
                <a:ext uri="{FF2B5EF4-FFF2-40B4-BE49-F238E27FC236}">
                  <a16:creationId xmlns:a16="http://schemas.microsoft.com/office/drawing/2014/main" id="{8BE90D73-DF72-7788-BE45-36FEE01BE8EA}"/>
                </a:ext>
              </a:extLst>
            </p:cNvPr>
            <p:cNvCxnSpPr>
              <a:cxnSpLocks/>
              <a:stCxn id="109" idx="0"/>
              <a:endCxn id="108" idx="2"/>
            </p:cNvCxnSpPr>
            <p:nvPr/>
          </p:nvCxnSpPr>
          <p:spPr>
            <a:xfrm flipV="1">
              <a:off x="5671534" y="3404069"/>
              <a:ext cx="1" cy="95892"/>
            </a:xfrm>
            <a:prstGeom prst="line">
              <a:avLst/>
            </a:prstGeom>
            <a:ln w="12700">
              <a:solidFill>
                <a:srgbClr val="0043A8"/>
              </a:solidFill>
              <a:prstDash val="sysDash"/>
              <a:headEnd type="arrow" w="sm" len="sm"/>
              <a:tailEnd type="none" w="sm" len="sm"/>
            </a:ln>
          </p:spPr>
          <p:style>
            <a:lnRef idx="1">
              <a:schemeClr val="accent1"/>
            </a:lnRef>
            <a:fillRef idx="0">
              <a:schemeClr val="accent1"/>
            </a:fillRef>
            <a:effectRef idx="0">
              <a:schemeClr val="accent1"/>
            </a:effectRef>
            <a:fontRef idx="minor">
              <a:schemeClr val="tx1"/>
            </a:fontRef>
          </p:style>
        </p:cxnSp>
        <p:cxnSp>
          <p:nvCxnSpPr>
            <p:cNvPr id="172" name="直接连接符 171">
              <a:extLst>
                <a:ext uri="{FF2B5EF4-FFF2-40B4-BE49-F238E27FC236}">
                  <a16:creationId xmlns:a16="http://schemas.microsoft.com/office/drawing/2014/main" id="{7517005D-53F6-9567-5BFC-4A4A4CFCE2D4}"/>
                </a:ext>
              </a:extLst>
            </p:cNvPr>
            <p:cNvCxnSpPr>
              <a:cxnSpLocks/>
            </p:cNvCxnSpPr>
            <p:nvPr/>
          </p:nvCxnSpPr>
          <p:spPr>
            <a:xfrm>
              <a:off x="4760191" y="2905665"/>
              <a:ext cx="1831656" cy="0"/>
            </a:xfrm>
            <a:prstGeom prst="line">
              <a:avLst/>
            </a:prstGeom>
            <a:ln w="12700">
              <a:solidFill>
                <a:srgbClr val="0043A8"/>
              </a:solidFill>
              <a:prstDash val="sysDash"/>
            </a:ln>
          </p:spPr>
          <p:style>
            <a:lnRef idx="1">
              <a:schemeClr val="accent1"/>
            </a:lnRef>
            <a:fillRef idx="0">
              <a:schemeClr val="accent1"/>
            </a:fillRef>
            <a:effectRef idx="0">
              <a:schemeClr val="accent1"/>
            </a:effectRef>
            <a:fontRef idx="minor">
              <a:schemeClr val="tx1"/>
            </a:fontRef>
          </p:style>
        </p:cxnSp>
      </p:grpSp>
      <p:grpSp>
        <p:nvGrpSpPr>
          <p:cNvPr id="176" name="组合 175">
            <a:extLst>
              <a:ext uri="{FF2B5EF4-FFF2-40B4-BE49-F238E27FC236}">
                <a16:creationId xmlns:a16="http://schemas.microsoft.com/office/drawing/2014/main" id="{FC6EC15D-179E-065D-0EDA-350A1463BBF1}"/>
              </a:ext>
            </a:extLst>
          </p:cNvPr>
          <p:cNvGrpSpPr/>
          <p:nvPr/>
        </p:nvGrpSpPr>
        <p:grpSpPr>
          <a:xfrm>
            <a:off x="5629774" y="989250"/>
            <a:ext cx="3990410" cy="2838403"/>
            <a:chOff x="6583294" y="3738970"/>
            <a:chExt cx="3990410" cy="2838403"/>
          </a:xfrm>
        </p:grpSpPr>
        <p:grpSp>
          <p:nvGrpSpPr>
            <p:cNvPr id="107" name="组合 106">
              <a:extLst>
                <a:ext uri="{FF2B5EF4-FFF2-40B4-BE49-F238E27FC236}">
                  <a16:creationId xmlns:a16="http://schemas.microsoft.com/office/drawing/2014/main" id="{3BCEF9F6-CADE-AD10-D3EF-A4153723AF8B}"/>
                </a:ext>
              </a:extLst>
            </p:cNvPr>
            <p:cNvGrpSpPr/>
            <p:nvPr/>
          </p:nvGrpSpPr>
          <p:grpSpPr>
            <a:xfrm>
              <a:off x="6583294" y="3738970"/>
              <a:ext cx="3990410" cy="2838403"/>
              <a:chOff x="4045500" y="3149790"/>
              <a:chExt cx="3990410" cy="2838403"/>
            </a:xfrm>
          </p:grpSpPr>
          <p:sp>
            <p:nvSpPr>
              <p:cNvPr id="33" name="矩形 32"/>
              <p:cNvSpPr/>
              <p:nvPr/>
            </p:nvSpPr>
            <p:spPr>
              <a:xfrm>
                <a:off x="4045500" y="3149790"/>
                <a:ext cx="3990410" cy="2838403"/>
              </a:xfrm>
              <a:prstGeom prst="rect">
                <a:avLst/>
              </a:prstGeom>
              <a:solidFill>
                <a:schemeClr val="bg1"/>
              </a:solidFill>
              <a:ln w="25400" cmpd="sng">
                <a:solidFill>
                  <a:srgbClr val="0043A8"/>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rgbClr val="0043A8"/>
                  </a:solidFill>
                </a:endParaRPr>
              </a:p>
            </p:txBody>
          </p:sp>
          <p:sp>
            <p:nvSpPr>
              <p:cNvPr id="102" name="矩形 101">
                <a:extLst>
                  <a:ext uri="{FF2B5EF4-FFF2-40B4-BE49-F238E27FC236}">
                    <a16:creationId xmlns:a16="http://schemas.microsoft.com/office/drawing/2014/main" id="{550447FF-6F8C-E599-CFDE-CE1D3B4FC1C0}"/>
                  </a:ext>
                </a:extLst>
              </p:cNvPr>
              <p:cNvSpPr/>
              <p:nvPr/>
            </p:nvSpPr>
            <p:spPr>
              <a:xfrm>
                <a:off x="4904314" y="4484709"/>
                <a:ext cx="2060575" cy="395766"/>
              </a:xfrm>
              <a:prstGeom prst="rect">
                <a:avLst/>
              </a:prstGeom>
              <a:solidFill>
                <a:srgbClr val="E2EDF7"/>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400" dirty="0">
                    <a:solidFill>
                      <a:srgbClr val="0043A8"/>
                    </a:solidFill>
                    <a:latin typeface="+mn-ea"/>
                    <a:sym typeface="+mn-ea"/>
                  </a:rPr>
                  <a:t>深度学习模型</a:t>
                </a:r>
              </a:p>
            </p:txBody>
          </p:sp>
          <p:sp>
            <p:nvSpPr>
              <p:cNvPr id="103" name="矩形 102">
                <a:extLst>
                  <a:ext uri="{FF2B5EF4-FFF2-40B4-BE49-F238E27FC236}">
                    <a16:creationId xmlns:a16="http://schemas.microsoft.com/office/drawing/2014/main" id="{2FB102CA-EEDF-D237-3607-24C843C1F8D3}"/>
                  </a:ext>
                </a:extLst>
              </p:cNvPr>
              <p:cNvSpPr/>
              <p:nvPr/>
            </p:nvSpPr>
            <p:spPr>
              <a:xfrm>
                <a:off x="4904315" y="3933043"/>
                <a:ext cx="2060575" cy="395766"/>
              </a:xfrm>
              <a:prstGeom prst="rect">
                <a:avLst/>
              </a:prstGeom>
              <a:solidFill>
                <a:srgbClr val="E2EDF7"/>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400" dirty="0">
                    <a:solidFill>
                      <a:srgbClr val="0043A8"/>
                    </a:solidFill>
                    <a:latin typeface="+mn-ea"/>
                    <a:sym typeface="+mn-ea"/>
                  </a:rPr>
                  <a:t>特征提取</a:t>
                </a:r>
              </a:p>
            </p:txBody>
          </p:sp>
          <p:sp>
            <p:nvSpPr>
              <p:cNvPr id="106" name="矩形 105">
                <a:extLst>
                  <a:ext uri="{FF2B5EF4-FFF2-40B4-BE49-F238E27FC236}">
                    <a16:creationId xmlns:a16="http://schemas.microsoft.com/office/drawing/2014/main" id="{2A468F03-0CE5-23F5-08E0-56268740036A}"/>
                  </a:ext>
                </a:extLst>
              </p:cNvPr>
              <p:cNvSpPr/>
              <p:nvPr/>
            </p:nvSpPr>
            <p:spPr>
              <a:xfrm>
                <a:off x="4904314" y="5036393"/>
                <a:ext cx="2060614" cy="448945"/>
              </a:xfrm>
              <a:prstGeom prst="rect">
                <a:avLst/>
              </a:prstGeom>
              <a:solidFill>
                <a:srgbClr val="9CB9EB"/>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400" dirty="0">
                    <a:solidFill>
                      <a:srgbClr val="0043A8"/>
                    </a:solidFill>
                    <a:latin typeface="+mn-ea"/>
                  </a:rPr>
                  <a:t>动态行为分类</a:t>
                </a:r>
              </a:p>
            </p:txBody>
          </p:sp>
        </p:grpSp>
        <p:sp>
          <p:nvSpPr>
            <p:cNvPr id="175" name="文本框 174">
              <a:extLst>
                <a:ext uri="{FF2B5EF4-FFF2-40B4-BE49-F238E27FC236}">
                  <a16:creationId xmlns:a16="http://schemas.microsoft.com/office/drawing/2014/main" id="{BF7201FD-BE50-382B-34EB-E706B62A7FD3}"/>
                </a:ext>
              </a:extLst>
            </p:cNvPr>
            <p:cNvSpPr txBox="1"/>
            <p:nvPr/>
          </p:nvSpPr>
          <p:spPr>
            <a:xfrm>
              <a:off x="7708729" y="3828281"/>
              <a:ext cx="1686333" cy="369332"/>
            </a:xfrm>
            <a:prstGeom prst="rect">
              <a:avLst/>
            </a:prstGeom>
            <a:noFill/>
          </p:spPr>
          <p:txBody>
            <a:bodyPr wrap="square" rtlCol="0">
              <a:spAutoFit/>
            </a:bodyPr>
            <a:lstStyle/>
            <a:p>
              <a:r>
                <a:rPr lang="zh-CN" altLang="en-US" b="1" kern="100" dirty="0">
                  <a:solidFill>
                    <a:srgbClr val="0043A8"/>
                  </a:solidFill>
                  <a:latin typeface="+mj-ea"/>
                  <a:ea typeface="+mj-ea"/>
                  <a:cs typeface="Times New Roman" panose="02020603050405020304" pitchFamily="18" charset="0"/>
                </a:rPr>
                <a:t>行为感知技术</a:t>
              </a:r>
            </a:p>
          </p:txBody>
        </p:sp>
      </p:grpSp>
      <p:grpSp>
        <p:nvGrpSpPr>
          <p:cNvPr id="3" name="组合 2">
            <a:extLst>
              <a:ext uri="{FF2B5EF4-FFF2-40B4-BE49-F238E27FC236}">
                <a16:creationId xmlns:a16="http://schemas.microsoft.com/office/drawing/2014/main" id="{686713E5-A76A-CDC2-CCFB-B198C1719E71}"/>
              </a:ext>
            </a:extLst>
          </p:cNvPr>
          <p:cNvGrpSpPr/>
          <p:nvPr/>
        </p:nvGrpSpPr>
        <p:grpSpPr>
          <a:xfrm>
            <a:off x="636706" y="3978946"/>
            <a:ext cx="4357378" cy="2696871"/>
            <a:chOff x="-32405" y="2974689"/>
            <a:chExt cx="4357378" cy="2696871"/>
          </a:xfrm>
        </p:grpSpPr>
        <p:sp>
          <p:nvSpPr>
            <p:cNvPr id="31" name="矩形 30"/>
            <p:cNvSpPr/>
            <p:nvPr/>
          </p:nvSpPr>
          <p:spPr>
            <a:xfrm>
              <a:off x="-30044" y="2974689"/>
              <a:ext cx="4355017" cy="2696871"/>
            </a:xfrm>
            <a:prstGeom prst="rect">
              <a:avLst/>
            </a:prstGeom>
            <a:solidFill>
              <a:schemeClr val="bg1"/>
            </a:solidFill>
            <a:ln w="25400" cmpd="sng">
              <a:solidFill>
                <a:srgbClr val="0043A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rgbClr val="0043A8"/>
                </a:solidFill>
              </a:endParaRPr>
            </a:p>
          </p:txBody>
        </p:sp>
        <p:sp>
          <p:nvSpPr>
            <p:cNvPr id="30" name="矩形 29"/>
            <p:cNvSpPr/>
            <p:nvPr/>
          </p:nvSpPr>
          <p:spPr>
            <a:xfrm>
              <a:off x="1116850" y="4659853"/>
              <a:ext cx="2060792" cy="403652"/>
            </a:xfrm>
            <a:prstGeom prst="rect">
              <a:avLst/>
            </a:prstGeom>
            <a:solidFill>
              <a:srgbClr val="E2EDF7"/>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400" dirty="0">
                  <a:solidFill>
                    <a:srgbClr val="0043A8"/>
                  </a:solidFill>
                  <a:latin typeface="+mn-ea"/>
                </a:rPr>
                <a:t>知识嵌入</a:t>
              </a:r>
            </a:p>
          </p:txBody>
        </p:sp>
        <p:sp>
          <p:nvSpPr>
            <p:cNvPr id="41" name="矩形 40"/>
            <p:cNvSpPr/>
            <p:nvPr/>
          </p:nvSpPr>
          <p:spPr>
            <a:xfrm>
              <a:off x="1117068" y="3141392"/>
              <a:ext cx="2060575" cy="395766"/>
            </a:xfrm>
            <a:prstGeom prst="rect">
              <a:avLst/>
            </a:prstGeom>
            <a:solidFill>
              <a:srgbClr val="E2EDF7"/>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400" dirty="0">
                  <a:solidFill>
                    <a:srgbClr val="0043A8"/>
                  </a:solidFill>
                  <a:latin typeface="+mn-ea"/>
                  <a:sym typeface="+mn-ea"/>
                </a:rPr>
                <a:t>数据表示</a:t>
              </a:r>
            </a:p>
          </p:txBody>
        </p:sp>
        <p:cxnSp>
          <p:nvCxnSpPr>
            <p:cNvPr id="42" name="直接连接符 41"/>
            <p:cNvCxnSpPr>
              <a:cxnSpLocks/>
              <a:stCxn id="43" idx="0"/>
              <a:endCxn id="192" idx="2"/>
            </p:cNvCxnSpPr>
            <p:nvPr/>
          </p:nvCxnSpPr>
          <p:spPr>
            <a:xfrm flipV="1">
              <a:off x="2147335" y="4063041"/>
              <a:ext cx="20" cy="130725"/>
            </a:xfrm>
            <a:prstGeom prst="line">
              <a:avLst/>
            </a:prstGeom>
            <a:ln w="12700">
              <a:solidFill>
                <a:srgbClr val="0043A8"/>
              </a:solidFill>
              <a:prstDash val="sysDash"/>
              <a:headEnd type="arrow" w="sm" len="sm"/>
              <a:tailEnd type="none" w="sm" len="sm"/>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1117028" y="4193766"/>
              <a:ext cx="2060614" cy="360000"/>
            </a:xfrm>
            <a:prstGeom prst="rect">
              <a:avLst/>
            </a:prstGeom>
            <a:solidFill>
              <a:srgbClr val="9CB9EB"/>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400" dirty="0">
                  <a:solidFill>
                    <a:srgbClr val="0043A8"/>
                  </a:solidFill>
                  <a:latin typeface="+mn-ea"/>
                </a:rPr>
                <a:t>知识图谱</a:t>
              </a:r>
            </a:p>
          </p:txBody>
        </p:sp>
        <p:cxnSp>
          <p:nvCxnSpPr>
            <p:cNvPr id="20" name="直接连接符 19">
              <a:extLst>
                <a:ext uri="{FF2B5EF4-FFF2-40B4-BE49-F238E27FC236}">
                  <a16:creationId xmlns:a16="http://schemas.microsoft.com/office/drawing/2014/main" id="{CAD493D1-F9AB-752E-4FD2-98C269735315}"/>
                </a:ext>
              </a:extLst>
            </p:cNvPr>
            <p:cNvCxnSpPr>
              <a:cxnSpLocks/>
              <a:stCxn id="30" idx="0"/>
              <a:endCxn id="43" idx="2"/>
            </p:cNvCxnSpPr>
            <p:nvPr/>
          </p:nvCxnSpPr>
          <p:spPr>
            <a:xfrm flipV="1">
              <a:off x="2147246" y="4553766"/>
              <a:ext cx="89" cy="106087"/>
            </a:xfrm>
            <a:prstGeom prst="line">
              <a:avLst/>
            </a:prstGeom>
            <a:ln w="12700">
              <a:solidFill>
                <a:srgbClr val="0043A8"/>
              </a:solidFill>
              <a:prstDash val="sysDash"/>
              <a:headEnd type="arrow" w="sm" len="sm"/>
              <a:tailEnd type="none" w="sm" len="sm"/>
            </a:ln>
          </p:spPr>
          <p:style>
            <a:lnRef idx="1">
              <a:schemeClr val="accent1"/>
            </a:lnRef>
            <a:fillRef idx="0">
              <a:schemeClr val="accent1"/>
            </a:fillRef>
            <a:effectRef idx="0">
              <a:schemeClr val="accent1"/>
            </a:effectRef>
            <a:fontRef idx="minor">
              <a:schemeClr val="tx1"/>
            </a:fontRef>
          </p:style>
        </p:cxnSp>
        <p:sp>
          <p:nvSpPr>
            <p:cNvPr id="95" name="矩形 94">
              <a:extLst>
                <a:ext uri="{FF2B5EF4-FFF2-40B4-BE49-F238E27FC236}">
                  <a16:creationId xmlns:a16="http://schemas.microsoft.com/office/drawing/2014/main" id="{4A418049-9ABA-6EF6-3945-029727F93883}"/>
                </a:ext>
              </a:extLst>
            </p:cNvPr>
            <p:cNvSpPr/>
            <p:nvPr/>
          </p:nvSpPr>
          <p:spPr>
            <a:xfrm>
              <a:off x="1121671" y="5184604"/>
              <a:ext cx="2060614" cy="360000"/>
            </a:xfrm>
            <a:prstGeom prst="rect">
              <a:avLst/>
            </a:prstGeom>
            <a:solidFill>
              <a:srgbClr val="9CB9EB"/>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400" dirty="0">
                  <a:solidFill>
                    <a:srgbClr val="0043A8"/>
                  </a:solidFill>
                  <a:latin typeface="+mn-ea"/>
                </a:rPr>
                <a:t>嵌入向量</a:t>
              </a:r>
            </a:p>
          </p:txBody>
        </p:sp>
        <p:cxnSp>
          <p:nvCxnSpPr>
            <p:cNvPr id="104" name="直接连接符 103">
              <a:extLst>
                <a:ext uri="{FF2B5EF4-FFF2-40B4-BE49-F238E27FC236}">
                  <a16:creationId xmlns:a16="http://schemas.microsoft.com/office/drawing/2014/main" id="{4E8F6576-9729-E91B-59EB-0100DB14270C}"/>
                </a:ext>
              </a:extLst>
            </p:cNvPr>
            <p:cNvCxnSpPr>
              <a:cxnSpLocks/>
              <a:stCxn id="95" idx="0"/>
              <a:endCxn id="30" idx="2"/>
            </p:cNvCxnSpPr>
            <p:nvPr/>
          </p:nvCxnSpPr>
          <p:spPr>
            <a:xfrm flipH="1" flipV="1">
              <a:off x="2147246" y="5063505"/>
              <a:ext cx="4732" cy="121099"/>
            </a:xfrm>
            <a:prstGeom prst="line">
              <a:avLst/>
            </a:prstGeom>
            <a:ln w="12700">
              <a:solidFill>
                <a:srgbClr val="0043A8"/>
              </a:solidFill>
              <a:prstDash val="sysDash"/>
              <a:headEnd type="arrow" w="sm" len="sm"/>
              <a:tailEnd type="none" w="sm" len="sm"/>
            </a:ln>
          </p:spPr>
          <p:style>
            <a:lnRef idx="1">
              <a:schemeClr val="accent1"/>
            </a:lnRef>
            <a:fillRef idx="0">
              <a:schemeClr val="accent1"/>
            </a:fillRef>
            <a:effectRef idx="0">
              <a:schemeClr val="accent1"/>
            </a:effectRef>
            <a:fontRef idx="minor">
              <a:schemeClr val="tx1"/>
            </a:fontRef>
          </p:style>
        </p:cxnSp>
        <p:sp>
          <p:nvSpPr>
            <p:cNvPr id="190" name="文本框 189">
              <a:extLst>
                <a:ext uri="{FF2B5EF4-FFF2-40B4-BE49-F238E27FC236}">
                  <a16:creationId xmlns:a16="http://schemas.microsoft.com/office/drawing/2014/main" id="{8290ADF1-6E7A-7BB2-9E46-3C27B6C01CE3}"/>
                </a:ext>
              </a:extLst>
            </p:cNvPr>
            <p:cNvSpPr txBox="1"/>
            <p:nvPr/>
          </p:nvSpPr>
          <p:spPr>
            <a:xfrm>
              <a:off x="-32405" y="3636854"/>
              <a:ext cx="461665" cy="1532739"/>
            </a:xfrm>
            <a:prstGeom prst="rect">
              <a:avLst/>
            </a:prstGeom>
            <a:noFill/>
          </p:spPr>
          <p:txBody>
            <a:bodyPr vert="eaVert" wrap="square" rtlCol="0">
              <a:spAutoFit/>
            </a:bodyPr>
            <a:lstStyle/>
            <a:p>
              <a:r>
                <a:rPr lang="zh-CN" altLang="en-US" b="1" kern="100" dirty="0">
                  <a:solidFill>
                    <a:srgbClr val="0043A8"/>
                  </a:solidFill>
                  <a:latin typeface="+mj-ea"/>
                  <a:ea typeface="+mj-ea"/>
                  <a:cs typeface="Times New Roman" panose="02020603050405020304" pitchFamily="18" charset="0"/>
                </a:rPr>
                <a:t>知识嵌入技术</a:t>
              </a:r>
            </a:p>
          </p:txBody>
        </p:sp>
        <p:sp>
          <p:nvSpPr>
            <p:cNvPr id="192" name="矩形 191">
              <a:extLst>
                <a:ext uri="{FF2B5EF4-FFF2-40B4-BE49-F238E27FC236}">
                  <a16:creationId xmlns:a16="http://schemas.microsoft.com/office/drawing/2014/main" id="{D0EF6A65-2E4A-6616-7CEA-652B64A68D21}"/>
                </a:ext>
              </a:extLst>
            </p:cNvPr>
            <p:cNvSpPr/>
            <p:nvPr/>
          </p:nvSpPr>
          <p:spPr>
            <a:xfrm>
              <a:off x="1117067" y="3667275"/>
              <a:ext cx="2060575" cy="395766"/>
            </a:xfrm>
            <a:prstGeom prst="rect">
              <a:avLst/>
            </a:prstGeom>
            <a:solidFill>
              <a:srgbClr val="E2EDF7"/>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400" dirty="0">
                  <a:solidFill>
                    <a:srgbClr val="0043A8"/>
                  </a:solidFill>
                  <a:latin typeface="+mn-ea"/>
                  <a:sym typeface="+mn-ea"/>
                </a:rPr>
                <a:t>关系抽取</a:t>
              </a:r>
            </a:p>
          </p:txBody>
        </p:sp>
        <p:cxnSp>
          <p:nvCxnSpPr>
            <p:cNvPr id="202" name="直接连接符 201">
              <a:extLst>
                <a:ext uri="{FF2B5EF4-FFF2-40B4-BE49-F238E27FC236}">
                  <a16:creationId xmlns:a16="http://schemas.microsoft.com/office/drawing/2014/main" id="{1D93A314-A5A9-4865-3A5D-2E7A99DB319E}"/>
                </a:ext>
              </a:extLst>
            </p:cNvPr>
            <p:cNvCxnSpPr>
              <a:cxnSpLocks/>
              <a:stCxn id="192" idx="0"/>
              <a:endCxn id="41" idx="2"/>
            </p:cNvCxnSpPr>
            <p:nvPr/>
          </p:nvCxnSpPr>
          <p:spPr>
            <a:xfrm flipV="1">
              <a:off x="2147355" y="3537158"/>
              <a:ext cx="1" cy="130117"/>
            </a:xfrm>
            <a:prstGeom prst="line">
              <a:avLst/>
            </a:prstGeom>
            <a:ln w="12700">
              <a:solidFill>
                <a:srgbClr val="0043A8"/>
              </a:solidFill>
              <a:prstDash val="sysDash"/>
              <a:headEnd type="arrow" w="sm" len="sm"/>
              <a:tailEnd type="none" w="sm" len="sm"/>
            </a:ln>
          </p:spPr>
          <p:style>
            <a:lnRef idx="1">
              <a:schemeClr val="accent1"/>
            </a:lnRef>
            <a:fillRef idx="0">
              <a:schemeClr val="accent1"/>
            </a:fillRef>
            <a:effectRef idx="0">
              <a:schemeClr val="accent1"/>
            </a:effectRef>
            <a:fontRef idx="minor">
              <a:schemeClr val="tx1"/>
            </a:fontRef>
          </p:style>
        </p:cxnSp>
      </p:grpSp>
      <p:cxnSp>
        <p:nvCxnSpPr>
          <p:cNvPr id="209" name="直接连接符 208">
            <a:extLst>
              <a:ext uri="{FF2B5EF4-FFF2-40B4-BE49-F238E27FC236}">
                <a16:creationId xmlns:a16="http://schemas.microsoft.com/office/drawing/2014/main" id="{53829A9C-5B46-DE2E-8319-2FC6A509341D}"/>
              </a:ext>
            </a:extLst>
          </p:cNvPr>
          <p:cNvCxnSpPr>
            <a:cxnSpLocks/>
            <a:stCxn id="106" idx="0"/>
            <a:endCxn id="102" idx="2"/>
          </p:cNvCxnSpPr>
          <p:nvPr/>
        </p:nvCxnSpPr>
        <p:spPr>
          <a:xfrm flipH="1" flipV="1">
            <a:off x="7518876" y="2719935"/>
            <a:ext cx="19" cy="155918"/>
          </a:xfrm>
          <a:prstGeom prst="line">
            <a:avLst/>
          </a:prstGeom>
          <a:ln w="12700">
            <a:solidFill>
              <a:srgbClr val="0043A8"/>
            </a:solidFill>
            <a:prstDash val="sysDash"/>
            <a:headEnd type="arrow" w="sm" len="sm"/>
            <a:tailEnd type="none" w="sm" len="sm"/>
          </a:ln>
        </p:spPr>
        <p:style>
          <a:lnRef idx="1">
            <a:schemeClr val="accent1"/>
          </a:lnRef>
          <a:fillRef idx="0">
            <a:schemeClr val="accent1"/>
          </a:fillRef>
          <a:effectRef idx="0">
            <a:schemeClr val="accent1"/>
          </a:effectRef>
          <a:fontRef idx="minor">
            <a:schemeClr val="tx1"/>
          </a:fontRef>
        </p:style>
      </p:cxnSp>
      <p:cxnSp>
        <p:nvCxnSpPr>
          <p:cNvPr id="210" name="直接连接符 209">
            <a:extLst>
              <a:ext uri="{FF2B5EF4-FFF2-40B4-BE49-F238E27FC236}">
                <a16:creationId xmlns:a16="http://schemas.microsoft.com/office/drawing/2014/main" id="{53153C99-9D39-1B96-7B4F-567720CB4D4A}"/>
              </a:ext>
            </a:extLst>
          </p:cNvPr>
          <p:cNvCxnSpPr>
            <a:cxnSpLocks/>
            <a:stCxn id="102" idx="0"/>
            <a:endCxn id="103" idx="2"/>
          </p:cNvCxnSpPr>
          <p:nvPr/>
        </p:nvCxnSpPr>
        <p:spPr>
          <a:xfrm flipV="1">
            <a:off x="7518876" y="2168269"/>
            <a:ext cx="1" cy="155900"/>
          </a:xfrm>
          <a:prstGeom prst="line">
            <a:avLst/>
          </a:prstGeom>
          <a:ln w="12700">
            <a:solidFill>
              <a:srgbClr val="0043A8"/>
            </a:solidFill>
            <a:prstDash val="sysDash"/>
            <a:headEnd type="arrow" w="sm" len="sm"/>
            <a:tailEnd type="none" w="sm" len="sm"/>
          </a:ln>
        </p:spPr>
        <p:style>
          <a:lnRef idx="1">
            <a:schemeClr val="accent1"/>
          </a:lnRef>
          <a:fillRef idx="0">
            <a:schemeClr val="accent1"/>
          </a:fillRef>
          <a:effectRef idx="0">
            <a:schemeClr val="accent1"/>
          </a:effectRef>
          <a:fontRef idx="minor">
            <a:schemeClr val="tx1"/>
          </a:fontRef>
        </p:style>
      </p:cxnSp>
      <p:cxnSp>
        <p:nvCxnSpPr>
          <p:cNvPr id="220" name="连接符: 肘形 219">
            <a:extLst>
              <a:ext uri="{FF2B5EF4-FFF2-40B4-BE49-F238E27FC236}">
                <a16:creationId xmlns:a16="http://schemas.microsoft.com/office/drawing/2014/main" id="{8FA14BC2-630D-C099-6D2B-6065F6DA0DE2}"/>
              </a:ext>
            </a:extLst>
          </p:cNvPr>
          <p:cNvCxnSpPr>
            <a:cxnSpLocks/>
            <a:stCxn id="95" idx="2"/>
            <a:endCxn id="103" idx="0"/>
          </p:cNvCxnSpPr>
          <p:nvPr/>
        </p:nvCxnSpPr>
        <p:spPr>
          <a:xfrm rot="5400000" flipH="1" flipV="1">
            <a:off x="2781804" y="1811788"/>
            <a:ext cx="4776358" cy="4697788"/>
          </a:xfrm>
          <a:prstGeom prst="bentConnector5">
            <a:avLst>
              <a:gd name="adj1" fmla="val -4786"/>
              <a:gd name="adj2" fmla="val 53182"/>
              <a:gd name="adj3" fmla="val 104786"/>
            </a:avLst>
          </a:prstGeom>
          <a:ln w="25400">
            <a:solidFill>
              <a:srgbClr val="0043A8"/>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24" name="连接符: 肘形 223">
            <a:extLst>
              <a:ext uri="{FF2B5EF4-FFF2-40B4-BE49-F238E27FC236}">
                <a16:creationId xmlns:a16="http://schemas.microsoft.com/office/drawing/2014/main" id="{B522F272-5B8A-671E-80A9-8F18577B6514}"/>
              </a:ext>
            </a:extLst>
          </p:cNvPr>
          <p:cNvCxnSpPr>
            <a:cxnSpLocks/>
            <a:endCxn id="52" idx="0"/>
          </p:cNvCxnSpPr>
          <p:nvPr/>
        </p:nvCxnSpPr>
        <p:spPr>
          <a:xfrm>
            <a:off x="5351449" y="4494056"/>
            <a:ext cx="1325814" cy="149112"/>
          </a:xfrm>
          <a:prstGeom prst="bentConnector2">
            <a:avLst/>
          </a:prstGeom>
          <a:ln w="25400">
            <a:solidFill>
              <a:srgbClr val="0043A8"/>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32" name="连接符: 肘形 231">
            <a:extLst>
              <a:ext uri="{FF2B5EF4-FFF2-40B4-BE49-F238E27FC236}">
                <a16:creationId xmlns:a16="http://schemas.microsoft.com/office/drawing/2014/main" id="{52F1022A-B9A0-19DD-0084-C57421ED0FE8}"/>
              </a:ext>
            </a:extLst>
          </p:cNvPr>
          <p:cNvCxnSpPr>
            <a:cxnSpLocks/>
            <a:endCxn id="54" idx="0"/>
          </p:cNvCxnSpPr>
          <p:nvPr/>
        </p:nvCxnSpPr>
        <p:spPr>
          <a:xfrm>
            <a:off x="6742960" y="4484426"/>
            <a:ext cx="1764841" cy="141295"/>
          </a:xfrm>
          <a:prstGeom prst="bentConnector2">
            <a:avLst/>
          </a:prstGeom>
          <a:ln w="25400">
            <a:solidFill>
              <a:srgbClr val="0043A8"/>
            </a:solidFill>
            <a:prstDash val="lgDash"/>
            <a:tailEnd type="triangle"/>
          </a:ln>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F92398CF-C132-CF4B-E779-96AC141330F7}"/>
              </a:ext>
            </a:extLst>
          </p:cNvPr>
          <p:cNvGrpSpPr/>
          <p:nvPr/>
        </p:nvGrpSpPr>
        <p:grpSpPr>
          <a:xfrm>
            <a:off x="9776673" y="1727268"/>
            <a:ext cx="2171168" cy="4069466"/>
            <a:chOff x="8552008" y="1486742"/>
            <a:chExt cx="2679208" cy="4601787"/>
          </a:xfrm>
        </p:grpSpPr>
        <p:sp>
          <p:nvSpPr>
            <p:cNvPr id="9" name="椭圆 8"/>
            <p:cNvSpPr/>
            <p:nvPr/>
          </p:nvSpPr>
          <p:spPr>
            <a:xfrm>
              <a:off x="9007234" y="2770788"/>
              <a:ext cx="2223982" cy="2063762"/>
            </a:xfrm>
            <a:prstGeom prst="ellipse">
              <a:avLst/>
            </a:prstGeom>
            <a:solidFill>
              <a:srgbClr val="0043A8"/>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2000" b="1" dirty="0">
                  <a:solidFill>
                    <a:schemeClr val="bg1"/>
                  </a:solidFill>
                  <a:sym typeface="+mn-ea"/>
                </a:rPr>
                <a:t>复杂</a:t>
              </a:r>
              <a:r>
                <a:rPr lang="zh-CN" altLang="en-US" sz="2000" b="1" dirty="0">
                  <a:solidFill>
                    <a:schemeClr val="bg1"/>
                  </a:solidFill>
                  <a:latin typeface="+mj-lt"/>
                  <a:sym typeface="+mn-ea"/>
                </a:rPr>
                <a:t>环境</a:t>
              </a:r>
              <a:endParaRPr lang="en-US" altLang="zh-CN" sz="2000" b="1" dirty="0">
                <a:solidFill>
                  <a:schemeClr val="bg1"/>
                </a:solidFill>
                <a:latin typeface="+mj-lt"/>
                <a:sym typeface="+mn-ea"/>
              </a:endParaRPr>
            </a:p>
            <a:p>
              <a:pPr algn="ctr"/>
              <a:r>
                <a:rPr lang="zh-CN" altLang="en-US" sz="2000" b="1" dirty="0">
                  <a:solidFill>
                    <a:schemeClr val="bg1"/>
                  </a:solidFill>
                  <a:latin typeface="+mj-lt"/>
                  <a:sym typeface="+mn-ea"/>
                </a:rPr>
                <a:t>辐射源</a:t>
              </a:r>
              <a:r>
                <a:rPr lang="zh-CN" altLang="en-US" sz="2000" b="1" dirty="0">
                  <a:solidFill>
                    <a:schemeClr val="bg1"/>
                  </a:solidFill>
                  <a:sym typeface="+mn-ea"/>
                </a:rPr>
                <a:t>动态电磁行为</a:t>
              </a:r>
            </a:p>
          </p:txBody>
        </p:sp>
        <p:sp>
          <p:nvSpPr>
            <p:cNvPr id="246" name="箭头: 直角上 245">
              <a:extLst>
                <a:ext uri="{FF2B5EF4-FFF2-40B4-BE49-F238E27FC236}">
                  <a16:creationId xmlns:a16="http://schemas.microsoft.com/office/drawing/2014/main" id="{19F4C08C-BBE6-7CF5-0DB0-50F7EDAB89C7}"/>
                </a:ext>
              </a:extLst>
            </p:cNvPr>
            <p:cNvSpPr/>
            <p:nvPr/>
          </p:nvSpPr>
          <p:spPr>
            <a:xfrm>
              <a:off x="8552008" y="4935517"/>
              <a:ext cx="1924557" cy="1153012"/>
            </a:xfrm>
            <a:prstGeom prst="bentUpArrow">
              <a:avLst>
                <a:gd name="adj1" fmla="val 28436"/>
                <a:gd name="adj2" fmla="val 27299"/>
                <a:gd name="adj3" fmla="val 31860"/>
              </a:avLst>
            </a:prstGeom>
            <a:solidFill>
              <a:srgbClr val="0043A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kern="100" dirty="0">
                  <a:solidFill>
                    <a:schemeClr val="bg1"/>
                  </a:solidFill>
                  <a:latin typeface="+mj-ea"/>
                  <a:ea typeface="+mj-ea"/>
                  <a:cs typeface="Times New Roman" panose="02020603050405020304" pitchFamily="18" charset="0"/>
                </a:rPr>
                <a:t>预测</a:t>
              </a:r>
            </a:p>
          </p:txBody>
        </p:sp>
        <p:grpSp>
          <p:nvGrpSpPr>
            <p:cNvPr id="251" name="组合 250">
              <a:extLst>
                <a:ext uri="{FF2B5EF4-FFF2-40B4-BE49-F238E27FC236}">
                  <a16:creationId xmlns:a16="http://schemas.microsoft.com/office/drawing/2014/main" id="{E8679FB7-9A4D-7BDE-7DC8-E6BB8B492FF7}"/>
                </a:ext>
              </a:extLst>
            </p:cNvPr>
            <p:cNvGrpSpPr/>
            <p:nvPr/>
          </p:nvGrpSpPr>
          <p:grpSpPr>
            <a:xfrm>
              <a:off x="8552010" y="1486742"/>
              <a:ext cx="1924556" cy="1175490"/>
              <a:chOff x="8509575" y="1440626"/>
              <a:chExt cx="1924556" cy="1175490"/>
            </a:xfrm>
          </p:grpSpPr>
          <p:sp>
            <p:nvSpPr>
              <p:cNvPr id="249" name="箭头: 直角上 248">
                <a:extLst>
                  <a:ext uri="{FF2B5EF4-FFF2-40B4-BE49-F238E27FC236}">
                    <a16:creationId xmlns:a16="http://schemas.microsoft.com/office/drawing/2014/main" id="{C5ED7056-507C-EB5C-F54A-ECFA382089F3}"/>
                  </a:ext>
                </a:extLst>
              </p:cNvPr>
              <p:cNvSpPr/>
              <p:nvPr/>
            </p:nvSpPr>
            <p:spPr>
              <a:xfrm>
                <a:off x="8509575" y="1463104"/>
                <a:ext cx="1924556" cy="1153012"/>
              </a:xfrm>
              <a:prstGeom prst="bentUpArrow">
                <a:avLst>
                  <a:gd name="adj1" fmla="val 28436"/>
                  <a:gd name="adj2" fmla="val 27299"/>
                  <a:gd name="adj3" fmla="val 31860"/>
                </a:avLst>
              </a:prstGeom>
              <a:solidFill>
                <a:srgbClr val="0043A8"/>
              </a:solidFill>
              <a:scene3d>
                <a:camera prst="orthographicFront">
                  <a:rot lat="10800000" lon="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kern="100" dirty="0">
                  <a:solidFill>
                    <a:schemeClr val="bg1"/>
                  </a:solidFill>
                  <a:latin typeface="+mj-ea"/>
                  <a:ea typeface="+mj-ea"/>
                  <a:cs typeface="Times New Roman" panose="02020603050405020304" pitchFamily="18" charset="0"/>
                </a:endParaRPr>
              </a:p>
            </p:txBody>
          </p:sp>
          <p:sp>
            <p:nvSpPr>
              <p:cNvPr id="250" name="文本框 249">
                <a:extLst>
                  <a:ext uri="{FF2B5EF4-FFF2-40B4-BE49-F238E27FC236}">
                    <a16:creationId xmlns:a16="http://schemas.microsoft.com/office/drawing/2014/main" id="{357D8E59-BDC8-68DF-0E4E-17E3F658F9B0}"/>
                  </a:ext>
                </a:extLst>
              </p:cNvPr>
              <p:cNvSpPr txBox="1"/>
              <p:nvPr/>
            </p:nvSpPr>
            <p:spPr>
              <a:xfrm>
                <a:off x="8932375" y="1440626"/>
                <a:ext cx="984258" cy="369332"/>
              </a:xfrm>
              <a:prstGeom prst="rect">
                <a:avLst/>
              </a:prstGeom>
              <a:noFill/>
            </p:spPr>
            <p:txBody>
              <a:bodyPr wrap="square" rtlCol="0">
                <a:spAutoFit/>
              </a:bodyPr>
              <a:lstStyle/>
              <a:p>
                <a:r>
                  <a:rPr lang="zh-CN" altLang="en-US" b="1" kern="100" dirty="0">
                    <a:solidFill>
                      <a:schemeClr val="bg1"/>
                    </a:solidFill>
                    <a:latin typeface="+mj-ea"/>
                    <a:ea typeface="+mj-ea"/>
                    <a:cs typeface="Times New Roman" panose="02020603050405020304" pitchFamily="18" charset="0"/>
                  </a:rPr>
                  <a:t>感知</a:t>
                </a:r>
                <a:endParaRPr lang="zh-CN" altLang="en-US" dirty="0"/>
              </a:p>
            </p:txBody>
          </p:sp>
        </p:grpSp>
      </p:grpSp>
      <p:grpSp>
        <p:nvGrpSpPr>
          <p:cNvPr id="21" name="组合 20">
            <a:extLst>
              <a:ext uri="{FF2B5EF4-FFF2-40B4-BE49-F238E27FC236}">
                <a16:creationId xmlns:a16="http://schemas.microsoft.com/office/drawing/2014/main" id="{45BD4474-5587-AA78-8E1B-E375D4FAEE7C}"/>
              </a:ext>
            </a:extLst>
          </p:cNvPr>
          <p:cNvGrpSpPr/>
          <p:nvPr/>
        </p:nvGrpSpPr>
        <p:grpSpPr>
          <a:xfrm>
            <a:off x="623890" y="989250"/>
            <a:ext cx="4351320" cy="2840461"/>
            <a:chOff x="-47780" y="2958267"/>
            <a:chExt cx="4351320" cy="2840461"/>
          </a:xfrm>
        </p:grpSpPr>
        <p:sp>
          <p:nvSpPr>
            <p:cNvPr id="22" name="矩形 21">
              <a:extLst>
                <a:ext uri="{FF2B5EF4-FFF2-40B4-BE49-F238E27FC236}">
                  <a16:creationId xmlns:a16="http://schemas.microsoft.com/office/drawing/2014/main" id="{88172C5C-790F-61F0-9BB9-AE5C79F28124}"/>
                </a:ext>
              </a:extLst>
            </p:cNvPr>
            <p:cNvSpPr/>
            <p:nvPr/>
          </p:nvSpPr>
          <p:spPr>
            <a:xfrm>
              <a:off x="-32603" y="2958267"/>
              <a:ext cx="4336143" cy="2840461"/>
            </a:xfrm>
            <a:prstGeom prst="rect">
              <a:avLst/>
            </a:prstGeom>
            <a:solidFill>
              <a:schemeClr val="bg1"/>
            </a:solidFill>
            <a:ln w="25400" cmpd="sng">
              <a:solidFill>
                <a:srgbClr val="0043A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rgbClr val="0043A8"/>
                </a:solidFill>
              </a:endParaRPr>
            </a:p>
          </p:txBody>
        </p:sp>
        <p:sp>
          <p:nvSpPr>
            <p:cNvPr id="23" name="矩形 22">
              <a:extLst>
                <a:ext uri="{FF2B5EF4-FFF2-40B4-BE49-F238E27FC236}">
                  <a16:creationId xmlns:a16="http://schemas.microsoft.com/office/drawing/2014/main" id="{1E24FB43-C3DF-7365-2E34-B70E898DE47A}"/>
                </a:ext>
              </a:extLst>
            </p:cNvPr>
            <p:cNvSpPr/>
            <p:nvPr/>
          </p:nvSpPr>
          <p:spPr>
            <a:xfrm>
              <a:off x="1120044" y="4544112"/>
              <a:ext cx="2060792" cy="403652"/>
            </a:xfrm>
            <a:prstGeom prst="rect">
              <a:avLst/>
            </a:prstGeom>
            <a:solidFill>
              <a:srgbClr val="E2EDF7"/>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400" dirty="0">
                  <a:solidFill>
                    <a:srgbClr val="0043A8"/>
                  </a:solidFill>
                  <a:latin typeface="+mn-ea"/>
                </a:rPr>
                <a:t>特征集构建与更新</a:t>
              </a:r>
            </a:p>
          </p:txBody>
        </p:sp>
        <p:sp>
          <p:nvSpPr>
            <p:cNvPr id="24" name="矩形 23">
              <a:extLst>
                <a:ext uri="{FF2B5EF4-FFF2-40B4-BE49-F238E27FC236}">
                  <a16:creationId xmlns:a16="http://schemas.microsoft.com/office/drawing/2014/main" id="{9A863F6C-CB9C-02C5-99D2-BF7DE2A6EFC6}"/>
                </a:ext>
              </a:extLst>
            </p:cNvPr>
            <p:cNvSpPr/>
            <p:nvPr/>
          </p:nvSpPr>
          <p:spPr>
            <a:xfrm>
              <a:off x="1114726" y="3124417"/>
              <a:ext cx="2060575" cy="395766"/>
            </a:xfrm>
            <a:prstGeom prst="rect">
              <a:avLst/>
            </a:prstGeom>
            <a:solidFill>
              <a:srgbClr val="E2EDF7"/>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400" dirty="0">
                  <a:solidFill>
                    <a:srgbClr val="0043A8"/>
                  </a:solidFill>
                  <a:latin typeface="+mn-ea"/>
                  <a:sym typeface="+mn-ea"/>
                </a:rPr>
                <a:t>数据采集与预处理</a:t>
              </a:r>
            </a:p>
          </p:txBody>
        </p:sp>
        <p:cxnSp>
          <p:nvCxnSpPr>
            <p:cNvPr id="25" name="直接连接符 24">
              <a:extLst>
                <a:ext uri="{FF2B5EF4-FFF2-40B4-BE49-F238E27FC236}">
                  <a16:creationId xmlns:a16="http://schemas.microsoft.com/office/drawing/2014/main" id="{416171AD-37DE-F4DA-B2EF-189597246C2E}"/>
                </a:ext>
              </a:extLst>
            </p:cNvPr>
            <p:cNvCxnSpPr>
              <a:cxnSpLocks/>
              <a:stCxn id="40" idx="0"/>
              <a:endCxn id="34" idx="2"/>
            </p:cNvCxnSpPr>
            <p:nvPr/>
          </p:nvCxnSpPr>
          <p:spPr>
            <a:xfrm flipV="1">
              <a:off x="2144905" y="4000807"/>
              <a:ext cx="9563" cy="81980"/>
            </a:xfrm>
            <a:prstGeom prst="line">
              <a:avLst/>
            </a:prstGeom>
            <a:ln w="12700">
              <a:solidFill>
                <a:srgbClr val="0043A8"/>
              </a:solidFill>
              <a:prstDash val="sysDash"/>
              <a:headEnd type="arrow" w="sm" len="sm"/>
              <a:tailEnd type="none" w="sm" len="sm"/>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8B608683-B814-1162-1E6C-3D73D172E320}"/>
                </a:ext>
              </a:extLst>
            </p:cNvPr>
            <p:cNvCxnSpPr>
              <a:cxnSpLocks/>
              <a:stCxn id="23" idx="0"/>
              <a:endCxn id="40" idx="2"/>
            </p:cNvCxnSpPr>
            <p:nvPr/>
          </p:nvCxnSpPr>
          <p:spPr>
            <a:xfrm flipH="1" flipV="1">
              <a:off x="2144905" y="4486439"/>
              <a:ext cx="5535" cy="57673"/>
            </a:xfrm>
            <a:prstGeom prst="line">
              <a:avLst/>
            </a:prstGeom>
            <a:ln w="12700">
              <a:solidFill>
                <a:srgbClr val="0043A8"/>
              </a:solidFill>
              <a:prstDash val="sysDash"/>
              <a:headEnd type="arrow" w="sm" len="sm"/>
              <a:tailEnd type="none" w="sm" len="sm"/>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62B8C54C-C5EF-28DE-C591-711F626B3E84}"/>
                </a:ext>
              </a:extLst>
            </p:cNvPr>
            <p:cNvSpPr/>
            <p:nvPr/>
          </p:nvSpPr>
          <p:spPr>
            <a:xfrm>
              <a:off x="366309" y="5061308"/>
              <a:ext cx="3561470" cy="669710"/>
            </a:xfrm>
            <a:prstGeom prst="rect">
              <a:avLst/>
            </a:prstGeom>
            <a:solidFill>
              <a:srgbClr val="9CB9EB"/>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t"/>
            <a:lstStyle/>
            <a:p>
              <a:pPr algn="ctr"/>
              <a:r>
                <a:rPr lang="zh-CN" altLang="en-US" sz="1400" dirty="0">
                  <a:solidFill>
                    <a:srgbClr val="0043A8"/>
                  </a:solidFill>
                  <a:latin typeface="+mn-ea"/>
                </a:rPr>
                <a:t>动态电磁多维特征集</a:t>
              </a:r>
            </a:p>
          </p:txBody>
        </p:sp>
        <p:cxnSp>
          <p:nvCxnSpPr>
            <p:cNvPr id="29" name="直接连接符 28">
              <a:extLst>
                <a:ext uri="{FF2B5EF4-FFF2-40B4-BE49-F238E27FC236}">
                  <a16:creationId xmlns:a16="http://schemas.microsoft.com/office/drawing/2014/main" id="{E863BF25-6392-AE0E-3999-00CE4F19C9F4}"/>
                </a:ext>
              </a:extLst>
            </p:cNvPr>
            <p:cNvCxnSpPr>
              <a:cxnSpLocks/>
              <a:stCxn id="28" idx="0"/>
              <a:endCxn id="23" idx="2"/>
            </p:cNvCxnSpPr>
            <p:nvPr/>
          </p:nvCxnSpPr>
          <p:spPr>
            <a:xfrm flipV="1">
              <a:off x="2147044" y="4947764"/>
              <a:ext cx="3396" cy="113544"/>
            </a:xfrm>
            <a:prstGeom prst="line">
              <a:avLst/>
            </a:prstGeom>
            <a:ln w="12700">
              <a:solidFill>
                <a:srgbClr val="0043A8"/>
              </a:solidFill>
              <a:prstDash val="sysDash"/>
              <a:headEnd type="arrow" w="sm" len="sm"/>
              <a:tailEnd type="none" w="sm" len="sm"/>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6F1C7580-7881-DE84-6AF4-230133671499}"/>
                </a:ext>
              </a:extLst>
            </p:cNvPr>
            <p:cNvSpPr txBox="1"/>
            <p:nvPr/>
          </p:nvSpPr>
          <p:spPr>
            <a:xfrm>
              <a:off x="-47780" y="3443938"/>
              <a:ext cx="461665" cy="1871605"/>
            </a:xfrm>
            <a:prstGeom prst="rect">
              <a:avLst/>
            </a:prstGeom>
            <a:noFill/>
          </p:spPr>
          <p:txBody>
            <a:bodyPr vert="eaVert" wrap="square" rtlCol="0">
              <a:spAutoFit/>
            </a:bodyPr>
            <a:lstStyle/>
            <a:p>
              <a:r>
                <a:rPr lang="zh-CN" altLang="en-US" b="1" kern="100" dirty="0">
                  <a:solidFill>
                    <a:srgbClr val="0043A8"/>
                  </a:solidFill>
                  <a:latin typeface="+mj-ea"/>
                  <a:ea typeface="+mj-ea"/>
                  <a:cs typeface="Times New Roman" panose="02020603050405020304" pitchFamily="18" charset="0"/>
                </a:rPr>
                <a:t>电磁数据集构建</a:t>
              </a:r>
            </a:p>
          </p:txBody>
        </p:sp>
        <p:sp>
          <p:nvSpPr>
            <p:cNvPr id="34" name="矩形 33">
              <a:extLst>
                <a:ext uri="{FF2B5EF4-FFF2-40B4-BE49-F238E27FC236}">
                  <a16:creationId xmlns:a16="http://schemas.microsoft.com/office/drawing/2014/main" id="{40CA7674-8F86-BD07-02A2-27ECA55965B1}"/>
                </a:ext>
              </a:extLst>
            </p:cNvPr>
            <p:cNvSpPr/>
            <p:nvPr/>
          </p:nvSpPr>
          <p:spPr>
            <a:xfrm>
              <a:off x="1124180" y="3605041"/>
              <a:ext cx="2060575" cy="395766"/>
            </a:xfrm>
            <a:prstGeom prst="rect">
              <a:avLst/>
            </a:prstGeom>
            <a:solidFill>
              <a:srgbClr val="E2EDF7"/>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400" dirty="0">
                  <a:solidFill>
                    <a:srgbClr val="0043A8"/>
                  </a:solidFill>
                  <a:latin typeface="+mn-ea"/>
                  <a:sym typeface="+mn-ea"/>
                </a:rPr>
                <a:t>特征提取融合</a:t>
              </a:r>
            </a:p>
          </p:txBody>
        </p:sp>
        <p:cxnSp>
          <p:nvCxnSpPr>
            <p:cNvPr id="35" name="直接连接符 34">
              <a:extLst>
                <a:ext uri="{FF2B5EF4-FFF2-40B4-BE49-F238E27FC236}">
                  <a16:creationId xmlns:a16="http://schemas.microsoft.com/office/drawing/2014/main" id="{F603D642-522A-F28C-B89F-76327D325C2C}"/>
                </a:ext>
              </a:extLst>
            </p:cNvPr>
            <p:cNvCxnSpPr>
              <a:cxnSpLocks/>
              <a:stCxn id="34" idx="0"/>
              <a:endCxn id="24" idx="2"/>
            </p:cNvCxnSpPr>
            <p:nvPr/>
          </p:nvCxnSpPr>
          <p:spPr>
            <a:xfrm flipH="1" flipV="1">
              <a:off x="2145014" y="3520183"/>
              <a:ext cx="9454" cy="84858"/>
            </a:xfrm>
            <a:prstGeom prst="line">
              <a:avLst/>
            </a:prstGeom>
            <a:ln w="12700">
              <a:solidFill>
                <a:srgbClr val="0043A8"/>
              </a:solidFill>
              <a:prstDash val="sysDash"/>
              <a:headEnd type="arrow" w="sm" len="sm"/>
              <a:tailEnd type="none" w="sm" len="sm"/>
            </a:ln>
          </p:spPr>
          <p:style>
            <a:lnRef idx="1">
              <a:schemeClr val="accent1"/>
            </a:lnRef>
            <a:fillRef idx="0">
              <a:schemeClr val="accent1"/>
            </a:fillRef>
            <a:effectRef idx="0">
              <a:schemeClr val="accent1"/>
            </a:effectRef>
            <a:fontRef idx="minor">
              <a:schemeClr val="tx1"/>
            </a:fontRef>
          </p:style>
        </p:cxnSp>
      </p:grpSp>
      <p:sp>
        <p:nvSpPr>
          <p:cNvPr id="40" name="矩形 39">
            <a:extLst>
              <a:ext uri="{FF2B5EF4-FFF2-40B4-BE49-F238E27FC236}">
                <a16:creationId xmlns:a16="http://schemas.microsoft.com/office/drawing/2014/main" id="{B230C6AE-1CA0-4A23-EDF4-203786B12CA7}"/>
              </a:ext>
            </a:extLst>
          </p:cNvPr>
          <p:cNvSpPr/>
          <p:nvPr/>
        </p:nvSpPr>
        <p:spPr>
          <a:xfrm>
            <a:off x="1786179" y="2113770"/>
            <a:ext cx="2060792" cy="403652"/>
          </a:xfrm>
          <a:prstGeom prst="rect">
            <a:avLst/>
          </a:prstGeom>
          <a:solidFill>
            <a:srgbClr val="E2EDF7"/>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400" dirty="0">
                <a:solidFill>
                  <a:srgbClr val="0043A8"/>
                </a:solidFill>
                <a:latin typeface="+mn-ea"/>
              </a:rPr>
              <a:t>特征选择优化</a:t>
            </a:r>
          </a:p>
        </p:txBody>
      </p:sp>
      <p:sp>
        <p:nvSpPr>
          <p:cNvPr id="82" name="矩形 81">
            <a:extLst>
              <a:ext uri="{FF2B5EF4-FFF2-40B4-BE49-F238E27FC236}">
                <a16:creationId xmlns:a16="http://schemas.microsoft.com/office/drawing/2014/main" id="{69492022-A72A-A384-3994-6ED9D43F4FDE}"/>
              </a:ext>
            </a:extLst>
          </p:cNvPr>
          <p:cNvSpPr/>
          <p:nvPr/>
        </p:nvSpPr>
        <p:spPr>
          <a:xfrm>
            <a:off x="1074383" y="3431770"/>
            <a:ext cx="656939" cy="226317"/>
          </a:xfrm>
          <a:prstGeom prst="rect">
            <a:avLst/>
          </a:prstGeom>
          <a:solidFill>
            <a:schemeClr val="accent6">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200" dirty="0">
                <a:solidFill>
                  <a:srgbClr val="0043A8"/>
                </a:solidFill>
                <a:latin typeface="+mn-ea"/>
              </a:rPr>
              <a:t>物理域</a:t>
            </a:r>
          </a:p>
        </p:txBody>
      </p:sp>
      <p:sp>
        <p:nvSpPr>
          <p:cNvPr id="91" name="矩形 90">
            <a:extLst>
              <a:ext uri="{FF2B5EF4-FFF2-40B4-BE49-F238E27FC236}">
                <a16:creationId xmlns:a16="http://schemas.microsoft.com/office/drawing/2014/main" id="{530C246A-1787-AADA-BC1B-47F11DBA893F}"/>
              </a:ext>
            </a:extLst>
          </p:cNvPr>
          <p:cNvSpPr/>
          <p:nvPr/>
        </p:nvSpPr>
        <p:spPr>
          <a:xfrm>
            <a:off x="1766782" y="3431770"/>
            <a:ext cx="672223" cy="226317"/>
          </a:xfrm>
          <a:prstGeom prst="rect">
            <a:avLst/>
          </a:prstGeom>
          <a:solidFill>
            <a:schemeClr val="accent6">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200" dirty="0">
                <a:solidFill>
                  <a:srgbClr val="0043A8"/>
                </a:solidFill>
                <a:latin typeface="+mn-ea"/>
              </a:rPr>
              <a:t>无线域</a:t>
            </a:r>
          </a:p>
        </p:txBody>
      </p:sp>
      <p:sp>
        <p:nvSpPr>
          <p:cNvPr id="92" name="矩形 91">
            <a:extLst>
              <a:ext uri="{FF2B5EF4-FFF2-40B4-BE49-F238E27FC236}">
                <a16:creationId xmlns:a16="http://schemas.microsoft.com/office/drawing/2014/main" id="{8A93B401-BA96-5A22-B532-4C9FB14B4A39}"/>
              </a:ext>
            </a:extLst>
          </p:cNvPr>
          <p:cNvSpPr/>
          <p:nvPr/>
        </p:nvSpPr>
        <p:spPr>
          <a:xfrm>
            <a:off x="2474465" y="3425385"/>
            <a:ext cx="672223" cy="226317"/>
          </a:xfrm>
          <a:prstGeom prst="rect">
            <a:avLst/>
          </a:prstGeom>
          <a:solidFill>
            <a:schemeClr val="accent6">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200" dirty="0">
                <a:solidFill>
                  <a:srgbClr val="0043A8"/>
                </a:solidFill>
                <a:latin typeface="+mn-ea"/>
              </a:rPr>
              <a:t>标准域</a:t>
            </a:r>
          </a:p>
        </p:txBody>
      </p:sp>
      <p:sp>
        <p:nvSpPr>
          <p:cNvPr id="93" name="矩形 92">
            <a:extLst>
              <a:ext uri="{FF2B5EF4-FFF2-40B4-BE49-F238E27FC236}">
                <a16:creationId xmlns:a16="http://schemas.microsoft.com/office/drawing/2014/main" id="{AE23B711-60C4-497E-3995-215E3235C892}"/>
              </a:ext>
            </a:extLst>
          </p:cNvPr>
          <p:cNvSpPr/>
          <p:nvPr/>
        </p:nvSpPr>
        <p:spPr>
          <a:xfrm>
            <a:off x="3184202" y="3425385"/>
            <a:ext cx="672223" cy="226317"/>
          </a:xfrm>
          <a:prstGeom prst="rect">
            <a:avLst/>
          </a:prstGeom>
          <a:solidFill>
            <a:schemeClr val="accent6">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200" dirty="0">
                <a:solidFill>
                  <a:srgbClr val="0043A8"/>
                </a:solidFill>
                <a:latin typeface="+mn-ea"/>
              </a:rPr>
              <a:t>业务域</a:t>
            </a:r>
          </a:p>
        </p:txBody>
      </p:sp>
      <p:sp>
        <p:nvSpPr>
          <p:cNvPr id="94" name="矩形 93">
            <a:extLst>
              <a:ext uri="{FF2B5EF4-FFF2-40B4-BE49-F238E27FC236}">
                <a16:creationId xmlns:a16="http://schemas.microsoft.com/office/drawing/2014/main" id="{A5BA5A63-38B4-942C-1A53-1DF57FAF676A}"/>
              </a:ext>
            </a:extLst>
          </p:cNvPr>
          <p:cNvSpPr/>
          <p:nvPr/>
        </p:nvSpPr>
        <p:spPr>
          <a:xfrm>
            <a:off x="3889129" y="3422460"/>
            <a:ext cx="672223" cy="226317"/>
          </a:xfrm>
          <a:prstGeom prst="rect">
            <a:avLst/>
          </a:prstGeom>
          <a:solidFill>
            <a:schemeClr val="accent6">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200" dirty="0">
                <a:solidFill>
                  <a:srgbClr val="0043A8"/>
                </a:solidFill>
                <a:latin typeface="+mn-ea"/>
              </a:rPr>
              <a:t>变换域</a:t>
            </a:r>
          </a:p>
        </p:txBody>
      </p:sp>
      <p:cxnSp>
        <p:nvCxnSpPr>
          <p:cNvPr id="117" name="连接符: 肘形 116">
            <a:extLst>
              <a:ext uri="{FF2B5EF4-FFF2-40B4-BE49-F238E27FC236}">
                <a16:creationId xmlns:a16="http://schemas.microsoft.com/office/drawing/2014/main" id="{64BBF4E6-0908-D18B-4E06-0B5BAA655704}"/>
              </a:ext>
            </a:extLst>
          </p:cNvPr>
          <p:cNvCxnSpPr>
            <a:cxnSpLocks/>
            <a:stCxn id="28" idx="2"/>
            <a:endCxn id="41" idx="0"/>
          </p:cNvCxnSpPr>
          <p:nvPr/>
        </p:nvCxnSpPr>
        <p:spPr>
          <a:xfrm rot="5400000">
            <a:off x="2625767" y="3952702"/>
            <a:ext cx="383648" cy="2247"/>
          </a:xfrm>
          <a:prstGeom prst="bentConnector3">
            <a:avLst>
              <a:gd name="adj1" fmla="val 50000"/>
            </a:avLst>
          </a:prstGeom>
          <a:ln w="25400">
            <a:solidFill>
              <a:srgbClr val="0043A8"/>
            </a:solidFill>
            <a:prstDash val="sysDash"/>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a:xfrm>
            <a:off x="882468" y="43657"/>
            <a:ext cx="10554674" cy="598488"/>
          </a:xfrm>
        </p:spPr>
        <p:txBody>
          <a:bodyPr/>
          <a:lstStyle/>
          <a:p>
            <a:r>
              <a:rPr lang="zh-CN" altLang="en-US" dirty="0"/>
              <a:t>任务</a:t>
            </a:r>
            <a:r>
              <a:rPr lang="en-US" altLang="zh-CN" dirty="0"/>
              <a:t>1:</a:t>
            </a:r>
            <a:r>
              <a:rPr lang="zh-CN" altLang="en-US" dirty="0"/>
              <a:t>面向高速率卫星通信的多元非线性信号处理</a:t>
            </a:r>
          </a:p>
        </p:txBody>
      </p:sp>
      <p:sp>
        <p:nvSpPr>
          <p:cNvPr id="37" name="文本框 6"/>
          <p:cNvSpPr txBox="1"/>
          <p:nvPr>
            <p:custDataLst>
              <p:tags r:id="rId1"/>
            </p:custDataLst>
          </p:nvPr>
        </p:nvSpPr>
        <p:spPr>
          <a:xfrm>
            <a:off x="647700" y="83820"/>
            <a:ext cx="10733809" cy="7620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marL="0" indent="0" algn="l">
              <a:lnSpc>
                <a:spcPct val="100000"/>
              </a:lnSpc>
              <a:spcBef>
                <a:spcPts val="0"/>
              </a:spcBef>
              <a:spcAft>
                <a:spcPts val="0"/>
              </a:spcAft>
              <a:buSzPct val="100000"/>
              <a:buNone/>
            </a:pPr>
            <a:r>
              <a:rPr lang="en-US" altLang="zh-CN" sz="3000" dirty="0">
                <a:solidFill>
                  <a:srgbClr val="0043A8"/>
                </a:solidFill>
              </a:rPr>
              <a:t> </a:t>
            </a:r>
            <a:r>
              <a:rPr lang="zh-CN" altLang="en-US" sz="3000" dirty="0">
                <a:solidFill>
                  <a:srgbClr val="0043A8"/>
                </a:solidFill>
              </a:rPr>
              <a:t>技术路线三：端侧高能效比</a:t>
            </a:r>
            <a:r>
              <a:rPr lang="en-US" altLang="zh-CN" sz="3000" dirty="0">
                <a:solidFill>
                  <a:srgbClr val="0043A8"/>
                </a:solidFill>
              </a:rPr>
              <a:t>NPU</a:t>
            </a:r>
            <a:r>
              <a:rPr lang="zh-CN" altLang="en-US" sz="3000" dirty="0">
                <a:solidFill>
                  <a:srgbClr val="0043A8"/>
                </a:solidFill>
              </a:rPr>
              <a:t>全链路技术</a:t>
            </a:r>
          </a:p>
        </p:txBody>
      </p:sp>
      <p:cxnSp>
        <p:nvCxnSpPr>
          <p:cNvPr id="39" name="直接连接符 38"/>
          <p:cNvCxnSpPr/>
          <p:nvPr>
            <p:custDataLst>
              <p:tags r:id="rId2"/>
            </p:custDataLst>
          </p:nvPr>
        </p:nvCxnSpPr>
        <p:spPr>
          <a:xfrm>
            <a:off x="414024" y="245115"/>
            <a:ext cx="5080" cy="439420"/>
          </a:xfrm>
          <a:prstGeom prst="line">
            <a:avLst/>
          </a:prstGeom>
          <a:ln w="101600">
            <a:solidFill>
              <a:srgbClr val="0043A8"/>
            </a:solidFill>
          </a:ln>
        </p:spPr>
        <p:style>
          <a:lnRef idx="1">
            <a:schemeClr val="accent1"/>
          </a:lnRef>
          <a:fillRef idx="0">
            <a:schemeClr val="accent1"/>
          </a:fillRef>
          <a:effectRef idx="0">
            <a:schemeClr val="accent1"/>
          </a:effectRef>
          <a:fontRef idx="minor">
            <a:schemeClr val="tx1"/>
          </a:fontRef>
        </p:style>
      </p:cxnSp>
      <p:sp>
        <p:nvSpPr>
          <p:cNvPr id="3" name="灯片编号占位符 2">
            <a:extLst>
              <a:ext uri="{FF2B5EF4-FFF2-40B4-BE49-F238E27FC236}">
                <a16:creationId xmlns:a16="http://schemas.microsoft.com/office/drawing/2014/main" id="{B7F99789-9945-4071-AF89-208BD43661DA}"/>
              </a:ext>
            </a:extLst>
          </p:cNvPr>
          <p:cNvSpPr>
            <a:spLocks noGrp="1"/>
          </p:cNvSpPr>
          <p:nvPr>
            <p:ph type="sldNum" sz="quarter" idx="10"/>
          </p:nvPr>
        </p:nvSpPr>
        <p:spPr>
          <a:xfrm>
            <a:off x="11177162" y="6568527"/>
            <a:ext cx="1037230" cy="342900"/>
          </a:xfrm>
        </p:spPr>
        <p:txBody>
          <a:bodyPr/>
          <a:lstStyle/>
          <a:p>
            <a:fld id="{6C53781C-E1F6-4315-A39D-61273F2E0596}" type="slidenum">
              <a:rPr lang="zh-CN" altLang="en-US" smtClean="0"/>
              <a:t>4</a:t>
            </a:fld>
            <a:endParaRPr lang="zh-CN" altLang="en-US" dirty="0"/>
          </a:p>
        </p:txBody>
      </p:sp>
      <p:grpSp>
        <p:nvGrpSpPr>
          <p:cNvPr id="122" name="组合 121">
            <a:extLst>
              <a:ext uri="{FF2B5EF4-FFF2-40B4-BE49-F238E27FC236}">
                <a16:creationId xmlns:a16="http://schemas.microsoft.com/office/drawing/2014/main" id="{0CB541FE-3E2F-7CEA-751B-31479913D777}"/>
              </a:ext>
            </a:extLst>
          </p:cNvPr>
          <p:cNvGrpSpPr/>
          <p:nvPr/>
        </p:nvGrpSpPr>
        <p:grpSpPr>
          <a:xfrm>
            <a:off x="3994552" y="990770"/>
            <a:ext cx="3600000" cy="5631829"/>
            <a:chOff x="4186996" y="986496"/>
            <a:chExt cx="3600000" cy="5631829"/>
          </a:xfrm>
        </p:grpSpPr>
        <p:sp>
          <p:nvSpPr>
            <p:cNvPr id="19" name="圆角矩形 34"/>
            <p:cNvSpPr/>
            <p:nvPr>
              <p:custDataLst>
                <p:tags r:id="rId7"/>
              </p:custDataLst>
            </p:nvPr>
          </p:nvSpPr>
          <p:spPr>
            <a:xfrm>
              <a:off x="4330996" y="997284"/>
              <a:ext cx="3312000" cy="538268"/>
            </a:xfrm>
            <a:prstGeom prst="roundRect">
              <a:avLst/>
            </a:prstGeom>
            <a:solidFill>
              <a:srgbClr val="0043A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noAutofit/>
            </a:bodyPr>
            <a:lstStyle/>
            <a:p>
              <a:pPr marL="338455" indent="-234950" algn="ctr" eaLnBrk="0">
                <a:lnSpc>
                  <a:spcPct val="110000"/>
                </a:lnSpc>
                <a:spcBef>
                  <a:spcPts val="900"/>
                </a:spcBef>
              </a:pPr>
              <a:r>
                <a:rPr lang="zh-CN" altLang="en-US" kern="100" dirty="0">
                  <a:solidFill>
                    <a:schemeClr val="bg1"/>
                  </a:solidFill>
                  <a:latin typeface="微软雅黑" panose="020B0503020204020204" charset="-122"/>
                  <a:ea typeface="微软雅黑" panose="020B0503020204020204" charset="-122"/>
                  <a:cs typeface="Times New Roman" panose="02020603050405020304" pitchFamily="18" charset="0"/>
                </a:rPr>
                <a:t>知识图谱</a:t>
              </a:r>
              <a:r>
                <a:rPr lang="zh-CN" altLang="zh-CN" kern="100" dirty="0">
                  <a:solidFill>
                    <a:schemeClr val="bg1"/>
                  </a:solidFill>
                  <a:latin typeface="微软雅黑" panose="020B0503020204020204" charset="-122"/>
                  <a:ea typeface="微软雅黑" panose="020B0503020204020204" charset="-122"/>
                  <a:cs typeface="Times New Roman" panose="02020603050405020304" pitchFamily="18" charset="0"/>
                </a:rPr>
                <a:t>嵌入</a:t>
              </a:r>
              <a:r>
                <a:rPr lang="zh-CN" altLang="en-US" kern="100" dirty="0">
                  <a:solidFill>
                    <a:schemeClr val="bg1"/>
                  </a:solidFill>
                  <a:latin typeface="微软雅黑" panose="020B0503020204020204" charset="-122"/>
                  <a:ea typeface="微软雅黑" panose="020B0503020204020204" charset="-122"/>
                  <a:cs typeface="Times New Roman" panose="02020603050405020304" pitchFamily="18" charset="0"/>
                </a:rPr>
                <a:t>技术</a:t>
              </a:r>
              <a:endParaRPr lang="zh-CN" altLang="en-US" kern="100" dirty="0">
                <a:solidFill>
                  <a:schemeClr val="bg1"/>
                </a:solidFill>
                <a:latin typeface="微软雅黑" panose="020B0503020204020204" charset="-122"/>
                <a:ea typeface="微软雅黑" panose="020B0503020204020204" charset="-122"/>
                <a:cs typeface="Times New Roman" panose="02020603050405020304" pitchFamily="18" charset="0"/>
                <a:sym typeface="+mn-ea"/>
              </a:endParaRPr>
            </a:p>
          </p:txBody>
        </p:sp>
        <p:sp>
          <p:nvSpPr>
            <p:cNvPr id="23" name="文本框 22"/>
            <p:cNvSpPr txBox="1"/>
            <p:nvPr/>
          </p:nvSpPr>
          <p:spPr>
            <a:xfrm>
              <a:off x="5166441" y="3226802"/>
              <a:ext cx="1674944" cy="368300"/>
            </a:xfrm>
            <a:prstGeom prst="rect">
              <a:avLst/>
            </a:prstGeom>
            <a:solidFill>
              <a:srgbClr val="E1EAF9"/>
            </a:solidFill>
          </p:spPr>
          <p:txBody>
            <a:bodyPr wrap="square">
              <a:spAutoFit/>
            </a:bodyPr>
            <a:lstStyle/>
            <a:p>
              <a:pPr marL="467360" indent="-363855" algn="l" rtl="0" eaLnBrk="0" fontAlgn="auto">
                <a:lnSpc>
                  <a:spcPct val="100000"/>
                </a:lnSpc>
                <a:spcBef>
                  <a:spcPts val="0"/>
                </a:spcBef>
              </a:pPr>
              <a:r>
                <a:rPr lang="zh-CN" altLang="en-US" kern="0" spc="-10" dirty="0">
                  <a:solidFill>
                    <a:srgbClr val="000000">
                      <a:alpha val="100000"/>
                    </a:srgbClr>
                  </a:solidFill>
                  <a:latin typeface="+mj-ea"/>
                  <a:ea typeface="+mj-ea"/>
                  <a:cs typeface="+mj-ea"/>
                  <a:sym typeface="+mn-ea"/>
                </a:rPr>
                <a:t>知识图谱嵌入</a:t>
              </a:r>
              <a:endParaRPr lang="zh-CN" altLang="en-US" sz="1800" kern="0" spc="30" dirty="0">
                <a:solidFill>
                  <a:srgbClr val="000000">
                    <a:alpha val="100000"/>
                  </a:srgbClr>
                </a:solidFill>
                <a:latin typeface="+mj-ea"/>
                <a:ea typeface="+mj-ea"/>
                <a:cs typeface="+mj-ea"/>
                <a:sym typeface="+mn-ea"/>
              </a:endParaRPr>
            </a:p>
          </p:txBody>
        </p:sp>
        <p:sp>
          <p:nvSpPr>
            <p:cNvPr id="26" name="矩形: 圆角 25"/>
            <p:cNvSpPr/>
            <p:nvPr/>
          </p:nvSpPr>
          <p:spPr>
            <a:xfrm>
              <a:off x="4186996" y="986496"/>
              <a:ext cx="3600000" cy="5631829"/>
            </a:xfrm>
            <a:prstGeom prst="roundRect">
              <a:avLst>
                <a:gd name="adj" fmla="val 4625"/>
              </a:avLst>
            </a:prstGeom>
            <a:noFill/>
            <a:ln>
              <a:solidFill>
                <a:srgbClr val="0043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noFill/>
              </a:endParaRPr>
            </a:p>
          </p:txBody>
        </p:sp>
        <p:sp>
          <p:nvSpPr>
            <p:cNvPr id="63" name="文本框 62">
              <a:extLst>
                <a:ext uri="{FF2B5EF4-FFF2-40B4-BE49-F238E27FC236}">
                  <a16:creationId xmlns:a16="http://schemas.microsoft.com/office/drawing/2014/main" id="{AE944565-DBD8-C543-3A3D-CEFF2C49B482}"/>
                </a:ext>
              </a:extLst>
            </p:cNvPr>
            <p:cNvSpPr txBox="1"/>
            <p:nvPr/>
          </p:nvSpPr>
          <p:spPr>
            <a:xfrm>
              <a:off x="5446172" y="6137765"/>
              <a:ext cx="1115482" cy="369332"/>
            </a:xfrm>
            <a:prstGeom prst="rect">
              <a:avLst/>
            </a:prstGeom>
            <a:solidFill>
              <a:srgbClr val="E1EAF9"/>
            </a:solidFill>
          </p:spPr>
          <p:txBody>
            <a:bodyPr wrap="square" rtlCol="0">
              <a:spAutoFit/>
            </a:bodyPr>
            <a:lstStyle/>
            <a:p>
              <a:pPr algn="ctr" defTabSz="457200"/>
              <a:r>
                <a:rPr lang="zh-CN" altLang="en-US" kern="0" spc="-10" dirty="0">
                  <a:solidFill>
                    <a:srgbClr val="000000">
                      <a:alpha val="100000"/>
                    </a:srgbClr>
                  </a:solidFill>
                  <a:latin typeface="+mj-ea"/>
                  <a:ea typeface="+mj-ea"/>
                  <a:cs typeface="+mj-ea"/>
                </a:rPr>
                <a:t>嵌入向量</a:t>
              </a:r>
            </a:p>
          </p:txBody>
        </p:sp>
        <p:pic>
          <p:nvPicPr>
            <p:cNvPr id="65" name="图片 64">
              <a:extLst>
                <a:ext uri="{FF2B5EF4-FFF2-40B4-BE49-F238E27FC236}">
                  <a16:creationId xmlns:a16="http://schemas.microsoft.com/office/drawing/2014/main" id="{9EEA18A8-27F7-C247-179A-6EAA69903EB7}"/>
                </a:ext>
              </a:extLst>
            </p:cNvPr>
            <p:cNvPicPr>
              <a:picLocks noChangeAspect="1"/>
            </p:cNvPicPr>
            <p:nvPr/>
          </p:nvPicPr>
          <p:blipFill>
            <a:blip r:embed="rId10"/>
            <a:stretch>
              <a:fillRect/>
            </a:stretch>
          </p:blipFill>
          <p:spPr>
            <a:xfrm>
              <a:off x="4233035" y="1703924"/>
              <a:ext cx="3507922" cy="1369679"/>
            </a:xfrm>
            <a:prstGeom prst="rect">
              <a:avLst/>
            </a:prstGeom>
          </p:spPr>
        </p:pic>
        <p:grpSp>
          <p:nvGrpSpPr>
            <p:cNvPr id="4" name="组合 3">
              <a:extLst>
                <a:ext uri="{FF2B5EF4-FFF2-40B4-BE49-F238E27FC236}">
                  <a16:creationId xmlns:a16="http://schemas.microsoft.com/office/drawing/2014/main" id="{8961FA70-3D49-D20B-F382-84CDA61A31F4}"/>
                </a:ext>
              </a:extLst>
            </p:cNvPr>
            <p:cNvGrpSpPr/>
            <p:nvPr/>
          </p:nvGrpSpPr>
          <p:grpSpPr>
            <a:xfrm>
              <a:off x="4403754" y="4179738"/>
              <a:ext cx="3239242" cy="1455230"/>
              <a:chOff x="4736673" y="2231829"/>
              <a:chExt cx="2896124" cy="1097022"/>
            </a:xfrm>
          </p:grpSpPr>
          <p:sp>
            <p:nvSpPr>
              <p:cNvPr id="83" name="矩形 82">
                <a:extLst>
                  <a:ext uri="{FF2B5EF4-FFF2-40B4-BE49-F238E27FC236}">
                    <a16:creationId xmlns:a16="http://schemas.microsoft.com/office/drawing/2014/main" id="{55ED2DA0-ED60-02B4-002D-334B12645BC4}"/>
                  </a:ext>
                </a:extLst>
              </p:cNvPr>
              <p:cNvSpPr/>
              <p:nvPr/>
            </p:nvSpPr>
            <p:spPr>
              <a:xfrm>
                <a:off x="4736673" y="2231829"/>
                <a:ext cx="2896124" cy="1097022"/>
              </a:xfrm>
              <a:prstGeom prst="rect">
                <a:avLst/>
              </a:prstGeom>
              <a:solidFill>
                <a:schemeClr val="bg1"/>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D6517775-60A5-B5A0-71F5-0D9B9D5F9CA3}"/>
                  </a:ext>
                </a:extLst>
              </p:cNvPr>
              <p:cNvSpPr/>
              <p:nvPr/>
            </p:nvSpPr>
            <p:spPr>
              <a:xfrm>
                <a:off x="5476551" y="2784236"/>
                <a:ext cx="343005" cy="216288"/>
              </a:xfrm>
              <a:prstGeom prst="rect">
                <a:avLst/>
              </a:prstGeom>
              <a:solidFill>
                <a:schemeClr val="accent6">
                  <a:lumMod val="20000"/>
                  <a:lumOff val="80000"/>
                </a:schemeClr>
              </a:solidFill>
              <a:ln w="12700" cap="flat" cmpd="sng" algn="ctr">
                <a:solidFill>
                  <a:sysClr val="windowText" lastClr="000000"/>
                </a:solidFill>
                <a:prstDash val="solid"/>
                <a:miter lim="800000"/>
              </a:ln>
              <a:effectLst/>
              <a:scene3d>
                <a:camera prst="orthographicFront"/>
                <a:lightRig rig="threePt" dir="t"/>
              </a:scene3d>
              <a:sp3d>
                <a:bevelB w="114300" prst="hardEdge"/>
              </a:sp3d>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0.1</a:t>
                </a:r>
                <a:endParaRPr kumimoji="0" lang="zh-CN" altLang="en-US"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46" name="矩形 45">
                <a:extLst>
                  <a:ext uri="{FF2B5EF4-FFF2-40B4-BE49-F238E27FC236}">
                    <a16:creationId xmlns:a16="http://schemas.microsoft.com/office/drawing/2014/main" id="{3CAE0A87-849B-1F6F-5967-E6B9EA40E804}"/>
                  </a:ext>
                </a:extLst>
              </p:cNvPr>
              <p:cNvSpPr/>
              <p:nvPr/>
            </p:nvSpPr>
            <p:spPr>
              <a:xfrm>
                <a:off x="6510342" y="2350985"/>
                <a:ext cx="343005" cy="216288"/>
              </a:xfrm>
              <a:prstGeom prst="rect">
                <a:avLst/>
              </a:prstGeom>
              <a:solidFill>
                <a:srgbClr val="9CB9EB"/>
              </a:solidFill>
              <a:ln w="12700" cap="flat" cmpd="sng" algn="ctr">
                <a:solidFill>
                  <a:sysClr val="windowText" lastClr="000000"/>
                </a:solidFill>
                <a:prstDash val="solid"/>
                <a:miter lim="800000"/>
              </a:ln>
              <a:effectLst/>
              <a:scene3d>
                <a:camera prst="orthographicFront"/>
                <a:lightRig rig="threePt" dir="t"/>
              </a:scene3d>
              <a:sp3d>
                <a:bevelB w="114300" prst="hardEdge"/>
              </a:sp3d>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0.3</a:t>
                </a:r>
                <a:endParaRPr kumimoji="0" lang="zh-CN" altLang="en-US"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47" name="矩形 46">
                <a:extLst>
                  <a:ext uri="{FF2B5EF4-FFF2-40B4-BE49-F238E27FC236}">
                    <a16:creationId xmlns:a16="http://schemas.microsoft.com/office/drawing/2014/main" id="{606E1A59-408F-F60D-4B1F-AC2F30AA715B}"/>
                  </a:ext>
                </a:extLst>
              </p:cNvPr>
              <p:cNvSpPr/>
              <p:nvPr/>
            </p:nvSpPr>
            <p:spPr>
              <a:xfrm>
                <a:off x="6510342" y="2566963"/>
                <a:ext cx="343005" cy="216288"/>
              </a:xfrm>
              <a:prstGeom prst="rect">
                <a:avLst/>
              </a:prstGeom>
              <a:solidFill>
                <a:schemeClr val="accent5">
                  <a:lumMod val="20000"/>
                  <a:lumOff val="80000"/>
                </a:schemeClr>
              </a:solidFill>
              <a:ln w="12700" cap="flat" cmpd="sng" algn="ctr">
                <a:solidFill>
                  <a:sysClr val="windowText" lastClr="000000"/>
                </a:solidFill>
                <a:prstDash val="solid"/>
                <a:miter lim="800000"/>
              </a:ln>
              <a:effectLst/>
              <a:scene3d>
                <a:camera prst="orthographicFront"/>
                <a:lightRig rig="threePt" dir="t"/>
              </a:scene3d>
              <a:sp3d>
                <a:bevelB w="114300" prst="hardEdge"/>
              </a:sp3d>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0.1</a:t>
                </a:r>
                <a:endParaRPr kumimoji="0" lang="zh-CN" altLang="en-US"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48" name="矩形 47">
                <a:extLst>
                  <a:ext uri="{FF2B5EF4-FFF2-40B4-BE49-F238E27FC236}">
                    <a16:creationId xmlns:a16="http://schemas.microsoft.com/office/drawing/2014/main" id="{B3AA1BBF-5D14-8E37-4126-EBD68BFB0225}"/>
                  </a:ext>
                </a:extLst>
              </p:cNvPr>
              <p:cNvSpPr/>
              <p:nvPr/>
            </p:nvSpPr>
            <p:spPr>
              <a:xfrm>
                <a:off x="5824331" y="2784699"/>
                <a:ext cx="343005" cy="216288"/>
              </a:xfrm>
              <a:prstGeom prst="rect">
                <a:avLst/>
              </a:prstGeom>
              <a:solidFill>
                <a:schemeClr val="accent6">
                  <a:lumMod val="20000"/>
                  <a:lumOff val="80000"/>
                </a:schemeClr>
              </a:solidFill>
              <a:ln w="12700" cap="flat" cmpd="sng" algn="ctr">
                <a:solidFill>
                  <a:sysClr val="windowText" lastClr="000000"/>
                </a:solidFill>
                <a:prstDash val="solid"/>
                <a:miter lim="800000"/>
              </a:ln>
              <a:effectLst/>
              <a:scene3d>
                <a:camera prst="orthographicFront"/>
                <a:lightRig rig="threePt" dir="t"/>
              </a:scene3d>
              <a:sp3d>
                <a:bevelB w="114300" prst="hardEdge"/>
              </a:sp3d>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0.4</a:t>
                </a:r>
                <a:endParaRPr kumimoji="0" lang="zh-CN" altLang="en-US"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49" name="矩形 48">
                <a:extLst>
                  <a:ext uri="{FF2B5EF4-FFF2-40B4-BE49-F238E27FC236}">
                    <a16:creationId xmlns:a16="http://schemas.microsoft.com/office/drawing/2014/main" id="{5DBDD5DF-BB44-97A2-B249-EA51F5F488D2}"/>
                  </a:ext>
                </a:extLst>
              </p:cNvPr>
              <p:cNvSpPr/>
              <p:nvPr/>
            </p:nvSpPr>
            <p:spPr>
              <a:xfrm>
                <a:off x="6838100" y="2350675"/>
                <a:ext cx="343005" cy="216288"/>
              </a:xfrm>
              <a:prstGeom prst="rect">
                <a:avLst/>
              </a:prstGeom>
              <a:solidFill>
                <a:srgbClr val="9CB9EB"/>
              </a:solidFill>
              <a:ln w="12700" cap="flat" cmpd="sng" algn="ctr">
                <a:solidFill>
                  <a:sysClr val="windowText" lastClr="000000"/>
                </a:solidFill>
                <a:prstDash val="solid"/>
                <a:miter lim="800000"/>
              </a:ln>
              <a:effectLst/>
              <a:scene3d>
                <a:camera prst="orthographicFront"/>
                <a:lightRig rig="threePt" dir="t"/>
              </a:scene3d>
              <a:sp3d>
                <a:bevelB w="114300" prst="hardEdge"/>
              </a:sp3d>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0.1</a:t>
                </a:r>
                <a:endParaRPr kumimoji="0" lang="zh-CN" altLang="en-US"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50" name="矩形 49">
                <a:extLst>
                  <a:ext uri="{FF2B5EF4-FFF2-40B4-BE49-F238E27FC236}">
                    <a16:creationId xmlns:a16="http://schemas.microsoft.com/office/drawing/2014/main" id="{8F6F1FEB-569F-A1CF-D62E-2F53D9534A4F}"/>
                  </a:ext>
                </a:extLst>
              </p:cNvPr>
              <p:cNvSpPr/>
              <p:nvPr/>
            </p:nvSpPr>
            <p:spPr>
              <a:xfrm>
                <a:off x="6838100" y="2566653"/>
                <a:ext cx="343005" cy="216288"/>
              </a:xfrm>
              <a:prstGeom prst="rect">
                <a:avLst/>
              </a:prstGeom>
              <a:solidFill>
                <a:schemeClr val="accent5">
                  <a:lumMod val="20000"/>
                  <a:lumOff val="80000"/>
                </a:schemeClr>
              </a:solidFill>
              <a:ln w="12700" cap="flat" cmpd="sng" algn="ctr">
                <a:solidFill>
                  <a:sysClr val="windowText" lastClr="000000"/>
                </a:solidFill>
                <a:prstDash val="solid"/>
                <a:miter lim="800000"/>
              </a:ln>
              <a:effectLst/>
              <a:scene3d>
                <a:camera prst="orthographicFront"/>
                <a:lightRig rig="threePt" dir="t"/>
              </a:scene3d>
              <a:sp3d>
                <a:bevelB w="114300" prst="hardEdge"/>
              </a:sp3d>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0.5</a:t>
                </a:r>
                <a:endParaRPr kumimoji="0" lang="zh-CN" altLang="en-US"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51" name="矩形 50">
                <a:extLst>
                  <a:ext uri="{FF2B5EF4-FFF2-40B4-BE49-F238E27FC236}">
                    <a16:creationId xmlns:a16="http://schemas.microsoft.com/office/drawing/2014/main" id="{79CFA972-E91D-798B-F5FF-CA3F89C5B5BF}"/>
                  </a:ext>
                </a:extLst>
              </p:cNvPr>
              <p:cNvSpPr/>
              <p:nvPr/>
            </p:nvSpPr>
            <p:spPr>
              <a:xfrm>
                <a:off x="5824331" y="2352123"/>
                <a:ext cx="343005" cy="216288"/>
              </a:xfrm>
              <a:prstGeom prst="rect">
                <a:avLst/>
              </a:prstGeom>
              <a:solidFill>
                <a:srgbClr val="9CB9EB"/>
              </a:solidFill>
              <a:ln w="12700" cap="flat" cmpd="sng" algn="ctr">
                <a:solidFill>
                  <a:sysClr val="windowText" lastClr="000000"/>
                </a:solidFill>
                <a:prstDash val="solid"/>
                <a:miter lim="800000"/>
              </a:ln>
              <a:effectLst/>
              <a:scene3d>
                <a:camera prst="orthographicFront"/>
                <a:lightRig rig="threePt" dir="t"/>
              </a:scene3d>
              <a:sp3d>
                <a:bevelB w="114300" prst="hardEdge"/>
              </a:sp3d>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0.1</a:t>
                </a:r>
                <a:endParaRPr kumimoji="0" lang="zh-CN" altLang="en-US"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52" name="矩形 51">
                <a:extLst>
                  <a:ext uri="{FF2B5EF4-FFF2-40B4-BE49-F238E27FC236}">
                    <a16:creationId xmlns:a16="http://schemas.microsoft.com/office/drawing/2014/main" id="{4E06AACB-E395-FA5F-C616-A723C237249C}"/>
                  </a:ext>
                </a:extLst>
              </p:cNvPr>
              <p:cNvSpPr/>
              <p:nvPr/>
            </p:nvSpPr>
            <p:spPr>
              <a:xfrm>
                <a:off x="5824331" y="2568411"/>
                <a:ext cx="343005" cy="216288"/>
              </a:xfrm>
              <a:prstGeom prst="rect">
                <a:avLst/>
              </a:prstGeom>
              <a:solidFill>
                <a:schemeClr val="accent5">
                  <a:lumMod val="20000"/>
                  <a:lumOff val="80000"/>
                </a:schemeClr>
              </a:solidFill>
              <a:ln w="12700" cap="flat" cmpd="sng" algn="ctr">
                <a:solidFill>
                  <a:sysClr val="windowText" lastClr="000000"/>
                </a:solidFill>
                <a:prstDash val="solid"/>
                <a:miter lim="800000"/>
              </a:ln>
              <a:effectLst/>
              <a:scene3d>
                <a:camera prst="orthographicFront"/>
                <a:lightRig rig="threePt" dir="t"/>
              </a:scene3d>
              <a:sp3d>
                <a:bevelB w="114300" prst="hardEdge"/>
              </a:sp3d>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0.3</a:t>
                </a:r>
                <a:endParaRPr kumimoji="0" lang="zh-CN" altLang="en-US"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53" name="矩形 52">
                <a:extLst>
                  <a:ext uri="{FF2B5EF4-FFF2-40B4-BE49-F238E27FC236}">
                    <a16:creationId xmlns:a16="http://schemas.microsoft.com/office/drawing/2014/main" id="{CD442ED1-9214-014E-7AD7-F302DED065DB}"/>
                  </a:ext>
                </a:extLst>
              </p:cNvPr>
              <p:cNvSpPr/>
              <p:nvPr/>
            </p:nvSpPr>
            <p:spPr>
              <a:xfrm>
                <a:off x="5476551" y="2351815"/>
                <a:ext cx="343005" cy="216288"/>
              </a:xfrm>
              <a:prstGeom prst="rect">
                <a:avLst/>
              </a:prstGeom>
              <a:solidFill>
                <a:srgbClr val="9CB9EB"/>
              </a:solidFill>
              <a:ln w="12700" cap="flat" cmpd="sng" algn="ctr">
                <a:solidFill>
                  <a:sysClr val="windowText" lastClr="000000"/>
                </a:solidFill>
                <a:prstDash val="solid"/>
                <a:miter lim="800000"/>
              </a:ln>
              <a:effectLst/>
              <a:scene3d>
                <a:camera prst="orthographicFront"/>
                <a:lightRig rig="threePt" dir="t"/>
              </a:scene3d>
              <a:sp3d>
                <a:bevelB w="114300" prst="hardEdge"/>
              </a:sp3d>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0.1</a:t>
                </a:r>
                <a:endParaRPr kumimoji="0" lang="zh-CN" altLang="en-US"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54" name="矩形 53">
                <a:extLst>
                  <a:ext uri="{FF2B5EF4-FFF2-40B4-BE49-F238E27FC236}">
                    <a16:creationId xmlns:a16="http://schemas.microsoft.com/office/drawing/2014/main" id="{C3401655-B48D-358F-C3BB-1B2559D1086D}"/>
                  </a:ext>
                </a:extLst>
              </p:cNvPr>
              <p:cNvSpPr/>
              <p:nvPr/>
            </p:nvSpPr>
            <p:spPr>
              <a:xfrm>
                <a:off x="5476551" y="2568103"/>
                <a:ext cx="343005" cy="216288"/>
              </a:xfrm>
              <a:prstGeom prst="rect">
                <a:avLst/>
              </a:prstGeom>
              <a:solidFill>
                <a:schemeClr val="accent5">
                  <a:lumMod val="20000"/>
                  <a:lumOff val="80000"/>
                </a:schemeClr>
              </a:solidFill>
              <a:ln w="12700" cap="flat" cmpd="sng" algn="ctr">
                <a:solidFill>
                  <a:sysClr val="windowText" lastClr="000000"/>
                </a:solidFill>
                <a:prstDash val="solid"/>
                <a:miter lim="800000"/>
              </a:ln>
              <a:effectLst/>
              <a:scene3d>
                <a:camera prst="orthographicFront"/>
                <a:lightRig rig="threePt" dir="t"/>
              </a:scene3d>
              <a:sp3d>
                <a:bevelB w="114300" prst="hardEdge"/>
              </a:sp3d>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0.2</a:t>
                </a:r>
                <a:endParaRPr kumimoji="0" lang="zh-CN" altLang="en-US"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55" name="矩形 54">
                <a:extLst>
                  <a:ext uri="{FF2B5EF4-FFF2-40B4-BE49-F238E27FC236}">
                    <a16:creationId xmlns:a16="http://schemas.microsoft.com/office/drawing/2014/main" id="{3724CDF3-EF50-2E67-1D93-B2D6FD892D59}"/>
                  </a:ext>
                </a:extLst>
              </p:cNvPr>
              <p:cNvSpPr/>
              <p:nvPr/>
            </p:nvSpPr>
            <p:spPr>
              <a:xfrm>
                <a:off x="6167337" y="2784699"/>
                <a:ext cx="343005" cy="216288"/>
              </a:xfrm>
              <a:prstGeom prst="rect">
                <a:avLst/>
              </a:prstGeom>
              <a:solidFill>
                <a:schemeClr val="accent6">
                  <a:lumMod val="20000"/>
                  <a:lumOff val="80000"/>
                </a:schemeClr>
              </a:solidFill>
              <a:ln w="12700" cap="flat" cmpd="sng" algn="ctr">
                <a:solidFill>
                  <a:sysClr val="windowText" lastClr="000000"/>
                </a:solidFill>
                <a:prstDash val="solid"/>
                <a:miter lim="800000"/>
              </a:ln>
              <a:effectLst/>
              <a:scene3d>
                <a:camera prst="orthographicFront"/>
                <a:lightRig rig="threePt" dir="t"/>
              </a:scene3d>
              <a:sp3d>
                <a:bevelB w="114300" prst="hardEdge"/>
              </a:sp3d>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0.4</a:t>
                </a:r>
                <a:endParaRPr kumimoji="0" lang="zh-CN" altLang="en-US"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56" name="矩形 55">
                <a:extLst>
                  <a:ext uri="{FF2B5EF4-FFF2-40B4-BE49-F238E27FC236}">
                    <a16:creationId xmlns:a16="http://schemas.microsoft.com/office/drawing/2014/main" id="{5D0792DC-6CB9-0CEF-5D48-70CE53760C10}"/>
                  </a:ext>
                </a:extLst>
              </p:cNvPr>
              <p:cNvSpPr/>
              <p:nvPr/>
            </p:nvSpPr>
            <p:spPr>
              <a:xfrm>
                <a:off x="7181105" y="2350675"/>
                <a:ext cx="343005" cy="216288"/>
              </a:xfrm>
              <a:prstGeom prst="rect">
                <a:avLst/>
              </a:prstGeom>
              <a:solidFill>
                <a:srgbClr val="9CB9EB"/>
              </a:solidFill>
              <a:ln w="12700" cap="flat" cmpd="sng" algn="ctr">
                <a:solidFill>
                  <a:sysClr val="windowText" lastClr="000000"/>
                </a:solidFill>
                <a:prstDash val="solid"/>
                <a:miter lim="800000"/>
              </a:ln>
              <a:effectLst/>
              <a:scene3d>
                <a:camera prst="orthographicFront"/>
                <a:lightRig rig="threePt" dir="t"/>
              </a:scene3d>
              <a:sp3d>
                <a:bevelB w="114300" prst="hardEdge"/>
              </a:sp3d>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0.1</a:t>
                </a:r>
                <a:endParaRPr kumimoji="0" lang="zh-CN" altLang="en-US"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57" name="矩形 56">
                <a:extLst>
                  <a:ext uri="{FF2B5EF4-FFF2-40B4-BE49-F238E27FC236}">
                    <a16:creationId xmlns:a16="http://schemas.microsoft.com/office/drawing/2014/main" id="{2884667D-8316-94FE-4116-D82E20BD6A0F}"/>
                  </a:ext>
                </a:extLst>
              </p:cNvPr>
              <p:cNvSpPr/>
              <p:nvPr/>
            </p:nvSpPr>
            <p:spPr>
              <a:xfrm>
                <a:off x="7181105" y="2566653"/>
                <a:ext cx="343005" cy="216288"/>
              </a:xfrm>
              <a:prstGeom prst="rect">
                <a:avLst/>
              </a:prstGeom>
              <a:solidFill>
                <a:schemeClr val="accent5">
                  <a:lumMod val="20000"/>
                  <a:lumOff val="80000"/>
                </a:schemeClr>
              </a:solidFill>
              <a:ln w="12700" cap="flat" cmpd="sng" algn="ctr">
                <a:solidFill>
                  <a:sysClr val="windowText" lastClr="000000"/>
                </a:solidFill>
                <a:prstDash val="solid"/>
                <a:miter lim="800000"/>
              </a:ln>
              <a:effectLst/>
              <a:scene3d>
                <a:camera prst="orthographicFront"/>
                <a:lightRig rig="threePt" dir="t"/>
              </a:scene3d>
              <a:sp3d>
                <a:bevelB w="114300" prst="hardEdge"/>
              </a:sp3d>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0.5</a:t>
                </a:r>
                <a:endParaRPr kumimoji="0" lang="zh-CN" altLang="en-US"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58" name="矩形 57">
                <a:extLst>
                  <a:ext uri="{FF2B5EF4-FFF2-40B4-BE49-F238E27FC236}">
                    <a16:creationId xmlns:a16="http://schemas.microsoft.com/office/drawing/2014/main" id="{FBFFF782-FC4E-B528-75F5-2589C8741A62}"/>
                  </a:ext>
                </a:extLst>
              </p:cNvPr>
              <p:cNvSpPr/>
              <p:nvPr/>
            </p:nvSpPr>
            <p:spPr>
              <a:xfrm>
                <a:off x="6167337" y="2352123"/>
                <a:ext cx="343005" cy="216288"/>
              </a:xfrm>
              <a:prstGeom prst="rect">
                <a:avLst/>
              </a:prstGeom>
              <a:solidFill>
                <a:srgbClr val="9CB9EB"/>
              </a:solidFill>
              <a:ln w="12700" cap="flat" cmpd="sng" algn="ctr">
                <a:solidFill>
                  <a:sysClr val="windowText" lastClr="000000"/>
                </a:solidFill>
                <a:prstDash val="solid"/>
                <a:miter lim="800000"/>
              </a:ln>
              <a:effectLst/>
              <a:scene3d>
                <a:camera prst="orthographicFront"/>
                <a:lightRig rig="threePt" dir="t"/>
              </a:scene3d>
              <a:sp3d>
                <a:bevelB w="114300" prst="hardEdge"/>
              </a:sp3d>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0.1</a:t>
                </a:r>
                <a:endParaRPr kumimoji="0" lang="zh-CN" altLang="en-US"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59" name="矩形 58">
                <a:extLst>
                  <a:ext uri="{FF2B5EF4-FFF2-40B4-BE49-F238E27FC236}">
                    <a16:creationId xmlns:a16="http://schemas.microsoft.com/office/drawing/2014/main" id="{20C8BDB3-5AA5-EF06-04F7-C008C51CA5ED}"/>
                  </a:ext>
                </a:extLst>
              </p:cNvPr>
              <p:cNvSpPr/>
              <p:nvPr/>
            </p:nvSpPr>
            <p:spPr>
              <a:xfrm>
                <a:off x="6167337" y="2568411"/>
                <a:ext cx="343005" cy="216288"/>
              </a:xfrm>
              <a:prstGeom prst="rect">
                <a:avLst/>
              </a:prstGeom>
              <a:solidFill>
                <a:schemeClr val="accent5">
                  <a:lumMod val="20000"/>
                  <a:lumOff val="80000"/>
                </a:schemeClr>
              </a:solidFill>
              <a:ln w="12700" cap="flat" cmpd="sng" algn="ctr">
                <a:solidFill>
                  <a:sysClr val="windowText" lastClr="000000"/>
                </a:solidFill>
                <a:prstDash val="solid"/>
                <a:miter lim="800000"/>
              </a:ln>
              <a:effectLst/>
              <a:scene3d>
                <a:camera prst="orthographicFront"/>
                <a:lightRig rig="threePt" dir="t"/>
              </a:scene3d>
              <a:sp3d>
                <a:bevelB w="114300" prst="hardEdge"/>
              </a:sp3d>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0.3</a:t>
                </a:r>
                <a:endParaRPr kumimoji="0" lang="zh-CN" altLang="en-US"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60" name="矩形 59">
                <a:extLst>
                  <a:ext uri="{FF2B5EF4-FFF2-40B4-BE49-F238E27FC236}">
                    <a16:creationId xmlns:a16="http://schemas.microsoft.com/office/drawing/2014/main" id="{723D8F56-93FE-156E-A454-042FAE686352}"/>
                  </a:ext>
                </a:extLst>
              </p:cNvPr>
              <p:cNvSpPr/>
              <p:nvPr/>
            </p:nvSpPr>
            <p:spPr>
              <a:xfrm>
                <a:off x="4833765" y="2565521"/>
                <a:ext cx="343004" cy="216288"/>
              </a:xfrm>
              <a:prstGeom prst="rect">
                <a:avLst/>
              </a:prstGeom>
              <a:solidFill>
                <a:schemeClr val="accent5">
                  <a:lumMod val="20000"/>
                  <a:lumOff val="80000"/>
                </a:schemeClr>
              </a:solidFill>
              <a:ln w="12700"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B</a:t>
                </a:r>
                <a:endParaRPr kumimoji="0" lang="zh-CN" altLang="en-US"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62" name="矩形 61">
                <a:extLst>
                  <a:ext uri="{FF2B5EF4-FFF2-40B4-BE49-F238E27FC236}">
                    <a16:creationId xmlns:a16="http://schemas.microsoft.com/office/drawing/2014/main" id="{EC653606-967E-7567-8CEB-8B6F00E7983B}"/>
                  </a:ext>
                </a:extLst>
              </p:cNvPr>
              <p:cNvSpPr/>
              <p:nvPr/>
            </p:nvSpPr>
            <p:spPr>
              <a:xfrm>
                <a:off x="4833765" y="2350675"/>
                <a:ext cx="343005" cy="216288"/>
              </a:xfrm>
              <a:prstGeom prst="rect">
                <a:avLst/>
              </a:prstGeom>
              <a:solidFill>
                <a:srgbClr val="9CB9EB"/>
              </a:solidFill>
              <a:ln w="12700"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a:t>
                </a:r>
                <a:endParaRPr kumimoji="0" lang="zh-CN" altLang="en-US"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66" name="矩形 65">
                <a:extLst>
                  <a:ext uri="{FF2B5EF4-FFF2-40B4-BE49-F238E27FC236}">
                    <a16:creationId xmlns:a16="http://schemas.microsoft.com/office/drawing/2014/main" id="{946725C8-C743-AEB2-BE93-24D172137F0E}"/>
                  </a:ext>
                </a:extLst>
              </p:cNvPr>
              <p:cNvSpPr/>
              <p:nvPr/>
            </p:nvSpPr>
            <p:spPr>
              <a:xfrm>
                <a:off x="6507955" y="2782112"/>
                <a:ext cx="343005" cy="216288"/>
              </a:xfrm>
              <a:prstGeom prst="rect">
                <a:avLst/>
              </a:prstGeom>
              <a:solidFill>
                <a:schemeClr val="accent6">
                  <a:lumMod val="20000"/>
                  <a:lumOff val="80000"/>
                </a:schemeClr>
              </a:solidFill>
              <a:ln w="12700" cap="flat" cmpd="sng" algn="ctr">
                <a:solidFill>
                  <a:sysClr val="windowText" lastClr="000000"/>
                </a:solidFill>
                <a:prstDash val="solid"/>
                <a:miter lim="800000"/>
              </a:ln>
              <a:effectLst/>
              <a:scene3d>
                <a:camera prst="orthographicFront"/>
                <a:lightRig rig="threePt" dir="t"/>
              </a:scene3d>
              <a:sp3d>
                <a:bevelB w="114300" prst="hardEdge"/>
              </a:sp3d>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0.1</a:t>
                </a:r>
                <a:endParaRPr kumimoji="0" lang="zh-CN" altLang="en-US"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67" name="矩形 66">
                <a:extLst>
                  <a:ext uri="{FF2B5EF4-FFF2-40B4-BE49-F238E27FC236}">
                    <a16:creationId xmlns:a16="http://schemas.microsoft.com/office/drawing/2014/main" id="{F7F98DF4-DBB4-144C-0470-6A55851D8519}"/>
                  </a:ext>
                </a:extLst>
              </p:cNvPr>
              <p:cNvSpPr/>
              <p:nvPr/>
            </p:nvSpPr>
            <p:spPr>
              <a:xfrm>
                <a:off x="6835713" y="2781802"/>
                <a:ext cx="343005" cy="216288"/>
              </a:xfrm>
              <a:prstGeom prst="rect">
                <a:avLst/>
              </a:prstGeom>
              <a:solidFill>
                <a:schemeClr val="accent6">
                  <a:lumMod val="20000"/>
                  <a:lumOff val="80000"/>
                </a:schemeClr>
              </a:solidFill>
              <a:ln w="12700" cap="flat" cmpd="sng" algn="ctr">
                <a:solidFill>
                  <a:sysClr val="windowText" lastClr="000000"/>
                </a:solidFill>
                <a:prstDash val="solid"/>
                <a:miter lim="800000"/>
              </a:ln>
              <a:effectLst/>
              <a:scene3d>
                <a:camera prst="orthographicFront"/>
                <a:lightRig rig="threePt" dir="t"/>
              </a:scene3d>
              <a:sp3d>
                <a:bevelB w="114300" prst="hardEdge"/>
              </a:sp3d>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0.4</a:t>
                </a:r>
                <a:endParaRPr kumimoji="0" lang="zh-CN" altLang="en-US"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68" name="矩形 67">
                <a:extLst>
                  <a:ext uri="{FF2B5EF4-FFF2-40B4-BE49-F238E27FC236}">
                    <a16:creationId xmlns:a16="http://schemas.microsoft.com/office/drawing/2014/main" id="{24496B83-C4F6-25D3-34EF-78D2FCEDAAD9}"/>
                  </a:ext>
                </a:extLst>
              </p:cNvPr>
              <p:cNvSpPr/>
              <p:nvPr/>
            </p:nvSpPr>
            <p:spPr>
              <a:xfrm>
                <a:off x="7178718" y="2781802"/>
                <a:ext cx="343005" cy="216288"/>
              </a:xfrm>
              <a:prstGeom prst="rect">
                <a:avLst/>
              </a:prstGeom>
              <a:solidFill>
                <a:schemeClr val="accent6">
                  <a:lumMod val="20000"/>
                  <a:lumOff val="80000"/>
                </a:schemeClr>
              </a:solidFill>
              <a:ln w="12700" cap="flat" cmpd="sng" algn="ctr">
                <a:solidFill>
                  <a:sysClr val="windowText" lastClr="000000"/>
                </a:solidFill>
                <a:prstDash val="solid"/>
                <a:miter lim="800000"/>
              </a:ln>
              <a:effectLst/>
              <a:scene3d>
                <a:camera prst="orthographicFront"/>
                <a:lightRig rig="threePt" dir="t"/>
              </a:scene3d>
              <a:sp3d>
                <a:bevelB w="114300" prst="hardEdge"/>
              </a:sp3d>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0.4</a:t>
                </a:r>
                <a:endParaRPr kumimoji="0" lang="zh-CN" altLang="en-US"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69" name="矩形 68">
                <a:extLst>
                  <a:ext uri="{FF2B5EF4-FFF2-40B4-BE49-F238E27FC236}">
                    <a16:creationId xmlns:a16="http://schemas.microsoft.com/office/drawing/2014/main" id="{020998DE-1EF0-6066-A909-49A07C64451C}"/>
                  </a:ext>
                </a:extLst>
              </p:cNvPr>
              <p:cNvSpPr/>
              <p:nvPr/>
            </p:nvSpPr>
            <p:spPr>
              <a:xfrm>
                <a:off x="5476551" y="2987534"/>
                <a:ext cx="343005" cy="216288"/>
              </a:xfrm>
              <a:prstGeom prst="rect">
                <a:avLst/>
              </a:prstGeom>
              <a:solidFill>
                <a:srgbClr val="99FFCC"/>
              </a:solidFill>
              <a:ln w="12700" cap="flat" cmpd="sng" algn="ctr">
                <a:solidFill>
                  <a:sysClr val="windowText" lastClr="000000"/>
                </a:solidFill>
                <a:prstDash val="solid"/>
                <a:miter lim="800000"/>
              </a:ln>
              <a:effectLst/>
              <a:scene3d>
                <a:camera prst="orthographicFront"/>
                <a:lightRig rig="threePt" dir="t"/>
              </a:scene3d>
              <a:sp3d>
                <a:bevelB w="114300" prst="hardEdge"/>
              </a:sp3d>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0.4</a:t>
                </a:r>
                <a:endParaRPr kumimoji="0" lang="zh-CN" altLang="en-US"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70" name="矩形 69">
                <a:extLst>
                  <a:ext uri="{FF2B5EF4-FFF2-40B4-BE49-F238E27FC236}">
                    <a16:creationId xmlns:a16="http://schemas.microsoft.com/office/drawing/2014/main" id="{26C13A66-DF54-C46D-378C-B9C03C0B797A}"/>
                  </a:ext>
                </a:extLst>
              </p:cNvPr>
              <p:cNvSpPr/>
              <p:nvPr/>
            </p:nvSpPr>
            <p:spPr>
              <a:xfrm>
                <a:off x="5824331" y="2987997"/>
                <a:ext cx="343005" cy="216288"/>
              </a:xfrm>
              <a:prstGeom prst="rect">
                <a:avLst/>
              </a:prstGeom>
              <a:solidFill>
                <a:srgbClr val="99FFCC"/>
              </a:solidFill>
              <a:ln w="12700" cap="flat" cmpd="sng" algn="ctr">
                <a:solidFill>
                  <a:sysClr val="windowText" lastClr="000000"/>
                </a:solidFill>
                <a:prstDash val="solid"/>
                <a:miter lim="800000"/>
              </a:ln>
              <a:effectLst/>
              <a:scene3d>
                <a:camera prst="orthographicFront"/>
                <a:lightRig rig="threePt" dir="t"/>
              </a:scene3d>
              <a:sp3d>
                <a:bevelB w="114300" prst="hardEdge"/>
              </a:sp3d>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0.4</a:t>
                </a:r>
                <a:endParaRPr kumimoji="0" lang="zh-CN" altLang="en-US"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71" name="矩形 70">
                <a:extLst>
                  <a:ext uri="{FF2B5EF4-FFF2-40B4-BE49-F238E27FC236}">
                    <a16:creationId xmlns:a16="http://schemas.microsoft.com/office/drawing/2014/main" id="{0BFC00D3-A4F8-E8FE-66D2-2DBF54759BFF}"/>
                  </a:ext>
                </a:extLst>
              </p:cNvPr>
              <p:cNvSpPr/>
              <p:nvPr/>
            </p:nvSpPr>
            <p:spPr>
              <a:xfrm>
                <a:off x="6167337" y="2987997"/>
                <a:ext cx="343005" cy="216288"/>
              </a:xfrm>
              <a:prstGeom prst="rect">
                <a:avLst/>
              </a:prstGeom>
              <a:solidFill>
                <a:srgbClr val="99FFCC"/>
              </a:solidFill>
              <a:ln w="12700" cap="flat" cmpd="sng" algn="ctr">
                <a:solidFill>
                  <a:sysClr val="windowText" lastClr="000000"/>
                </a:solidFill>
                <a:prstDash val="solid"/>
                <a:miter lim="800000"/>
              </a:ln>
              <a:effectLst/>
              <a:scene3d>
                <a:camera prst="orthographicFront"/>
                <a:lightRig rig="threePt" dir="t"/>
              </a:scene3d>
              <a:sp3d>
                <a:bevelB w="114300" prst="hardEdge"/>
              </a:sp3d>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0.4</a:t>
                </a:r>
                <a:endParaRPr kumimoji="0" lang="zh-CN" altLang="en-US"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73" name="矩形 72">
                <a:extLst>
                  <a:ext uri="{FF2B5EF4-FFF2-40B4-BE49-F238E27FC236}">
                    <a16:creationId xmlns:a16="http://schemas.microsoft.com/office/drawing/2014/main" id="{B746511D-F5F5-C9D4-D8DE-EC4E49239411}"/>
                  </a:ext>
                </a:extLst>
              </p:cNvPr>
              <p:cNvSpPr/>
              <p:nvPr/>
            </p:nvSpPr>
            <p:spPr>
              <a:xfrm>
                <a:off x="6507955" y="2987997"/>
                <a:ext cx="343005" cy="216288"/>
              </a:xfrm>
              <a:prstGeom prst="rect">
                <a:avLst/>
              </a:prstGeom>
              <a:solidFill>
                <a:srgbClr val="99FFCC"/>
              </a:solidFill>
              <a:ln w="12700" cap="flat" cmpd="sng" algn="ctr">
                <a:solidFill>
                  <a:sysClr val="windowText" lastClr="000000"/>
                </a:solidFill>
                <a:prstDash val="solid"/>
                <a:miter lim="800000"/>
              </a:ln>
              <a:effectLst/>
              <a:scene3d>
                <a:camera prst="orthographicFront"/>
                <a:lightRig rig="threePt" dir="t"/>
              </a:scene3d>
              <a:sp3d>
                <a:bevelB w="114300" prst="hardEdge"/>
              </a:sp3d>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0.5</a:t>
                </a:r>
                <a:endParaRPr kumimoji="0" lang="zh-CN" altLang="en-US"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74" name="矩形 73">
                <a:extLst>
                  <a:ext uri="{FF2B5EF4-FFF2-40B4-BE49-F238E27FC236}">
                    <a16:creationId xmlns:a16="http://schemas.microsoft.com/office/drawing/2014/main" id="{6F51639E-70E8-A2D8-A9B1-E630F3D95DED}"/>
                  </a:ext>
                </a:extLst>
              </p:cNvPr>
              <p:cNvSpPr/>
              <p:nvPr/>
            </p:nvSpPr>
            <p:spPr>
              <a:xfrm>
                <a:off x="6835713" y="2987687"/>
                <a:ext cx="343005" cy="216288"/>
              </a:xfrm>
              <a:prstGeom prst="rect">
                <a:avLst/>
              </a:prstGeom>
              <a:solidFill>
                <a:srgbClr val="99FFCC"/>
              </a:solidFill>
              <a:ln w="12700" cap="flat" cmpd="sng" algn="ctr">
                <a:solidFill>
                  <a:sysClr val="windowText" lastClr="000000"/>
                </a:solidFill>
                <a:prstDash val="solid"/>
                <a:miter lim="800000"/>
              </a:ln>
              <a:effectLst/>
              <a:scene3d>
                <a:camera prst="orthographicFront"/>
                <a:lightRig rig="threePt" dir="t"/>
              </a:scene3d>
              <a:sp3d>
                <a:bevelB w="114300" prst="hardEdge"/>
              </a:sp3d>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0.4</a:t>
                </a:r>
                <a:endParaRPr kumimoji="0" lang="zh-CN" altLang="en-US"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75" name="矩形 74">
                <a:extLst>
                  <a:ext uri="{FF2B5EF4-FFF2-40B4-BE49-F238E27FC236}">
                    <a16:creationId xmlns:a16="http://schemas.microsoft.com/office/drawing/2014/main" id="{CD735950-503C-765F-B6A3-C02787F253C8}"/>
                  </a:ext>
                </a:extLst>
              </p:cNvPr>
              <p:cNvSpPr/>
              <p:nvPr/>
            </p:nvSpPr>
            <p:spPr>
              <a:xfrm>
                <a:off x="7178718" y="2987687"/>
                <a:ext cx="343005" cy="216288"/>
              </a:xfrm>
              <a:prstGeom prst="rect">
                <a:avLst/>
              </a:prstGeom>
              <a:solidFill>
                <a:srgbClr val="99FFCC"/>
              </a:solidFill>
              <a:ln w="12700"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0.4</a:t>
                </a:r>
                <a:endParaRPr kumimoji="0" lang="zh-CN" altLang="en-US"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cxnSp>
            <p:nvCxnSpPr>
              <p:cNvPr id="77" name="直接箭头连接符 76">
                <a:extLst>
                  <a:ext uri="{FF2B5EF4-FFF2-40B4-BE49-F238E27FC236}">
                    <a16:creationId xmlns:a16="http://schemas.microsoft.com/office/drawing/2014/main" id="{C3A874F8-1304-AF85-D0A4-3E4E14B945C7}"/>
                  </a:ext>
                </a:extLst>
              </p:cNvPr>
              <p:cNvCxnSpPr/>
              <p:nvPr/>
            </p:nvCxnSpPr>
            <p:spPr>
              <a:xfrm>
                <a:off x="5246305" y="2444559"/>
                <a:ext cx="161471" cy="0"/>
              </a:xfrm>
              <a:prstGeom prst="straightConnector1">
                <a:avLst/>
              </a:prstGeom>
              <a:ln>
                <a:noFill/>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a:extLst>
                  <a:ext uri="{FF2B5EF4-FFF2-40B4-BE49-F238E27FC236}">
                    <a16:creationId xmlns:a16="http://schemas.microsoft.com/office/drawing/2014/main" id="{21BB278C-9C1B-F161-E12A-85D9AE67C6AF}"/>
                  </a:ext>
                </a:extLst>
              </p:cNvPr>
              <p:cNvCxnSpPr/>
              <p:nvPr/>
            </p:nvCxnSpPr>
            <p:spPr>
              <a:xfrm>
                <a:off x="5246305" y="2674005"/>
                <a:ext cx="161471" cy="0"/>
              </a:xfrm>
              <a:prstGeom prst="straightConnector1">
                <a:avLst/>
              </a:prstGeom>
              <a:ln>
                <a:noFill/>
                <a:tailEnd type="triangle"/>
              </a:ln>
            </p:spPr>
            <p:style>
              <a:lnRef idx="1">
                <a:schemeClr val="accent1"/>
              </a:lnRef>
              <a:fillRef idx="0">
                <a:schemeClr val="accent1"/>
              </a:fillRef>
              <a:effectRef idx="0">
                <a:schemeClr val="accent1"/>
              </a:effectRef>
              <a:fontRef idx="minor">
                <a:schemeClr val="tx1"/>
              </a:fontRef>
            </p:style>
          </p:cxnSp>
          <p:cxnSp>
            <p:nvCxnSpPr>
              <p:cNvPr id="79" name="直接箭头连接符 78">
                <a:extLst>
                  <a:ext uri="{FF2B5EF4-FFF2-40B4-BE49-F238E27FC236}">
                    <a16:creationId xmlns:a16="http://schemas.microsoft.com/office/drawing/2014/main" id="{B62EDE81-E8D3-7C15-09DF-4D14D8C01EAC}"/>
                  </a:ext>
                </a:extLst>
              </p:cNvPr>
              <p:cNvCxnSpPr/>
              <p:nvPr/>
            </p:nvCxnSpPr>
            <p:spPr>
              <a:xfrm>
                <a:off x="5246305" y="2893938"/>
                <a:ext cx="161471" cy="0"/>
              </a:xfrm>
              <a:prstGeom prst="straightConnector1">
                <a:avLst/>
              </a:prstGeom>
              <a:ln>
                <a:noFill/>
                <a:tailEnd type="triangle"/>
              </a:ln>
            </p:spPr>
            <p:style>
              <a:lnRef idx="1">
                <a:schemeClr val="accent1"/>
              </a:lnRef>
              <a:fillRef idx="0">
                <a:schemeClr val="accent1"/>
              </a:fillRef>
              <a:effectRef idx="0">
                <a:schemeClr val="accent1"/>
              </a:effectRef>
              <a:fontRef idx="minor">
                <a:schemeClr val="tx1"/>
              </a:fontRef>
            </p:style>
          </p:cxnSp>
          <p:cxnSp>
            <p:nvCxnSpPr>
              <p:cNvPr id="80" name="直接箭头连接符 79">
                <a:extLst>
                  <a:ext uri="{FF2B5EF4-FFF2-40B4-BE49-F238E27FC236}">
                    <a16:creationId xmlns:a16="http://schemas.microsoft.com/office/drawing/2014/main" id="{A71F5674-81EE-72FB-AE4A-4995423EF67C}"/>
                  </a:ext>
                </a:extLst>
              </p:cNvPr>
              <p:cNvCxnSpPr/>
              <p:nvPr/>
            </p:nvCxnSpPr>
            <p:spPr>
              <a:xfrm>
                <a:off x="5246305" y="3098431"/>
                <a:ext cx="161471" cy="0"/>
              </a:xfrm>
              <a:prstGeom prst="straightConnector1">
                <a:avLst/>
              </a:prstGeom>
              <a:ln>
                <a:noFill/>
                <a:tailEnd type="triangle"/>
              </a:ln>
            </p:spPr>
            <p:style>
              <a:lnRef idx="1">
                <a:schemeClr val="accent1"/>
              </a:lnRef>
              <a:fillRef idx="0">
                <a:schemeClr val="accent1"/>
              </a:fillRef>
              <a:effectRef idx="0">
                <a:schemeClr val="accent1"/>
              </a:effectRef>
              <a:fontRef idx="minor">
                <a:schemeClr val="tx1"/>
              </a:fontRef>
            </p:style>
          </p:cxnSp>
          <p:sp>
            <p:nvSpPr>
              <p:cNvPr id="81" name="矩形 80">
                <a:extLst>
                  <a:ext uri="{FF2B5EF4-FFF2-40B4-BE49-F238E27FC236}">
                    <a16:creationId xmlns:a16="http://schemas.microsoft.com/office/drawing/2014/main" id="{BD0258DF-BE5C-6A37-ABBB-FF49E0495317}"/>
                  </a:ext>
                </a:extLst>
              </p:cNvPr>
              <p:cNvSpPr/>
              <p:nvPr/>
            </p:nvSpPr>
            <p:spPr>
              <a:xfrm>
                <a:off x="4836290" y="3000641"/>
                <a:ext cx="343005" cy="216288"/>
              </a:xfrm>
              <a:prstGeom prst="rect">
                <a:avLst/>
              </a:prstGeom>
              <a:solidFill>
                <a:srgbClr val="99FFCC"/>
              </a:solidFill>
              <a:ln w="12700"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D</a:t>
                </a:r>
                <a:endParaRPr kumimoji="0" lang="zh-CN" altLang="en-US"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82" name="矩形 81">
                <a:extLst>
                  <a:ext uri="{FF2B5EF4-FFF2-40B4-BE49-F238E27FC236}">
                    <a16:creationId xmlns:a16="http://schemas.microsoft.com/office/drawing/2014/main" id="{6FA1C7E1-84A8-5421-A236-0C088D9DAB0D}"/>
                  </a:ext>
                </a:extLst>
              </p:cNvPr>
              <p:cNvSpPr/>
              <p:nvPr/>
            </p:nvSpPr>
            <p:spPr>
              <a:xfrm>
                <a:off x="4836290" y="2785795"/>
                <a:ext cx="343004" cy="216288"/>
              </a:xfrm>
              <a:prstGeom prst="rect">
                <a:avLst/>
              </a:prstGeom>
              <a:solidFill>
                <a:schemeClr val="tx2">
                  <a:lumMod val="10000"/>
                  <a:lumOff val="90000"/>
                </a:schemeClr>
              </a:solidFill>
              <a:ln w="12700" cap="flat" cmpd="sng" algn="ctr">
                <a:solidFill>
                  <a:sysClr val="windowText" lastClr="00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lang="en-US" altLang="zh-CN" sz="900" kern="0" dirty="0">
                    <a:solidFill>
                      <a:prstClr val="black"/>
                    </a:solidFill>
                    <a:latin typeface="Calibri" panose="020F0502020204030204"/>
                    <a:ea typeface="等线" panose="02010600030101010101" pitchFamily="2" charset="-122"/>
                  </a:rPr>
                  <a:t>C</a:t>
                </a:r>
                <a:endParaRPr kumimoji="0" lang="zh-CN" altLang="en-US" sz="9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cxnSp>
            <p:nvCxnSpPr>
              <p:cNvPr id="85" name="直接箭头连接符 84">
                <a:extLst>
                  <a:ext uri="{FF2B5EF4-FFF2-40B4-BE49-F238E27FC236}">
                    <a16:creationId xmlns:a16="http://schemas.microsoft.com/office/drawing/2014/main" id="{407892B8-6D97-C118-F5AF-823226AAFF08}"/>
                  </a:ext>
                </a:extLst>
              </p:cNvPr>
              <p:cNvCxnSpPr>
                <a:cxnSpLocks/>
              </p:cNvCxnSpPr>
              <p:nvPr/>
            </p:nvCxnSpPr>
            <p:spPr>
              <a:xfrm>
                <a:off x="5206784" y="2452932"/>
                <a:ext cx="230246" cy="1140"/>
              </a:xfrm>
              <a:prstGeom prst="straightConnector1">
                <a:avLst/>
              </a:prstGeom>
              <a:ln w="19050">
                <a:solidFill>
                  <a:schemeClr val="accent3">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6" name="直接箭头连接符 85">
                <a:extLst>
                  <a:ext uri="{FF2B5EF4-FFF2-40B4-BE49-F238E27FC236}">
                    <a16:creationId xmlns:a16="http://schemas.microsoft.com/office/drawing/2014/main" id="{D139FA2F-C714-07BF-55F7-D94CA2AB4A95}"/>
                  </a:ext>
                </a:extLst>
              </p:cNvPr>
              <p:cNvCxnSpPr>
                <a:cxnSpLocks/>
              </p:cNvCxnSpPr>
              <p:nvPr/>
            </p:nvCxnSpPr>
            <p:spPr>
              <a:xfrm>
                <a:off x="5207589" y="2682869"/>
                <a:ext cx="230246" cy="1140"/>
              </a:xfrm>
              <a:prstGeom prst="straightConnector1">
                <a:avLst/>
              </a:prstGeom>
              <a:ln w="19050">
                <a:solidFill>
                  <a:schemeClr val="accent5">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接箭头连接符 86">
                <a:extLst>
                  <a:ext uri="{FF2B5EF4-FFF2-40B4-BE49-F238E27FC236}">
                    <a16:creationId xmlns:a16="http://schemas.microsoft.com/office/drawing/2014/main" id="{78293736-2B10-3DF0-D99B-6F21E9EC7AD1}"/>
                  </a:ext>
                </a:extLst>
              </p:cNvPr>
              <p:cNvCxnSpPr>
                <a:cxnSpLocks/>
              </p:cNvCxnSpPr>
              <p:nvPr/>
            </p:nvCxnSpPr>
            <p:spPr>
              <a:xfrm>
                <a:off x="5204923" y="2888501"/>
                <a:ext cx="230246" cy="1140"/>
              </a:xfrm>
              <a:prstGeom prst="straightConnector1">
                <a:avLst/>
              </a:prstGeom>
              <a:ln w="19050">
                <a:solidFill>
                  <a:schemeClr val="tx2">
                    <a:lumMod val="10000"/>
                    <a:lumOff val="9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8" name="直接箭头连接符 87">
                <a:extLst>
                  <a:ext uri="{FF2B5EF4-FFF2-40B4-BE49-F238E27FC236}">
                    <a16:creationId xmlns:a16="http://schemas.microsoft.com/office/drawing/2014/main" id="{B4A1D349-346D-D0DE-B442-C317040B6CB4}"/>
                  </a:ext>
                </a:extLst>
              </p:cNvPr>
              <p:cNvCxnSpPr>
                <a:cxnSpLocks/>
              </p:cNvCxnSpPr>
              <p:nvPr/>
            </p:nvCxnSpPr>
            <p:spPr>
              <a:xfrm>
                <a:off x="5211917" y="3098431"/>
                <a:ext cx="230246" cy="1140"/>
              </a:xfrm>
              <a:prstGeom prst="straightConnector1">
                <a:avLst/>
              </a:prstGeom>
              <a:ln w="19050">
                <a:solidFill>
                  <a:srgbClr val="99FFCC"/>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7" name="组合 6">
            <a:extLst>
              <a:ext uri="{FF2B5EF4-FFF2-40B4-BE49-F238E27FC236}">
                <a16:creationId xmlns:a16="http://schemas.microsoft.com/office/drawing/2014/main" id="{72952A0A-2986-A252-FE68-A8966909E5AD}"/>
              </a:ext>
            </a:extLst>
          </p:cNvPr>
          <p:cNvGrpSpPr/>
          <p:nvPr/>
        </p:nvGrpSpPr>
        <p:grpSpPr>
          <a:xfrm>
            <a:off x="7705126" y="3736122"/>
            <a:ext cx="2901273" cy="2886477"/>
            <a:chOff x="8851091" y="1981439"/>
            <a:chExt cx="2901273" cy="2886477"/>
          </a:xfrm>
        </p:grpSpPr>
        <p:sp>
          <p:nvSpPr>
            <p:cNvPr id="33" name="文本框 32"/>
            <p:cNvSpPr txBox="1"/>
            <p:nvPr/>
          </p:nvSpPr>
          <p:spPr>
            <a:xfrm>
              <a:off x="9437549" y="4413453"/>
              <a:ext cx="1806197" cy="369332"/>
            </a:xfrm>
            <a:prstGeom prst="rect">
              <a:avLst/>
            </a:prstGeom>
            <a:solidFill>
              <a:srgbClr val="E1EAF9"/>
            </a:solidFill>
          </p:spPr>
          <p:txBody>
            <a:bodyPr wrap="square">
              <a:spAutoFit/>
            </a:bodyPr>
            <a:lstStyle/>
            <a:p>
              <a:pPr marL="338455" indent="-234950" algn="l" rtl="0" eaLnBrk="0" fontAlgn="auto">
                <a:lnSpc>
                  <a:spcPct val="100000"/>
                </a:lnSpc>
                <a:spcBef>
                  <a:spcPts val="900"/>
                </a:spcBef>
              </a:pPr>
              <a:r>
                <a:rPr lang="zh-CN" altLang="en-US" kern="0" spc="-10" dirty="0">
                  <a:solidFill>
                    <a:srgbClr val="000000">
                      <a:alpha val="100000"/>
                    </a:srgbClr>
                  </a:solidFill>
                  <a:latin typeface="+mj-ea"/>
                  <a:ea typeface="+mj-ea"/>
                  <a:cs typeface="+mj-ea"/>
                  <a:sym typeface="+mn-ea"/>
                </a:rPr>
                <a:t>智能时序模型</a:t>
              </a:r>
              <a:endParaRPr lang="zh-CN" altLang="en-US" sz="1800" dirty="0">
                <a:latin typeface="+mj-ea"/>
                <a:ea typeface="+mj-ea"/>
                <a:cs typeface="+mj-ea"/>
              </a:endParaRPr>
            </a:p>
          </p:txBody>
        </p:sp>
        <p:sp>
          <p:nvSpPr>
            <p:cNvPr id="35" name="圆角矩形 34"/>
            <p:cNvSpPr/>
            <p:nvPr>
              <p:custDataLst>
                <p:tags r:id="rId6"/>
              </p:custDataLst>
            </p:nvPr>
          </p:nvSpPr>
          <p:spPr>
            <a:xfrm>
              <a:off x="9166477" y="1981440"/>
              <a:ext cx="2293020" cy="360000"/>
            </a:xfrm>
            <a:prstGeom prst="roundRect">
              <a:avLst/>
            </a:prstGeom>
            <a:solidFill>
              <a:srgbClr val="0043A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noAutofit/>
            </a:bodyPr>
            <a:lstStyle/>
            <a:p>
              <a:pPr marL="338455" indent="-234950" algn="ctr" rtl="0" eaLnBrk="0" fontAlgn="auto">
                <a:lnSpc>
                  <a:spcPct val="110000"/>
                </a:lnSpc>
                <a:spcBef>
                  <a:spcPts val="900"/>
                </a:spcBef>
              </a:pPr>
              <a:r>
                <a:rPr lang="zh-CN" altLang="en-US" kern="100" dirty="0">
                  <a:solidFill>
                    <a:schemeClr val="bg1"/>
                  </a:solidFill>
                  <a:effectLst/>
                  <a:latin typeface="微软雅黑" panose="020B0503020204020204" charset="-122"/>
                  <a:ea typeface="微软雅黑" panose="020B0503020204020204" charset="-122"/>
                  <a:cs typeface="Times New Roman" panose="02020603050405020304" pitchFamily="18" charset="0"/>
                  <a:sym typeface="+mn-ea"/>
                </a:rPr>
                <a:t>智能预测</a:t>
              </a:r>
              <a:r>
                <a:rPr lang="zh-CN" altLang="en-US" kern="100" dirty="0">
                  <a:solidFill>
                    <a:schemeClr val="bg1"/>
                  </a:solidFill>
                  <a:latin typeface="微软雅黑" panose="020B0503020204020204" charset="-122"/>
                  <a:ea typeface="微软雅黑" panose="020B0503020204020204" charset="-122"/>
                  <a:cs typeface="Times New Roman" panose="02020603050405020304" pitchFamily="18" charset="0"/>
                  <a:sym typeface="+mn-ea"/>
                </a:rPr>
                <a:t>技术</a:t>
              </a:r>
              <a:endParaRPr lang="zh-CN" altLang="en-US" kern="100" dirty="0">
                <a:solidFill>
                  <a:schemeClr val="bg1"/>
                </a:solidFill>
                <a:effectLst/>
                <a:latin typeface="微软雅黑" panose="020B0503020204020204" charset="-122"/>
                <a:ea typeface="微软雅黑" panose="020B0503020204020204" charset="-122"/>
                <a:cs typeface="Times New Roman" panose="02020603050405020304" pitchFamily="18" charset="0"/>
                <a:sym typeface="+mn-ea"/>
              </a:endParaRPr>
            </a:p>
          </p:txBody>
        </p:sp>
        <p:sp>
          <p:nvSpPr>
            <p:cNvPr id="36" name="矩形: 圆角 35"/>
            <p:cNvSpPr/>
            <p:nvPr/>
          </p:nvSpPr>
          <p:spPr>
            <a:xfrm>
              <a:off x="8851091" y="1981439"/>
              <a:ext cx="2901273" cy="2886477"/>
            </a:xfrm>
            <a:prstGeom prst="roundRect">
              <a:avLst>
                <a:gd name="adj" fmla="val 5335"/>
              </a:avLst>
            </a:prstGeom>
            <a:noFill/>
            <a:ln>
              <a:solidFill>
                <a:srgbClr val="0043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pic>
          <p:nvPicPr>
            <p:cNvPr id="91" name="图片 90">
              <a:extLst>
                <a:ext uri="{FF2B5EF4-FFF2-40B4-BE49-F238E27FC236}">
                  <a16:creationId xmlns:a16="http://schemas.microsoft.com/office/drawing/2014/main" id="{348D80C7-BEBF-98A0-2F6B-FB93BBAAAA25}"/>
                </a:ext>
              </a:extLst>
            </p:cNvPr>
            <p:cNvPicPr>
              <a:picLocks noChangeAspect="1"/>
            </p:cNvPicPr>
            <p:nvPr/>
          </p:nvPicPr>
          <p:blipFill>
            <a:blip r:embed="rId11"/>
            <a:stretch>
              <a:fillRect/>
            </a:stretch>
          </p:blipFill>
          <p:spPr>
            <a:xfrm>
              <a:off x="9135476" y="2335301"/>
              <a:ext cx="2488661" cy="935059"/>
            </a:xfrm>
            <a:prstGeom prst="rect">
              <a:avLst/>
            </a:prstGeom>
          </p:spPr>
        </p:pic>
        <p:pic>
          <p:nvPicPr>
            <p:cNvPr id="92" name="图片 91">
              <a:extLst>
                <a:ext uri="{FF2B5EF4-FFF2-40B4-BE49-F238E27FC236}">
                  <a16:creationId xmlns:a16="http://schemas.microsoft.com/office/drawing/2014/main" id="{708C6066-69F4-921F-EE6C-3EFA8116E0F3}"/>
                </a:ext>
              </a:extLst>
            </p:cNvPr>
            <p:cNvPicPr>
              <a:picLocks noChangeAspect="1"/>
            </p:cNvPicPr>
            <p:nvPr/>
          </p:nvPicPr>
          <p:blipFill>
            <a:blip r:embed="rId12"/>
            <a:srcRect l="22780" r="27355" b="5875"/>
            <a:stretch/>
          </p:blipFill>
          <p:spPr>
            <a:xfrm rot="5400000">
              <a:off x="9816377" y="2740045"/>
              <a:ext cx="1112805" cy="2173435"/>
            </a:xfrm>
            <a:prstGeom prst="rect">
              <a:avLst/>
            </a:prstGeom>
          </p:spPr>
        </p:pic>
      </p:grpSp>
      <p:pic>
        <p:nvPicPr>
          <p:cNvPr id="96" name="图片 95">
            <a:extLst>
              <a:ext uri="{FF2B5EF4-FFF2-40B4-BE49-F238E27FC236}">
                <a16:creationId xmlns:a16="http://schemas.microsoft.com/office/drawing/2014/main" id="{B59DF861-75BE-8DB2-579E-63BB58BC82AE}"/>
              </a:ext>
            </a:extLst>
          </p:cNvPr>
          <p:cNvPicPr>
            <a:picLocks noChangeAspect="1"/>
          </p:cNvPicPr>
          <p:nvPr/>
        </p:nvPicPr>
        <p:blipFill>
          <a:blip r:embed="rId13"/>
          <a:stretch>
            <a:fillRect/>
          </a:stretch>
        </p:blipFill>
        <p:spPr>
          <a:xfrm>
            <a:off x="361691" y="4035652"/>
            <a:ext cx="1097981" cy="1603589"/>
          </a:xfrm>
          <a:prstGeom prst="rect">
            <a:avLst/>
          </a:prstGeom>
        </p:spPr>
      </p:pic>
      <p:grpSp>
        <p:nvGrpSpPr>
          <p:cNvPr id="8" name="组合 7">
            <a:extLst>
              <a:ext uri="{FF2B5EF4-FFF2-40B4-BE49-F238E27FC236}">
                <a16:creationId xmlns:a16="http://schemas.microsoft.com/office/drawing/2014/main" id="{E59D891A-E5C7-EC94-DD0E-FCA052A5FA56}"/>
              </a:ext>
            </a:extLst>
          </p:cNvPr>
          <p:cNvGrpSpPr/>
          <p:nvPr/>
        </p:nvGrpSpPr>
        <p:grpSpPr>
          <a:xfrm>
            <a:off x="7726399" y="985355"/>
            <a:ext cx="2880000" cy="2687453"/>
            <a:chOff x="4596649" y="1787775"/>
            <a:chExt cx="2880000" cy="2687453"/>
          </a:xfrm>
        </p:grpSpPr>
        <p:sp>
          <p:nvSpPr>
            <p:cNvPr id="28" name="文本框 27"/>
            <p:cNvSpPr txBox="1"/>
            <p:nvPr/>
          </p:nvSpPr>
          <p:spPr>
            <a:xfrm>
              <a:off x="5142829" y="4022439"/>
              <a:ext cx="1747647" cy="369332"/>
            </a:xfrm>
            <a:prstGeom prst="rect">
              <a:avLst/>
            </a:prstGeom>
            <a:solidFill>
              <a:srgbClr val="E1EAF9"/>
            </a:solidFill>
          </p:spPr>
          <p:txBody>
            <a:bodyPr wrap="square">
              <a:spAutoFit/>
            </a:bodyPr>
            <a:lstStyle/>
            <a:p>
              <a:pPr marL="467360" indent="-363855" eaLnBrk="0"/>
              <a:r>
                <a:rPr lang="zh-CN" altLang="en-US" kern="0" spc="-10" dirty="0">
                  <a:solidFill>
                    <a:srgbClr val="000000">
                      <a:alpha val="100000"/>
                    </a:srgbClr>
                  </a:solidFill>
                  <a:latin typeface="+mj-ea"/>
                  <a:ea typeface="+mj-ea"/>
                  <a:cs typeface="+mj-ea"/>
                  <a:sym typeface="+mn-ea"/>
                </a:rPr>
                <a:t>深度学习感知</a:t>
              </a:r>
            </a:p>
          </p:txBody>
        </p:sp>
        <p:sp>
          <p:nvSpPr>
            <p:cNvPr id="31" name="矩形: 圆角 30"/>
            <p:cNvSpPr/>
            <p:nvPr/>
          </p:nvSpPr>
          <p:spPr>
            <a:xfrm>
              <a:off x="4596649" y="1787775"/>
              <a:ext cx="2880000" cy="2687453"/>
            </a:xfrm>
            <a:prstGeom prst="roundRect">
              <a:avLst>
                <a:gd name="adj" fmla="val 7560"/>
              </a:avLst>
            </a:prstGeom>
            <a:noFill/>
            <a:ln>
              <a:solidFill>
                <a:srgbClr val="0043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pic>
          <p:nvPicPr>
            <p:cNvPr id="14" name="图片 13">
              <a:extLst>
                <a:ext uri="{FF2B5EF4-FFF2-40B4-BE49-F238E27FC236}">
                  <a16:creationId xmlns:a16="http://schemas.microsoft.com/office/drawing/2014/main" id="{1F1A93DE-9131-1724-1B95-1FB58B305D80}"/>
                </a:ext>
              </a:extLst>
            </p:cNvPr>
            <p:cNvPicPr>
              <a:picLocks noChangeAspect="1"/>
            </p:cNvPicPr>
            <p:nvPr/>
          </p:nvPicPr>
          <p:blipFill>
            <a:blip r:embed="rId14"/>
            <a:srcRect l="46505" b="6591"/>
            <a:stretch/>
          </p:blipFill>
          <p:spPr>
            <a:xfrm>
              <a:off x="4849525" y="2051238"/>
              <a:ext cx="2334257" cy="975634"/>
            </a:xfrm>
            <a:prstGeom prst="rect">
              <a:avLst/>
            </a:prstGeom>
          </p:spPr>
        </p:pic>
        <p:pic>
          <p:nvPicPr>
            <p:cNvPr id="15" name="图片 14">
              <a:extLst>
                <a:ext uri="{FF2B5EF4-FFF2-40B4-BE49-F238E27FC236}">
                  <a16:creationId xmlns:a16="http://schemas.microsoft.com/office/drawing/2014/main" id="{2E7E2221-BF84-E6F3-B64B-4F86CA46FF9F}"/>
                </a:ext>
              </a:extLst>
            </p:cNvPr>
            <p:cNvPicPr>
              <a:picLocks noChangeAspect="1"/>
            </p:cNvPicPr>
            <p:nvPr/>
          </p:nvPicPr>
          <p:blipFill>
            <a:blip r:embed="rId15"/>
            <a:srcRect r="54479"/>
            <a:stretch/>
          </p:blipFill>
          <p:spPr>
            <a:xfrm>
              <a:off x="5115582" y="2944436"/>
              <a:ext cx="1993827" cy="1047715"/>
            </a:xfrm>
            <a:prstGeom prst="rect">
              <a:avLst/>
            </a:prstGeom>
          </p:spPr>
        </p:pic>
        <p:sp>
          <p:nvSpPr>
            <p:cNvPr id="6" name="圆角矩形 34">
              <a:extLst>
                <a:ext uri="{FF2B5EF4-FFF2-40B4-BE49-F238E27FC236}">
                  <a16:creationId xmlns:a16="http://schemas.microsoft.com/office/drawing/2014/main" id="{7C5C28BB-A285-AD59-C353-44080FFA3A60}"/>
                </a:ext>
              </a:extLst>
            </p:cNvPr>
            <p:cNvSpPr/>
            <p:nvPr>
              <p:custDataLst>
                <p:tags r:id="rId5"/>
              </p:custDataLst>
            </p:nvPr>
          </p:nvSpPr>
          <p:spPr>
            <a:xfrm>
              <a:off x="4849525" y="1787776"/>
              <a:ext cx="2334257" cy="360000"/>
            </a:xfrm>
            <a:prstGeom prst="roundRect">
              <a:avLst/>
            </a:prstGeom>
            <a:solidFill>
              <a:srgbClr val="0043A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noAutofit/>
            </a:bodyPr>
            <a:lstStyle/>
            <a:p>
              <a:pPr marL="338455" indent="-234950" algn="ctr" eaLnBrk="0">
                <a:lnSpc>
                  <a:spcPct val="110000"/>
                </a:lnSpc>
                <a:spcBef>
                  <a:spcPts val="900"/>
                </a:spcBef>
              </a:pPr>
              <a:r>
                <a:rPr lang="zh-CN" altLang="en-US" kern="100" dirty="0">
                  <a:solidFill>
                    <a:schemeClr val="bg1"/>
                  </a:solidFill>
                  <a:latin typeface="微软雅黑" panose="020B0503020204020204" charset="-122"/>
                  <a:ea typeface="微软雅黑" panose="020B0503020204020204" charset="-122"/>
                  <a:cs typeface="Times New Roman" panose="02020603050405020304" pitchFamily="18" charset="0"/>
                </a:rPr>
                <a:t>动态电磁行为建模</a:t>
              </a:r>
            </a:p>
          </p:txBody>
        </p:sp>
      </p:grpSp>
      <p:sp>
        <p:nvSpPr>
          <p:cNvPr id="11" name="圆角矩形 34">
            <a:extLst>
              <a:ext uri="{FF2B5EF4-FFF2-40B4-BE49-F238E27FC236}">
                <a16:creationId xmlns:a16="http://schemas.microsoft.com/office/drawing/2014/main" id="{D0408AC8-3587-AEA5-103F-1088715A452D}"/>
              </a:ext>
            </a:extLst>
          </p:cNvPr>
          <p:cNvSpPr/>
          <p:nvPr>
            <p:custDataLst>
              <p:tags r:id="rId3"/>
            </p:custDataLst>
          </p:nvPr>
        </p:nvSpPr>
        <p:spPr>
          <a:xfrm>
            <a:off x="361691" y="998537"/>
            <a:ext cx="3312000" cy="538268"/>
          </a:xfrm>
          <a:prstGeom prst="roundRect">
            <a:avLst/>
          </a:prstGeom>
          <a:solidFill>
            <a:srgbClr val="0043A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noAutofit/>
          </a:bodyPr>
          <a:lstStyle/>
          <a:p>
            <a:pPr marL="338455" indent="-234950" algn="ctr" eaLnBrk="0">
              <a:lnSpc>
                <a:spcPct val="110000"/>
              </a:lnSpc>
              <a:spcBef>
                <a:spcPts val="900"/>
              </a:spcBef>
            </a:pPr>
            <a:r>
              <a:rPr lang="zh-CN" altLang="en-US" kern="100" dirty="0">
                <a:solidFill>
                  <a:schemeClr val="bg1"/>
                </a:solidFill>
                <a:latin typeface="微软雅黑" panose="020B0503020204020204" charset="-122"/>
                <a:ea typeface="微软雅黑" panose="020B0503020204020204" charset="-122"/>
                <a:cs typeface="Times New Roman" panose="02020603050405020304" pitchFamily="18" charset="0"/>
                <a:sym typeface="+mn-ea"/>
              </a:rPr>
              <a:t>电磁数据集构建</a:t>
            </a:r>
          </a:p>
        </p:txBody>
      </p:sp>
      <p:sp>
        <p:nvSpPr>
          <p:cNvPr id="12" name="文本框 11">
            <a:extLst>
              <a:ext uri="{FF2B5EF4-FFF2-40B4-BE49-F238E27FC236}">
                <a16:creationId xmlns:a16="http://schemas.microsoft.com/office/drawing/2014/main" id="{430168D1-6C5A-987C-23B3-EB4091A0EA7C}"/>
              </a:ext>
            </a:extLst>
          </p:cNvPr>
          <p:cNvSpPr txBox="1"/>
          <p:nvPr/>
        </p:nvSpPr>
        <p:spPr>
          <a:xfrm>
            <a:off x="967154" y="3248818"/>
            <a:ext cx="2189463" cy="369332"/>
          </a:xfrm>
          <a:prstGeom prst="rect">
            <a:avLst/>
          </a:prstGeom>
          <a:solidFill>
            <a:srgbClr val="E1EAF9"/>
          </a:solidFill>
        </p:spPr>
        <p:txBody>
          <a:bodyPr wrap="square">
            <a:spAutoFit/>
          </a:bodyPr>
          <a:lstStyle/>
          <a:p>
            <a:pPr marL="467360" indent="-363855" algn="l" rtl="0" eaLnBrk="0" fontAlgn="auto">
              <a:lnSpc>
                <a:spcPct val="100000"/>
              </a:lnSpc>
              <a:spcBef>
                <a:spcPts val="0"/>
              </a:spcBef>
            </a:pPr>
            <a:r>
              <a:rPr lang="zh-CN" altLang="en-US" kern="0" spc="-10" dirty="0">
                <a:solidFill>
                  <a:srgbClr val="000000">
                    <a:alpha val="100000"/>
                  </a:srgbClr>
                </a:solidFill>
                <a:latin typeface="+mj-ea"/>
                <a:ea typeface="+mj-ea"/>
                <a:cs typeface="+mj-ea"/>
                <a:sym typeface="+mn-ea"/>
              </a:rPr>
              <a:t>多模态数据集采集</a:t>
            </a:r>
            <a:endParaRPr lang="zh-CN" altLang="en-US" sz="1800" kern="0" spc="30" dirty="0">
              <a:solidFill>
                <a:srgbClr val="000000">
                  <a:alpha val="100000"/>
                </a:srgbClr>
              </a:solidFill>
              <a:latin typeface="+mj-ea"/>
              <a:ea typeface="+mj-ea"/>
              <a:cs typeface="+mj-ea"/>
              <a:sym typeface="+mn-ea"/>
            </a:endParaRPr>
          </a:p>
        </p:txBody>
      </p:sp>
      <p:sp>
        <p:nvSpPr>
          <p:cNvPr id="13" name="矩形: 圆角 12">
            <a:extLst>
              <a:ext uri="{FF2B5EF4-FFF2-40B4-BE49-F238E27FC236}">
                <a16:creationId xmlns:a16="http://schemas.microsoft.com/office/drawing/2014/main" id="{0AB65E83-1A92-CA4D-1E97-CBAB40C4C17E}"/>
              </a:ext>
            </a:extLst>
          </p:cNvPr>
          <p:cNvSpPr/>
          <p:nvPr/>
        </p:nvSpPr>
        <p:spPr>
          <a:xfrm>
            <a:off x="226985" y="990771"/>
            <a:ext cx="3600000" cy="5631829"/>
          </a:xfrm>
          <a:prstGeom prst="roundRect">
            <a:avLst>
              <a:gd name="adj" fmla="val 4625"/>
            </a:avLst>
          </a:prstGeom>
          <a:noFill/>
          <a:ln>
            <a:solidFill>
              <a:srgbClr val="0043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16" name="文本框 15">
            <a:extLst>
              <a:ext uri="{FF2B5EF4-FFF2-40B4-BE49-F238E27FC236}">
                <a16:creationId xmlns:a16="http://schemas.microsoft.com/office/drawing/2014/main" id="{063E6A9A-0786-A8C7-C37F-3C16BBC17261}"/>
              </a:ext>
            </a:extLst>
          </p:cNvPr>
          <p:cNvSpPr txBox="1"/>
          <p:nvPr/>
        </p:nvSpPr>
        <p:spPr>
          <a:xfrm>
            <a:off x="1163685" y="6137765"/>
            <a:ext cx="1708011" cy="369332"/>
          </a:xfrm>
          <a:prstGeom prst="rect">
            <a:avLst/>
          </a:prstGeom>
          <a:solidFill>
            <a:srgbClr val="E1EAF9"/>
          </a:solidFill>
        </p:spPr>
        <p:txBody>
          <a:bodyPr wrap="square" rtlCol="0">
            <a:spAutoFit/>
          </a:bodyPr>
          <a:lstStyle/>
          <a:p>
            <a:pPr algn="ctr" defTabSz="457200"/>
            <a:r>
              <a:rPr lang="zh-CN" altLang="en-US" kern="0" spc="-10" dirty="0">
                <a:solidFill>
                  <a:srgbClr val="000000">
                    <a:alpha val="100000"/>
                  </a:srgbClr>
                </a:solidFill>
                <a:latin typeface="+mj-ea"/>
                <a:ea typeface="+mj-ea"/>
                <a:cs typeface="+mj-ea"/>
              </a:rPr>
              <a:t>特征提取选择</a:t>
            </a:r>
          </a:p>
        </p:txBody>
      </p:sp>
      <p:sp>
        <p:nvSpPr>
          <p:cNvPr id="114" name="箭头: 下 113">
            <a:extLst>
              <a:ext uri="{FF2B5EF4-FFF2-40B4-BE49-F238E27FC236}">
                <a16:creationId xmlns:a16="http://schemas.microsoft.com/office/drawing/2014/main" id="{8F716BA2-8FB3-929D-910E-2B2EB3BCDD41}"/>
              </a:ext>
            </a:extLst>
          </p:cNvPr>
          <p:cNvSpPr/>
          <p:nvPr/>
        </p:nvSpPr>
        <p:spPr>
          <a:xfrm rot="16200000">
            <a:off x="3760143" y="3300186"/>
            <a:ext cx="376111" cy="526223"/>
          </a:xfrm>
          <a:prstGeom prst="downArrow">
            <a:avLst/>
          </a:prstGeom>
          <a:solidFill>
            <a:srgbClr val="0043A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箭头: 下 114">
            <a:extLst>
              <a:ext uri="{FF2B5EF4-FFF2-40B4-BE49-F238E27FC236}">
                <a16:creationId xmlns:a16="http://schemas.microsoft.com/office/drawing/2014/main" id="{12A6C8B0-2541-429E-5AFB-DB71C006CD8E}"/>
              </a:ext>
            </a:extLst>
          </p:cNvPr>
          <p:cNvSpPr/>
          <p:nvPr/>
        </p:nvSpPr>
        <p:spPr>
          <a:xfrm rot="16200000">
            <a:off x="7475859" y="4648515"/>
            <a:ext cx="376111" cy="526223"/>
          </a:xfrm>
          <a:prstGeom prst="downArrow">
            <a:avLst/>
          </a:prstGeom>
          <a:solidFill>
            <a:srgbClr val="0043A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箭头: 下 115">
            <a:extLst>
              <a:ext uri="{FF2B5EF4-FFF2-40B4-BE49-F238E27FC236}">
                <a16:creationId xmlns:a16="http://schemas.microsoft.com/office/drawing/2014/main" id="{C46B9CAF-D382-679D-592D-ADEC40C73BD0}"/>
              </a:ext>
            </a:extLst>
          </p:cNvPr>
          <p:cNvSpPr/>
          <p:nvPr/>
        </p:nvSpPr>
        <p:spPr>
          <a:xfrm rot="16200000">
            <a:off x="7538344" y="2045744"/>
            <a:ext cx="376111" cy="526223"/>
          </a:xfrm>
          <a:prstGeom prst="downArrow">
            <a:avLst/>
          </a:prstGeom>
          <a:solidFill>
            <a:srgbClr val="0043A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8" name="图片 117">
            <a:extLst>
              <a:ext uri="{FF2B5EF4-FFF2-40B4-BE49-F238E27FC236}">
                <a16:creationId xmlns:a16="http://schemas.microsoft.com/office/drawing/2014/main" id="{976D2518-87C1-3FD9-FBA2-63B6B2C1FA5B}"/>
              </a:ext>
            </a:extLst>
          </p:cNvPr>
          <p:cNvPicPr>
            <a:picLocks noChangeAspect="1"/>
          </p:cNvPicPr>
          <p:nvPr/>
        </p:nvPicPr>
        <p:blipFill>
          <a:blip r:embed="rId16"/>
          <a:stretch>
            <a:fillRect/>
          </a:stretch>
        </p:blipFill>
        <p:spPr>
          <a:xfrm>
            <a:off x="405886" y="1675131"/>
            <a:ext cx="3312001" cy="1267451"/>
          </a:xfrm>
          <a:prstGeom prst="rect">
            <a:avLst/>
          </a:prstGeom>
        </p:spPr>
      </p:pic>
      <p:pic>
        <p:nvPicPr>
          <p:cNvPr id="121" name="图片 120">
            <a:extLst>
              <a:ext uri="{FF2B5EF4-FFF2-40B4-BE49-F238E27FC236}">
                <a16:creationId xmlns:a16="http://schemas.microsoft.com/office/drawing/2014/main" id="{4975E006-A6F8-FB3A-12C6-B8DC0CD8101F}"/>
              </a:ext>
            </a:extLst>
          </p:cNvPr>
          <p:cNvPicPr>
            <a:picLocks noChangeAspect="1"/>
          </p:cNvPicPr>
          <p:nvPr/>
        </p:nvPicPr>
        <p:blipFill>
          <a:blip r:embed="rId17"/>
          <a:srcRect l="1" r="3352"/>
          <a:stretch/>
        </p:blipFill>
        <p:spPr>
          <a:xfrm>
            <a:off x="1484056" y="4089984"/>
            <a:ext cx="2229665" cy="1450933"/>
          </a:xfrm>
          <a:prstGeom prst="rect">
            <a:avLst/>
          </a:prstGeom>
        </p:spPr>
      </p:pic>
      <p:sp>
        <p:nvSpPr>
          <p:cNvPr id="123" name="圆角矩形 34">
            <a:extLst>
              <a:ext uri="{FF2B5EF4-FFF2-40B4-BE49-F238E27FC236}">
                <a16:creationId xmlns:a16="http://schemas.microsoft.com/office/drawing/2014/main" id="{C2E2F021-A6F3-2C4F-1917-A85C2B067026}"/>
              </a:ext>
            </a:extLst>
          </p:cNvPr>
          <p:cNvSpPr/>
          <p:nvPr>
            <p:custDataLst>
              <p:tags r:id="rId4"/>
            </p:custDataLst>
          </p:nvPr>
        </p:nvSpPr>
        <p:spPr>
          <a:xfrm rot="5400000">
            <a:off x="8810454" y="3399747"/>
            <a:ext cx="5631829" cy="803045"/>
          </a:xfrm>
          <a:prstGeom prst="roundRect">
            <a:avLst/>
          </a:prstGeom>
          <a:solidFill>
            <a:srgbClr val="0043A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noAutofit/>
          </a:bodyPr>
          <a:lstStyle/>
          <a:p>
            <a:pPr marL="338455" indent="-234950" algn="ctr" eaLnBrk="0">
              <a:lnSpc>
                <a:spcPct val="110000"/>
              </a:lnSpc>
              <a:spcBef>
                <a:spcPts val="900"/>
              </a:spcBef>
            </a:pPr>
            <a:endParaRPr lang="zh-CN" altLang="en-US" kern="100" dirty="0">
              <a:solidFill>
                <a:schemeClr val="bg1"/>
              </a:solidFill>
              <a:latin typeface="微软雅黑" panose="020B0503020204020204" charset="-122"/>
              <a:ea typeface="微软雅黑" panose="020B0503020204020204" charset="-122"/>
              <a:cs typeface="Times New Roman" panose="02020603050405020304" pitchFamily="18" charset="0"/>
              <a:sym typeface="+mn-ea"/>
            </a:endParaRPr>
          </a:p>
        </p:txBody>
      </p:sp>
      <p:grpSp>
        <p:nvGrpSpPr>
          <p:cNvPr id="126" name="组合 125">
            <a:extLst>
              <a:ext uri="{FF2B5EF4-FFF2-40B4-BE49-F238E27FC236}">
                <a16:creationId xmlns:a16="http://schemas.microsoft.com/office/drawing/2014/main" id="{28EAEB98-5E21-BE31-A93D-8BA98B916E5C}"/>
              </a:ext>
            </a:extLst>
          </p:cNvPr>
          <p:cNvGrpSpPr/>
          <p:nvPr/>
        </p:nvGrpSpPr>
        <p:grpSpPr>
          <a:xfrm>
            <a:off x="10284616" y="2026766"/>
            <a:ext cx="842855" cy="551547"/>
            <a:chOff x="10603406" y="2128251"/>
            <a:chExt cx="842855" cy="551547"/>
          </a:xfrm>
        </p:grpSpPr>
        <p:sp>
          <p:nvSpPr>
            <p:cNvPr id="124" name="箭头: 下 123">
              <a:extLst>
                <a:ext uri="{FF2B5EF4-FFF2-40B4-BE49-F238E27FC236}">
                  <a16:creationId xmlns:a16="http://schemas.microsoft.com/office/drawing/2014/main" id="{792A8B38-42C3-12E3-2249-D1946D2A7777}"/>
                </a:ext>
              </a:extLst>
            </p:cNvPr>
            <p:cNvSpPr/>
            <p:nvPr/>
          </p:nvSpPr>
          <p:spPr>
            <a:xfrm rot="16200000">
              <a:off x="10749060" y="1982597"/>
              <a:ext cx="551547" cy="842855"/>
            </a:xfrm>
            <a:prstGeom prst="downArrow">
              <a:avLst/>
            </a:prstGeom>
            <a:solidFill>
              <a:srgbClr val="0043A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5" name="文本框 124">
              <a:extLst>
                <a:ext uri="{FF2B5EF4-FFF2-40B4-BE49-F238E27FC236}">
                  <a16:creationId xmlns:a16="http://schemas.microsoft.com/office/drawing/2014/main" id="{DE97FA3C-9CB2-5ADD-48FC-A74114F47E8F}"/>
                </a:ext>
              </a:extLst>
            </p:cNvPr>
            <p:cNvSpPr txBox="1"/>
            <p:nvPr/>
          </p:nvSpPr>
          <p:spPr>
            <a:xfrm>
              <a:off x="10609163" y="2224452"/>
              <a:ext cx="803045" cy="338554"/>
            </a:xfrm>
            <a:prstGeom prst="rect">
              <a:avLst/>
            </a:prstGeom>
            <a:noFill/>
          </p:spPr>
          <p:txBody>
            <a:bodyPr wrap="square" rtlCol="0">
              <a:spAutoFit/>
            </a:bodyPr>
            <a:lstStyle/>
            <a:p>
              <a:r>
                <a:rPr lang="zh-CN" altLang="en-US" sz="1600" dirty="0">
                  <a:solidFill>
                    <a:schemeClr val="bg1"/>
                  </a:solidFill>
                </a:rPr>
                <a:t>感知</a:t>
              </a:r>
            </a:p>
          </p:txBody>
        </p:sp>
      </p:grpSp>
      <p:grpSp>
        <p:nvGrpSpPr>
          <p:cNvPr id="127" name="组合 126">
            <a:extLst>
              <a:ext uri="{FF2B5EF4-FFF2-40B4-BE49-F238E27FC236}">
                <a16:creationId xmlns:a16="http://schemas.microsoft.com/office/drawing/2014/main" id="{EB9DCE27-F21A-4608-D22D-D452447A643A}"/>
              </a:ext>
            </a:extLst>
          </p:cNvPr>
          <p:cNvGrpSpPr/>
          <p:nvPr/>
        </p:nvGrpSpPr>
        <p:grpSpPr>
          <a:xfrm>
            <a:off x="10269814" y="4905483"/>
            <a:ext cx="842855" cy="551547"/>
            <a:chOff x="10603406" y="2128251"/>
            <a:chExt cx="842855" cy="551547"/>
          </a:xfrm>
        </p:grpSpPr>
        <p:sp>
          <p:nvSpPr>
            <p:cNvPr id="128" name="箭头: 下 127">
              <a:extLst>
                <a:ext uri="{FF2B5EF4-FFF2-40B4-BE49-F238E27FC236}">
                  <a16:creationId xmlns:a16="http://schemas.microsoft.com/office/drawing/2014/main" id="{B0F9A042-E867-2792-820A-6EFC258AE770}"/>
                </a:ext>
              </a:extLst>
            </p:cNvPr>
            <p:cNvSpPr/>
            <p:nvPr/>
          </p:nvSpPr>
          <p:spPr>
            <a:xfrm rot="16200000">
              <a:off x="10749060" y="1982597"/>
              <a:ext cx="551547" cy="842855"/>
            </a:xfrm>
            <a:prstGeom prst="downArrow">
              <a:avLst/>
            </a:prstGeom>
            <a:solidFill>
              <a:srgbClr val="0043A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9" name="文本框 128">
              <a:extLst>
                <a:ext uri="{FF2B5EF4-FFF2-40B4-BE49-F238E27FC236}">
                  <a16:creationId xmlns:a16="http://schemas.microsoft.com/office/drawing/2014/main" id="{6B07133F-18C6-93DB-499D-40C9D5AF4FFD}"/>
                </a:ext>
              </a:extLst>
            </p:cNvPr>
            <p:cNvSpPr txBox="1"/>
            <p:nvPr/>
          </p:nvSpPr>
          <p:spPr>
            <a:xfrm>
              <a:off x="10609163" y="2224452"/>
              <a:ext cx="803045" cy="338554"/>
            </a:xfrm>
            <a:prstGeom prst="rect">
              <a:avLst/>
            </a:prstGeom>
            <a:noFill/>
          </p:spPr>
          <p:txBody>
            <a:bodyPr wrap="square" rtlCol="0">
              <a:spAutoFit/>
            </a:bodyPr>
            <a:lstStyle/>
            <a:p>
              <a:r>
                <a:rPr lang="zh-CN" altLang="en-US" sz="1600" dirty="0">
                  <a:solidFill>
                    <a:schemeClr val="bg1"/>
                  </a:solidFill>
                </a:rPr>
                <a:t>预测</a:t>
              </a:r>
            </a:p>
          </p:txBody>
        </p:sp>
      </p:grpSp>
      <p:sp>
        <p:nvSpPr>
          <p:cNvPr id="131" name="文本框 130">
            <a:extLst>
              <a:ext uri="{FF2B5EF4-FFF2-40B4-BE49-F238E27FC236}">
                <a16:creationId xmlns:a16="http://schemas.microsoft.com/office/drawing/2014/main" id="{F245D81C-D87F-90B8-E018-0B03042CCD26}"/>
              </a:ext>
            </a:extLst>
          </p:cNvPr>
          <p:cNvSpPr txBox="1"/>
          <p:nvPr/>
        </p:nvSpPr>
        <p:spPr>
          <a:xfrm>
            <a:off x="11318591" y="1007946"/>
            <a:ext cx="615553" cy="5631829"/>
          </a:xfrm>
          <a:prstGeom prst="rect">
            <a:avLst/>
          </a:prstGeom>
          <a:noFill/>
        </p:spPr>
        <p:txBody>
          <a:bodyPr vert="eaVert" wrap="square" rtlCol="0">
            <a:spAutoFit/>
          </a:bodyPr>
          <a:lstStyle/>
          <a:p>
            <a:pPr algn="ctr"/>
            <a:r>
              <a:rPr lang="zh-CN" altLang="en-US" sz="2800" b="1" dirty="0">
                <a:solidFill>
                  <a:schemeClr val="bg1"/>
                </a:solidFill>
                <a:sym typeface="+mn-ea"/>
              </a:rPr>
              <a:t>复杂</a:t>
            </a:r>
            <a:r>
              <a:rPr lang="zh-CN" altLang="en-US" sz="2800" b="1" dirty="0">
                <a:solidFill>
                  <a:schemeClr val="bg1"/>
                </a:solidFill>
                <a:latin typeface="+mj-lt"/>
                <a:sym typeface="+mn-ea"/>
              </a:rPr>
              <a:t>环境辐射源</a:t>
            </a:r>
            <a:r>
              <a:rPr lang="zh-CN" altLang="en-US" sz="2800" b="1" dirty="0">
                <a:solidFill>
                  <a:schemeClr val="bg1"/>
                </a:solidFill>
                <a:sym typeface="+mn-ea"/>
              </a:rPr>
              <a:t>动态电磁行为</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arrow&quot;,&quot;Name&quot;:&quot;窄&quot;,&quot;HeaderHeight&quot;:10.0,&quot;FooterHeight&quot;:5.0,&quot;SideMargin&quot;:2.5,&quot;TopMargin&quot;:0.0,&quot;BottomMargin&quot;:0.0,&quot;IntervalMargin&quot;:1.0,&quot;SettingType&quot;:&quot;System&quot;}"/>
  <p:tag name="COMMONDATA" val="eyJoZGlkIjoiMjAwMmM4MjgyZWNkMzMwNWVhMGM0NjU1YWJkMDk2MzIifQ=="/>
  <p:tag name="RESOURCE_RECORD_KEY" val="{&quot;65&quot;:[20220059],&quot;70&quot;:[3320069,3320073,3314651]}"/>
</p:tagLst>
</file>

<file path=ppt/tags/tag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15"/>
  <p:tag name="KSO_WM_UNIT_TEXT_FILL_FORE_SCHEMECOLOR_INDEX" val="13"/>
  <p:tag name="KSO_WM_UNIT_TEXT_FILL_TYPE" val="1"/>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8"/>
  <p:tag name="KSO_WM_UNIT_FILL_FORE_SCHEMECOLOR_INDEX" val="5"/>
  <p:tag name="KSO_WM_UNIT_FILL_TYPE" val="1"/>
  <p:tag name="KSO_WM_UNIT_LINE_FORE_SCHEMECOLOR_INDEX_BRIGHTNESS" val="-0.25"/>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8"/>
  <p:tag name="KSO_WM_UNIT_FILL_FORE_SCHEMECOLOR_INDEX" val="5"/>
  <p:tag name="KSO_WM_UNIT_FILL_TYPE" val="1"/>
  <p:tag name="KSO_WM_UNIT_LINE_FORE_SCHEMECOLOR_INDEX_BRIGHTNESS" val="-0.25"/>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8"/>
  <p:tag name="KSO_WM_UNIT_FILL_FORE_SCHEMECOLOR_INDEX" val="5"/>
  <p:tag name="KSO_WM_UNIT_FILL_TYPE" val="1"/>
  <p:tag name="KSO_WM_UNIT_LINE_FORE_SCHEMECOLOR_INDEX_BRIGHTNESS" val="-0.25"/>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69.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4-10-28T11:20:15&quot;,&quot;maxSize&quot;:{&quot;size1&quot;:22.2},&quot;minSize&quot;:{&quot;size1&quot;:13.5},&quot;normalSize&quot;:{&quot;size1&quot;:13.5},&quot;subLayout&quot;:[{&quot;id&quot;:&quot;2024-10-28T11:20:15&quot;,&quot;margin&quot;:{&quot;bottom&quot;:0.025999998673796654,&quot;left&quot;:2.117000102996826,&quot;right&quot;:1.2699999809265137,&quot;top&quot;:0.4230000376701355},&quot;type&quot;:0},{&quot;id&quot;:&quot;2024-10-28T11:20:15&quot;,&quot;margin&quot;:{&quot;bottom&quot;:0.847000002861023,&quot;left&quot;:1.2790000438690186,&quot;right&quot;:1.2609999179840088,&quot;top&quot;:0.3970000147819519},&quot;type&quot;:0}],&quot;type&quot;:0}"/>
  <p:tag name="KSO_WM_SLIDE_RATIO" val="1.777778"/>
  <p:tag name="KSO_WM_SLIDE_BACKGROUND" val="[&quot;general&quot;]"/>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15"/>
  <p:tag name="KSO_WM_UNIT_TEXT_FILL_FORE_SCHEMECOLOR_INDEX" val="13"/>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8"/>
  <p:tag name="KSO_WM_UNIT_FILL_FORE_SCHEMECOLOR_INDEX" val="5"/>
  <p:tag name="KSO_WM_UNIT_FILL_TYPE" val="1"/>
  <p:tag name="KSO_WM_UNIT_LINE_FORE_SCHEMECOLOR_INDEX_BRIGHTNESS" val="-0.25"/>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_BRIGHTNESS" val="0.8"/>
  <p:tag name="KSO_WM_UNIT_FILL_FORE_SCHEMECOLOR_INDEX" val="5"/>
  <p:tag name="KSO_WM_UNIT_FILL_TYPE" val="1"/>
  <p:tag name="KSO_WM_UNIT_LINE_FORE_SCHEMECOLOR_INDEX_BRIGHTNESS" val="-0.25"/>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15"/>
  <p:tag name="KSO_WM_UNIT_TEXT_FILL_FORE_SCHEMECOLOR_INDEX" val="13"/>
  <p:tag name="KSO_WM_UNIT_TEXT_FILL_TYPE" val="1"/>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15"/>
  <p:tag name="KSO_WM_UNIT_TEXT_FILL_FORE_SCHEMECOLOR_INDEX" val="13"/>
  <p:tag name="KSO_WM_UNIT_TEX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SJTU-2019">
      <a:dk1>
        <a:srgbClr val="000000"/>
      </a:dk1>
      <a:lt1>
        <a:srgbClr val="FFFFFF"/>
      </a:lt1>
      <a:dk2>
        <a:srgbClr val="1B1C21"/>
      </a:dk2>
      <a:lt2>
        <a:srgbClr val="DBDBDB"/>
      </a:lt2>
      <a:accent1>
        <a:srgbClr val="C8161E"/>
      </a:accent1>
      <a:accent2>
        <a:srgbClr val="44546A"/>
      </a:accent2>
      <a:accent3>
        <a:srgbClr val="1F4D78"/>
      </a:accent3>
      <a:accent4>
        <a:srgbClr val="ED7D31"/>
      </a:accent4>
      <a:accent5>
        <a:srgbClr val="FFC000"/>
      </a:accent5>
      <a:accent6>
        <a:srgbClr val="A5A5A5"/>
      </a:accent6>
      <a:hlink>
        <a:srgbClr val="196E7D"/>
      </a:hlink>
      <a:folHlink>
        <a:srgbClr val="BEBEBE"/>
      </a:folHlink>
    </a:clrScheme>
    <a:fontScheme name="外宣普适">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1158</TotalTime>
  <Words>690</Words>
  <Application>Microsoft Office PowerPoint</Application>
  <PresentationFormat>宽屏</PresentationFormat>
  <Paragraphs>135</Paragraphs>
  <Slides>4</Slides>
  <Notes>3</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4</vt:i4>
      </vt:variant>
    </vt:vector>
  </HeadingPairs>
  <TitlesOfParts>
    <vt:vector size="12" baseType="lpstr">
      <vt:lpstr>等线</vt:lpstr>
      <vt:lpstr>楷体</vt:lpstr>
      <vt:lpstr>微软雅黑</vt:lpstr>
      <vt:lpstr>Arial</vt:lpstr>
      <vt:lpstr>Calibri</vt:lpstr>
      <vt:lpstr>Wingdings</vt:lpstr>
      <vt:lpstr>Office 主题​​</vt:lpstr>
      <vt:lpstr>自定义设计方案</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凯</cp:lastModifiedBy>
  <cp:revision>1228</cp:revision>
  <dcterms:created xsi:type="dcterms:W3CDTF">2019-01-23T14:14:00Z</dcterms:created>
  <dcterms:modified xsi:type="dcterms:W3CDTF">2025-07-09T08:45:49Z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Nuaxnuy@DESKTOP-GLORKB7</vt:lpwstr>
  </property>
  <property fmtid="{D5CDD505-2E9C-101B-9397-08002B2CF9AE}" pid="5" name="MSIP_Label_f42aa342-8706-4288-bd11-ebb85995028c_SetDate">
    <vt:lpwstr>2019-04-13T04:31:50.2944312Z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7b149082-93e1-4519-a220-b561cf239821</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ICV">
    <vt:lpwstr>C0C22EBFB433481D99EB2F9633AB6FC8_13</vt:lpwstr>
  </property>
  <property fmtid="{D5CDD505-2E9C-101B-9397-08002B2CF9AE}" pid="12" name="KSOProductBuildVer">
    <vt:lpwstr>2052-12.1.0.18240</vt:lpwstr>
  </property>
</Properties>
</file>
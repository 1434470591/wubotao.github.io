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  <p:sldId id="262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0" d="100"/>
          <a:sy n="160" d="100"/>
        </p:scale>
        <p:origin x="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F9251-FE59-48BF-955E-C9B7EC3A8D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BC0E-D390-4829-8C03-8DF446D153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F9251-FE59-48BF-955E-C9B7EC3A8D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BC0E-D390-4829-8C03-8DF446D153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F9251-FE59-48BF-955E-C9B7EC3A8D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BC0E-D390-4829-8C03-8DF446D153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F9251-FE59-48BF-955E-C9B7EC3A8D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BC0E-D390-4829-8C03-8DF446D153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F9251-FE59-48BF-955E-C9B7EC3A8D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BC0E-D390-4829-8C03-8DF446D153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F9251-FE59-48BF-955E-C9B7EC3A8D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BC0E-D390-4829-8C03-8DF446D153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F9251-FE59-48BF-955E-C9B7EC3A8D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BC0E-D390-4829-8C03-8DF446D153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F9251-FE59-48BF-955E-C9B7EC3A8D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BC0E-D390-4829-8C03-8DF446D153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F9251-FE59-48BF-955E-C9B7EC3A8D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BC0E-D390-4829-8C03-8DF446D153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F9251-FE59-48BF-955E-C9B7EC3A8D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BC0E-D390-4829-8C03-8DF446D153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F9251-FE59-48BF-955E-C9B7EC3A8D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BC0E-D390-4829-8C03-8DF446D153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F9251-FE59-48BF-955E-C9B7EC3A8D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6BC0E-D390-4829-8C03-8DF446D1533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2.png"/><Relationship Id="rId11" Type="http://schemas.openxmlformats.org/officeDocument/2006/relationships/image" Target="../media/image11.sv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47822" y="1619856"/>
            <a:ext cx="3224175" cy="18902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5" name="椭圆 1114"/>
          <p:cNvSpPr/>
          <p:nvPr/>
        </p:nvSpPr>
        <p:spPr>
          <a:xfrm>
            <a:off x="1092460" y="2299689"/>
            <a:ext cx="1945913" cy="95826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699300" y="3919801"/>
            <a:ext cx="3224175" cy="18902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699300" y="1619856"/>
            <a:ext cx="3224175" cy="18902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5" name="矩形 4"/>
          <p:cNvSpPr/>
          <p:nvPr/>
        </p:nvSpPr>
        <p:spPr>
          <a:xfrm>
            <a:off x="1039351" y="3914410"/>
            <a:ext cx="3224175" cy="18902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8" name="Picture 4" descr="矢量卫星发射信号接收信号_高清PNG透明图片PIC设计素材_墨鱼部落格"/>
          <p:cNvPicPr>
            <a:picLocks noChangeAspect="1" noChangeArrowheads="1"/>
          </p:cNvPicPr>
          <p:nvPr/>
        </p:nvPicPr>
        <p:blipFill>
          <a:blip r:embed="rId1">
            <a:biLevel thresh="7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452" y="2714011"/>
            <a:ext cx="544665" cy="544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1008841" y="1451093"/>
            <a:ext cx="1499410" cy="3461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tx1"/>
                </a:solidFill>
              </a:rPr>
              <a:t>  </a:t>
            </a:r>
            <a:r>
              <a:rPr lang="en-US" altLang="zh-CN" sz="1400" dirty="0">
                <a:solidFill>
                  <a:schemeClr val="tx1"/>
                </a:solidFill>
              </a:rPr>
              <a:t>Data collection</a:t>
            </a:r>
            <a:r>
              <a:rPr lang="en-US" altLang="zh-CN" sz="1400" b="1" dirty="0"/>
              <a:t> </a:t>
            </a:r>
            <a:endParaRPr lang="zh-CN" altLang="en-US" sz="1400" b="1" dirty="0"/>
          </a:p>
        </p:txBody>
      </p:sp>
      <p:sp>
        <p:nvSpPr>
          <p:cNvPr id="6" name="椭圆 5"/>
          <p:cNvSpPr/>
          <p:nvPr/>
        </p:nvSpPr>
        <p:spPr>
          <a:xfrm>
            <a:off x="835749" y="1451093"/>
            <a:ext cx="346183" cy="34618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pic>
        <p:nvPicPr>
          <p:cNvPr id="10" name="图形 9" descr="便携式计算机 轮廓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5265" y="2329438"/>
            <a:ext cx="646863" cy="646863"/>
          </a:xfrm>
          <a:prstGeom prst="rect">
            <a:avLst/>
          </a:prstGeom>
        </p:spPr>
      </p:pic>
      <p:pic>
        <p:nvPicPr>
          <p:cNvPr id="14" name="图形 13" descr="四轴飞行器 轮廓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56997" y="1965972"/>
            <a:ext cx="507169" cy="507169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4699300" y="1460881"/>
            <a:ext cx="1967869" cy="3461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tx1"/>
                </a:solidFill>
              </a:rPr>
              <a:t>  </a:t>
            </a:r>
            <a:r>
              <a:rPr lang="en-US" altLang="zh-CN" sz="1400" dirty="0">
                <a:solidFill>
                  <a:schemeClr val="tx1"/>
                </a:solidFill>
              </a:rPr>
              <a:t>Data Pre-processing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4526208" y="1460881"/>
            <a:ext cx="346183" cy="34618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20" name="直接箭头连接符 19"/>
          <p:cNvCxnSpPr>
            <a:stCxn id="1121" idx="0"/>
          </p:cNvCxnSpPr>
          <p:nvPr/>
        </p:nvCxnSpPr>
        <p:spPr>
          <a:xfrm flipV="1">
            <a:off x="1550813" y="2509603"/>
            <a:ext cx="488282" cy="2804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endCxn id="1028" idx="0"/>
          </p:cNvCxnSpPr>
          <p:nvPr/>
        </p:nvCxnSpPr>
        <p:spPr>
          <a:xfrm>
            <a:off x="2043458" y="2473148"/>
            <a:ext cx="510327" cy="2408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1028" idx="3"/>
          </p:cNvCxnSpPr>
          <p:nvPr/>
        </p:nvCxnSpPr>
        <p:spPr>
          <a:xfrm flipV="1">
            <a:off x="2826117" y="2663247"/>
            <a:ext cx="501783" cy="3230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rcRect l="10761" t="9324" r="9236" b="10673"/>
          <a:stretch>
            <a:fillRect/>
          </a:stretch>
        </p:blipFill>
        <p:spPr>
          <a:xfrm>
            <a:off x="5772353" y="2766776"/>
            <a:ext cx="668501" cy="5013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rcRect l="7552" t="8499" r="8491" b="7544"/>
          <a:stretch>
            <a:fillRect/>
          </a:stretch>
        </p:blipFill>
        <p:spPr>
          <a:xfrm>
            <a:off x="5767936" y="2036904"/>
            <a:ext cx="668501" cy="501376"/>
          </a:xfrm>
          <a:prstGeom prst="rect">
            <a:avLst/>
          </a:prstGeom>
          <a:ln>
            <a:solidFill>
              <a:schemeClr val="accent4"/>
            </a:solidFill>
          </a:ln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9"/>
          <a:srcRect l="8503" t="8760" r="7802" b="7544"/>
          <a:stretch>
            <a:fillRect/>
          </a:stretch>
        </p:blipFill>
        <p:spPr>
          <a:xfrm>
            <a:off x="4812442" y="2424866"/>
            <a:ext cx="624061" cy="4680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左大括号 17"/>
          <p:cNvSpPr/>
          <p:nvPr/>
        </p:nvSpPr>
        <p:spPr>
          <a:xfrm>
            <a:off x="5442090" y="2291825"/>
            <a:ext cx="167505" cy="725639"/>
          </a:xfrm>
          <a:prstGeom prst="leftBrace">
            <a:avLst>
              <a:gd name="adj1" fmla="val 0"/>
              <a:gd name="adj2" fmla="val 480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>
            <a:stCxn id="18" idx="0"/>
            <a:endCxn id="12" idx="1"/>
          </p:cNvCxnSpPr>
          <p:nvPr/>
        </p:nvCxnSpPr>
        <p:spPr>
          <a:xfrm flipV="1">
            <a:off x="5609595" y="2287592"/>
            <a:ext cx="158341" cy="42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8" idx="2"/>
            <a:endCxn id="9" idx="1"/>
          </p:cNvCxnSpPr>
          <p:nvPr/>
        </p:nvCxnSpPr>
        <p:spPr>
          <a:xfrm>
            <a:off x="5609595" y="3017464"/>
            <a:ext cx="16275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5441348" y="2086785"/>
            <a:ext cx="3722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Real</a:t>
            </a:r>
            <a:endParaRPr lang="en-US" altLang="zh-CN" sz="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430360" y="2798460"/>
            <a:ext cx="4011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Imag</a:t>
            </a:r>
            <a:endParaRPr lang="en-US" altLang="zh-CN" sz="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43" name="直接箭头连接符 42"/>
          <p:cNvCxnSpPr>
            <a:endCxn id="17" idx="1"/>
          </p:cNvCxnSpPr>
          <p:nvPr/>
        </p:nvCxnSpPr>
        <p:spPr>
          <a:xfrm flipV="1">
            <a:off x="3991619" y="2658889"/>
            <a:ext cx="820823" cy="91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7032829" y="2399680"/>
            <a:ext cx="785009" cy="5272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Input data</a:t>
            </a:r>
            <a:endParaRPr lang="zh-CN" altLang="en-US" sz="105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9" name="右大括号 48"/>
          <p:cNvSpPr/>
          <p:nvPr/>
        </p:nvSpPr>
        <p:spPr>
          <a:xfrm>
            <a:off x="6449705" y="2293768"/>
            <a:ext cx="108519" cy="739055"/>
          </a:xfrm>
          <a:prstGeom prst="rightBrace">
            <a:avLst>
              <a:gd name="adj1" fmla="val 8333"/>
              <a:gd name="adj2" fmla="val 504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1" name="直接箭头连接符 50"/>
          <p:cNvCxnSpPr>
            <a:stCxn id="49" idx="1"/>
            <a:endCxn id="48" idx="1"/>
          </p:cNvCxnSpPr>
          <p:nvPr/>
        </p:nvCxnSpPr>
        <p:spPr>
          <a:xfrm flipV="1">
            <a:off x="6558224" y="2663295"/>
            <a:ext cx="474605" cy="29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6419499" y="2450201"/>
            <a:ext cx="7008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Concatenate</a:t>
            </a:r>
            <a:endParaRPr lang="zh-CN" altLang="en-US" sz="2400" dirty="0"/>
          </a:p>
        </p:txBody>
      </p:sp>
      <p:sp>
        <p:nvSpPr>
          <p:cNvPr id="60" name="文本框 59"/>
          <p:cNvSpPr txBox="1"/>
          <p:nvPr/>
        </p:nvSpPr>
        <p:spPr>
          <a:xfrm>
            <a:off x="1242362" y="3241099"/>
            <a:ext cx="7856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Transmitter</a:t>
            </a:r>
            <a:endParaRPr lang="en-US" altLang="zh-CN" sz="9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2165514" y="3241524"/>
            <a:ext cx="643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Receiver</a:t>
            </a:r>
            <a:endParaRPr lang="en-US" altLang="zh-CN" sz="1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24" name="文本框 1023"/>
          <p:cNvSpPr txBox="1"/>
          <p:nvPr/>
        </p:nvSpPr>
        <p:spPr>
          <a:xfrm>
            <a:off x="4897339" y="2928776"/>
            <a:ext cx="4545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CFR</a:t>
            </a:r>
            <a:endParaRPr lang="en-US" altLang="zh-CN" sz="1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26" name="文本框 1025"/>
          <p:cNvSpPr txBox="1"/>
          <p:nvPr/>
        </p:nvSpPr>
        <p:spPr>
          <a:xfrm>
            <a:off x="2796188" y="2608583"/>
            <a:ext cx="352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CSI</a:t>
            </a:r>
            <a:endParaRPr lang="en-US" altLang="zh-CN" sz="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27" name="文本框 1026"/>
          <p:cNvSpPr txBox="1"/>
          <p:nvPr/>
        </p:nvSpPr>
        <p:spPr>
          <a:xfrm>
            <a:off x="1467365" y="2478062"/>
            <a:ext cx="3436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CSI</a:t>
            </a:r>
            <a:endParaRPr lang="en-US" altLang="zh-CN" sz="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29" name="文本框 1028"/>
          <p:cNvSpPr txBox="1"/>
          <p:nvPr/>
        </p:nvSpPr>
        <p:spPr>
          <a:xfrm>
            <a:off x="2070154" y="2563378"/>
            <a:ext cx="3436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CSI</a:t>
            </a:r>
            <a:endParaRPr lang="en-US" altLang="zh-CN" sz="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52" name="矩形 1051"/>
          <p:cNvSpPr/>
          <p:nvPr/>
        </p:nvSpPr>
        <p:spPr>
          <a:xfrm>
            <a:off x="1008840" y="3764169"/>
            <a:ext cx="1802897" cy="3461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tx1"/>
                </a:solidFill>
              </a:rPr>
              <a:t>  </a:t>
            </a:r>
            <a:r>
              <a:rPr lang="en-US" altLang="zh-CN" sz="1400" dirty="0">
                <a:solidFill>
                  <a:schemeClr val="tx1"/>
                </a:solidFill>
              </a:rPr>
              <a:t>Model Training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053" name="椭圆 1052"/>
          <p:cNvSpPr/>
          <p:nvPr/>
        </p:nvSpPr>
        <p:spPr>
          <a:xfrm>
            <a:off x="835749" y="3764169"/>
            <a:ext cx="346183" cy="34618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54" name="矩形 1053"/>
          <p:cNvSpPr/>
          <p:nvPr/>
        </p:nvSpPr>
        <p:spPr>
          <a:xfrm>
            <a:off x="4686798" y="3750998"/>
            <a:ext cx="1825320" cy="3461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tx1"/>
                </a:solidFill>
              </a:rPr>
              <a:t>  </a:t>
            </a:r>
            <a:r>
              <a:rPr lang="en-US" altLang="zh-CN" sz="1400" dirty="0">
                <a:solidFill>
                  <a:schemeClr val="tx1"/>
                </a:solidFill>
              </a:rPr>
              <a:t>Model Evaluation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055" name="椭圆 1054"/>
          <p:cNvSpPr/>
          <p:nvPr/>
        </p:nvSpPr>
        <p:spPr>
          <a:xfrm>
            <a:off x="4513706" y="3750998"/>
            <a:ext cx="346183" cy="34618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4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1065" name="连接符: 肘形 1064"/>
          <p:cNvCxnSpPr>
            <a:stCxn id="48" idx="3"/>
            <a:endCxn id="1069" idx="1"/>
          </p:cNvCxnSpPr>
          <p:nvPr/>
        </p:nvCxnSpPr>
        <p:spPr>
          <a:xfrm flipH="1">
            <a:off x="1144988" y="2663295"/>
            <a:ext cx="6672850" cy="2216828"/>
          </a:xfrm>
          <a:prstGeom prst="bentConnector5">
            <a:avLst>
              <a:gd name="adj1" fmla="val -3426"/>
              <a:gd name="adj2" fmla="val 44064"/>
              <a:gd name="adj3" fmla="val 1057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9" name="左大括号 1068"/>
          <p:cNvSpPr/>
          <p:nvPr/>
        </p:nvSpPr>
        <p:spPr>
          <a:xfrm>
            <a:off x="1144988" y="4353339"/>
            <a:ext cx="266369" cy="105356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3" name="矩形 1072"/>
          <p:cNvSpPr/>
          <p:nvPr/>
        </p:nvSpPr>
        <p:spPr>
          <a:xfrm>
            <a:off x="1417060" y="4270583"/>
            <a:ext cx="167378" cy="16737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4" name="矩形 1073"/>
          <p:cNvSpPr/>
          <p:nvPr/>
        </p:nvSpPr>
        <p:spPr>
          <a:xfrm>
            <a:off x="1584438" y="4270311"/>
            <a:ext cx="167378" cy="167378"/>
          </a:xfrm>
          <a:prstGeom prst="rect">
            <a:avLst/>
          </a:prstGeom>
          <a:solidFill>
            <a:schemeClr val="accent4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5" name="矩形 1074"/>
          <p:cNvSpPr/>
          <p:nvPr/>
        </p:nvSpPr>
        <p:spPr>
          <a:xfrm>
            <a:off x="1751816" y="4270311"/>
            <a:ext cx="167378" cy="16737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6" name="矩形 1075"/>
          <p:cNvSpPr/>
          <p:nvPr/>
        </p:nvSpPr>
        <p:spPr>
          <a:xfrm>
            <a:off x="2086572" y="4270311"/>
            <a:ext cx="167378" cy="167378"/>
          </a:xfrm>
          <a:prstGeom prst="rect">
            <a:avLst/>
          </a:prstGeom>
          <a:solidFill>
            <a:schemeClr val="accent4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7" name="矩形 1076"/>
          <p:cNvSpPr/>
          <p:nvPr/>
        </p:nvSpPr>
        <p:spPr>
          <a:xfrm>
            <a:off x="2234179" y="4270583"/>
            <a:ext cx="167378" cy="16737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8" name="矩形 1077"/>
          <p:cNvSpPr/>
          <p:nvPr/>
        </p:nvSpPr>
        <p:spPr>
          <a:xfrm>
            <a:off x="2401557" y="4270311"/>
            <a:ext cx="167378" cy="167378"/>
          </a:xfrm>
          <a:prstGeom prst="rect">
            <a:avLst/>
          </a:prstGeom>
          <a:solidFill>
            <a:schemeClr val="accent4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0" name="矩形 1079"/>
          <p:cNvSpPr/>
          <p:nvPr/>
        </p:nvSpPr>
        <p:spPr>
          <a:xfrm>
            <a:off x="1922563" y="4270311"/>
            <a:ext cx="167378" cy="167378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81" name="矩形 1080"/>
          <p:cNvSpPr/>
          <p:nvPr/>
        </p:nvSpPr>
        <p:spPr>
          <a:xfrm>
            <a:off x="1411357" y="4479287"/>
            <a:ext cx="167378" cy="16737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2" name="矩形 1081"/>
          <p:cNvSpPr/>
          <p:nvPr/>
        </p:nvSpPr>
        <p:spPr>
          <a:xfrm>
            <a:off x="1578735" y="4479015"/>
            <a:ext cx="167378" cy="167378"/>
          </a:xfrm>
          <a:prstGeom prst="rect">
            <a:avLst/>
          </a:prstGeom>
          <a:solidFill>
            <a:schemeClr val="accent4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3" name="矩形 1082"/>
          <p:cNvSpPr/>
          <p:nvPr/>
        </p:nvSpPr>
        <p:spPr>
          <a:xfrm>
            <a:off x="1746113" y="4479015"/>
            <a:ext cx="167378" cy="16737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4" name="矩形 1083"/>
          <p:cNvSpPr/>
          <p:nvPr/>
        </p:nvSpPr>
        <p:spPr>
          <a:xfrm>
            <a:off x="2080869" y="4479015"/>
            <a:ext cx="167378" cy="167378"/>
          </a:xfrm>
          <a:prstGeom prst="rect">
            <a:avLst/>
          </a:prstGeom>
          <a:solidFill>
            <a:schemeClr val="accent4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5" name="矩形 1084"/>
          <p:cNvSpPr/>
          <p:nvPr/>
        </p:nvSpPr>
        <p:spPr>
          <a:xfrm>
            <a:off x="2228476" y="4479287"/>
            <a:ext cx="167378" cy="16737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6" name="矩形 1085"/>
          <p:cNvSpPr/>
          <p:nvPr/>
        </p:nvSpPr>
        <p:spPr>
          <a:xfrm>
            <a:off x="2395854" y="4479015"/>
            <a:ext cx="167378" cy="167378"/>
          </a:xfrm>
          <a:prstGeom prst="rect">
            <a:avLst/>
          </a:prstGeom>
          <a:solidFill>
            <a:schemeClr val="accent4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7" name="矩形 1086"/>
          <p:cNvSpPr/>
          <p:nvPr/>
        </p:nvSpPr>
        <p:spPr>
          <a:xfrm>
            <a:off x="1916860" y="4479015"/>
            <a:ext cx="167378" cy="167378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88" name="矩形 1087"/>
          <p:cNvSpPr/>
          <p:nvPr/>
        </p:nvSpPr>
        <p:spPr>
          <a:xfrm>
            <a:off x="1411357" y="4692444"/>
            <a:ext cx="167378" cy="16737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9" name="矩形 1088"/>
          <p:cNvSpPr/>
          <p:nvPr/>
        </p:nvSpPr>
        <p:spPr>
          <a:xfrm>
            <a:off x="1578735" y="4692172"/>
            <a:ext cx="167378" cy="167378"/>
          </a:xfrm>
          <a:prstGeom prst="rect">
            <a:avLst/>
          </a:prstGeom>
          <a:solidFill>
            <a:schemeClr val="accent4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0" name="矩形 1089"/>
          <p:cNvSpPr/>
          <p:nvPr/>
        </p:nvSpPr>
        <p:spPr>
          <a:xfrm>
            <a:off x="1746113" y="4692172"/>
            <a:ext cx="167378" cy="16737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91" name="矩形 1090"/>
          <p:cNvSpPr/>
          <p:nvPr/>
        </p:nvSpPr>
        <p:spPr>
          <a:xfrm>
            <a:off x="2080869" y="4692172"/>
            <a:ext cx="167378" cy="167378"/>
          </a:xfrm>
          <a:prstGeom prst="rect">
            <a:avLst/>
          </a:prstGeom>
          <a:solidFill>
            <a:schemeClr val="accent4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2" name="矩形 1091"/>
          <p:cNvSpPr/>
          <p:nvPr/>
        </p:nvSpPr>
        <p:spPr>
          <a:xfrm>
            <a:off x="2228476" y="4692444"/>
            <a:ext cx="167378" cy="16737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93" name="矩形 1092"/>
          <p:cNvSpPr/>
          <p:nvPr/>
        </p:nvSpPr>
        <p:spPr>
          <a:xfrm>
            <a:off x="2395854" y="4692172"/>
            <a:ext cx="167378" cy="167378"/>
          </a:xfrm>
          <a:prstGeom prst="rect">
            <a:avLst/>
          </a:prstGeom>
          <a:solidFill>
            <a:schemeClr val="accent4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4" name="矩形 1093"/>
          <p:cNvSpPr/>
          <p:nvPr/>
        </p:nvSpPr>
        <p:spPr>
          <a:xfrm>
            <a:off x="1916860" y="4692172"/>
            <a:ext cx="167378" cy="167378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95" name="矩形 1094"/>
          <p:cNvSpPr/>
          <p:nvPr/>
        </p:nvSpPr>
        <p:spPr>
          <a:xfrm>
            <a:off x="1411357" y="5309922"/>
            <a:ext cx="167378" cy="1673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96" name="矩形 1095"/>
          <p:cNvSpPr/>
          <p:nvPr/>
        </p:nvSpPr>
        <p:spPr>
          <a:xfrm>
            <a:off x="1578735" y="5309650"/>
            <a:ext cx="167378" cy="16737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7" name="矩形 1096"/>
          <p:cNvSpPr/>
          <p:nvPr/>
        </p:nvSpPr>
        <p:spPr>
          <a:xfrm>
            <a:off x="1746113" y="5309650"/>
            <a:ext cx="167378" cy="1673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98" name="矩形 1097"/>
          <p:cNvSpPr/>
          <p:nvPr/>
        </p:nvSpPr>
        <p:spPr>
          <a:xfrm>
            <a:off x="2080869" y="5309650"/>
            <a:ext cx="167378" cy="16737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9" name="矩形 1098"/>
          <p:cNvSpPr/>
          <p:nvPr/>
        </p:nvSpPr>
        <p:spPr>
          <a:xfrm>
            <a:off x="2228476" y="5309922"/>
            <a:ext cx="167378" cy="1673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0" name="矩形 1099"/>
          <p:cNvSpPr/>
          <p:nvPr/>
        </p:nvSpPr>
        <p:spPr>
          <a:xfrm>
            <a:off x="2395854" y="5309650"/>
            <a:ext cx="167378" cy="16737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1" name="矩形 1100"/>
          <p:cNvSpPr/>
          <p:nvPr/>
        </p:nvSpPr>
        <p:spPr>
          <a:xfrm>
            <a:off x="1916860" y="5309650"/>
            <a:ext cx="167378" cy="167378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02" name="文本框 1101"/>
          <p:cNvSpPr txBox="1"/>
          <p:nvPr/>
        </p:nvSpPr>
        <p:spPr>
          <a:xfrm>
            <a:off x="1671221" y="4859550"/>
            <a:ext cx="5907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Feature</a:t>
            </a:r>
            <a:endParaRPr lang="en-US" altLang="zh-CN" sz="9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03" name="文本框 1102"/>
          <p:cNvSpPr txBox="1"/>
          <p:nvPr/>
        </p:nvSpPr>
        <p:spPr>
          <a:xfrm>
            <a:off x="1718977" y="5525001"/>
            <a:ext cx="4952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Label</a:t>
            </a:r>
            <a:endParaRPr lang="en-US" altLang="zh-CN" sz="9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06" name="文本框 1105"/>
          <p:cNvSpPr txBox="1"/>
          <p:nvPr/>
        </p:nvSpPr>
        <p:spPr>
          <a:xfrm>
            <a:off x="3135965" y="5511805"/>
            <a:ext cx="7804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Fine tuning</a:t>
            </a:r>
            <a:endParaRPr lang="en-US" altLang="zh-CN" sz="9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07" name="矩形 1106"/>
          <p:cNvSpPr/>
          <p:nvPr/>
        </p:nvSpPr>
        <p:spPr>
          <a:xfrm>
            <a:off x="3144869" y="4270311"/>
            <a:ext cx="691012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CNN</a:t>
            </a:r>
            <a:endParaRPr lang="zh-CN" altLang="en-US" sz="11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08" name="矩形 1107"/>
          <p:cNvSpPr/>
          <p:nvPr/>
        </p:nvSpPr>
        <p:spPr>
          <a:xfrm>
            <a:off x="3144869" y="4608185"/>
            <a:ext cx="691012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LSTM</a:t>
            </a:r>
            <a:endParaRPr lang="zh-CN" altLang="en-US" sz="11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09" name="矩形 1108"/>
          <p:cNvSpPr/>
          <p:nvPr/>
        </p:nvSpPr>
        <p:spPr>
          <a:xfrm>
            <a:off x="3144869" y="5134409"/>
            <a:ext cx="691012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Informer</a:t>
            </a:r>
            <a:endParaRPr lang="zh-CN" altLang="en-US" sz="11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11" name="文本框 1110"/>
          <p:cNvSpPr txBox="1"/>
          <p:nvPr/>
        </p:nvSpPr>
        <p:spPr>
          <a:xfrm rot="5400000">
            <a:off x="3322461" y="4820472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cxnSp>
        <p:nvCxnSpPr>
          <p:cNvPr id="1113" name="直接箭头连接符 1112"/>
          <p:cNvCxnSpPr/>
          <p:nvPr/>
        </p:nvCxnSpPr>
        <p:spPr>
          <a:xfrm flipV="1">
            <a:off x="2646239" y="4864940"/>
            <a:ext cx="417099" cy="41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1" name="图形 1120" descr="信号塔 纯色填充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27001" y="2790092"/>
            <a:ext cx="447623" cy="447623"/>
          </a:xfrm>
          <a:prstGeom prst="rect">
            <a:avLst/>
          </a:prstGeom>
        </p:spPr>
      </p:pic>
      <p:sp>
        <p:nvSpPr>
          <p:cNvPr id="1126" name="矩形 1125"/>
          <p:cNvSpPr/>
          <p:nvPr/>
        </p:nvSpPr>
        <p:spPr>
          <a:xfrm>
            <a:off x="2311067" y="3212235"/>
            <a:ext cx="215354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7" name="矩形 1136"/>
          <p:cNvSpPr/>
          <p:nvPr/>
        </p:nvSpPr>
        <p:spPr>
          <a:xfrm>
            <a:off x="4895119" y="5344699"/>
            <a:ext cx="167378" cy="1673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8" name="矩形 1137"/>
          <p:cNvSpPr/>
          <p:nvPr/>
        </p:nvSpPr>
        <p:spPr>
          <a:xfrm>
            <a:off x="5062497" y="5344427"/>
            <a:ext cx="167378" cy="16737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9" name="矩形 1138"/>
          <p:cNvSpPr/>
          <p:nvPr/>
        </p:nvSpPr>
        <p:spPr>
          <a:xfrm>
            <a:off x="5229875" y="5344427"/>
            <a:ext cx="167378" cy="1673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0" name="矩形 1139"/>
          <p:cNvSpPr/>
          <p:nvPr/>
        </p:nvSpPr>
        <p:spPr>
          <a:xfrm>
            <a:off x="5564631" y="5344427"/>
            <a:ext cx="167378" cy="16737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1" name="矩形 1140"/>
          <p:cNvSpPr/>
          <p:nvPr/>
        </p:nvSpPr>
        <p:spPr>
          <a:xfrm>
            <a:off x="5712238" y="5344699"/>
            <a:ext cx="167378" cy="1673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2" name="矩形 1141"/>
          <p:cNvSpPr/>
          <p:nvPr/>
        </p:nvSpPr>
        <p:spPr>
          <a:xfrm>
            <a:off x="5879616" y="5344427"/>
            <a:ext cx="167378" cy="16737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3" name="矩形 1142"/>
          <p:cNvSpPr/>
          <p:nvPr/>
        </p:nvSpPr>
        <p:spPr>
          <a:xfrm>
            <a:off x="5400622" y="5344427"/>
            <a:ext cx="167378" cy="167378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44" name="文本框 1143"/>
          <p:cNvSpPr txBox="1"/>
          <p:nvPr/>
        </p:nvSpPr>
        <p:spPr>
          <a:xfrm>
            <a:off x="5202739" y="5559778"/>
            <a:ext cx="4952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Label</a:t>
            </a:r>
            <a:endParaRPr lang="en-US" altLang="zh-CN" sz="9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45" name="矩形 1144"/>
          <p:cNvSpPr/>
          <p:nvPr/>
        </p:nvSpPr>
        <p:spPr>
          <a:xfrm>
            <a:off x="4895119" y="4496771"/>
            <a:ext cx="167378" cy="16737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6" name="矩形 1145"/>
          <p:cNvSpPr/>
          <p:nvPr/>
        </p:nvSpPr>
        <p:spPr>
          <a:xfrm>
            <a:off x="5062497" y="4496499"/>
            <a:ext cx="167378" cy="16737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7" name="矩形 1146"/>
          <p:cNvSpPr/>
          <p:nvPr/>
        </p:nvSpPr>
        <p:spPr>
          <a:xfrm>
            <a:off x="5229875" y="4496499"/>
            <a:ext cx="167378" cy="16737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8" name="矩形 1147"/>
          <p:cNvSpPr/>
          <p:nvPr/>
        </p:nvSpPr>
        <p:spPr>
          <a:xfrm>
            <a:off x="5573108" y="4496499"/>
            <a:ext cx="167378" cy="16737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9" name="矩形 1148"/>
          <p:cNvSpPr/>
          <p:nvPr/>
        </p:nvSpPr>
        <p:spPr>
          <a:xfrm>
            <a:off x="5712238" y="4496771"/>
            <a:ext cx="167378" cy="16737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0" name="矩形 1149"/>
          <p:cNvSpPr/>
          <p:nvPr/>
        </p:nvSpPr>
        <p:spPr>
          <a:xfrm>
            <a:off x="5879616" y="4496499"/>
            <a:ext cx="167378" cy="16737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1" name="矩形 1150"/>
          <p:cNvSpPr/>
          <p:nvPr/>
        </p:nvSpPr>
        <p:spPr>
          <a:xfrm>
            <a:off x="5400622" y="4496499"/>
            <a:ext cx="167378" cy="167378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52" name="文本框 1151"/>
          <p:cNvSpPr txBox="1"/>
          <p:nvPr/>
        </p:nvSpPr>
        <p:spPr>
          <a:xfrm>
            <a:off x="5083650" y="4708742"/>
            <a:ext cx="7334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Prediction</a:t>
            </a:r>
            <a:endParaRPr lang="en-US" altLang="zh-CN" sz="9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155" name="连接符: 肘形 1154"/>
          <p:cNvCxnSpPr>
            <a:stCxn id="1100" idx="2"/>
            <a:endCxn id="1137" idx="1"/>
          </p:cNvCxnSpPr>
          <p:nvPr/>
        </p:nvCxnSpPr>
        <p:spPr>
          <a:xfrm rot="5400000" flipH="1" flipV="1">
            <a:off x="3663011" y="4244920"/>
            <a:ext cx="48640" cy="2415576"/>
          </a:xfrm>
          <a:prstGeom prst="bentConnector4">
            <a:avLst>
              <a:gd name="adj1" fmla="val -796361"/>
              <a:gd name="adj2" fmla="val 8248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6" name="文本框 1165"/>
          <p:cNvSpPr txBox="1"/>
          <p:nvPr/>
        </p:nvSpPr>
        <p:spPr>
          <a:xfrm>
            <a:off x="2938708" y="4025001"/>
            <a:ext cx="11310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Predictive Model</a:t>
            </a:r>
            <a:endParaRPr lang="en-US" altLang="zh-CN" sz="10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169" name="连接符: 肘形 1168"/>
          <p:cNvCxnSpPr>
            <a:endCxn id="1145" idx="1"/>
          </p:cNvCxnSpPr>
          <p:nvPr/>
        </p:nvCxnSpPr>
        <p:spPr>
          <a:xfrm flipV="1">
            <a:off x="3916412" y="4580460"/>
            <a:ext cx="978707" cy="420183"/>
          </a:xfrm>
          <a:prstGeom prst="bentConnector3">
            <a:avLst>
              <a:gd name="adj1" fmla="val 5648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6" name="直接箭头连接符 1175"/>
          <p:cNvCxnSpPr/>
          <p:nvPr/>
        </p:nvCxnSpPr>
        <p:spPr>
          <a:xfrm>
            <a:off x="6046994" y="5000643"/>
            <a:ext cx="55700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9" name="文本框 1178"/>
          <p:cNvSpPr txBox="1"/>
          <p:nvPr/>
        </p:nvSpPr>
        <p:spPr>
          <a:xfrm>
            <a:off x="6648266" y="4066115"/>
            <a:ext cx="10162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Evaluation Metrics</a:t>
            </a:r>
            <a:endParaRPr lang="en-US" altLang="zh-CN" sz="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80" name="文本框 1179"/>
          <p:cNvSpPr txBox="1"/>
          <p:nvPr/>
        </p:nvSpPr>
        <p:spPr>
          <a:xfrm>
            <a:off x="6009387" y="4804884"/>
            <a:ext cx="5856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Calculate</a:t>
            </a:r>
            <a:endParaRPr lang="en-US" altLang="zh-CN" sz="7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81" name="文本框 1180"/>
          <p:cNvSpPr txBox="1"/>
          <p:nvPr/>
        </p:nvSpPr>
        <p:spPr>
          <a:xfrm>
            <a:off x="3351339" y="2923293"/>
            <a:ext cx="6371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Memory</a:t>
            </a:r>
            <a:endParaRPr lang="en-US" altLang="zh-CN" sz="1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183" name="直接连接符 1182"/>
          <p:cNvCxnSpPr/>
          <p:nvPr/>
        </p:nvCxnSpPr>
        <p:spPr>
          <a:xfrm>
            <a:off x="6626660" y="4997423"/>
            <a:ext cx="1296815" cy="22905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5" name="矩形 1184"/>
          <p:cNvSpPr/>
          <p:nvPr/>
        </p:nvSpPr>
        <p:spPr>
          <a:xfrm>
            <a:off x="6834139" y="4318071"/>
            <a:ext cx="672940" cy="1218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MAE</a:t>
            </a:r>
            <a:endParaRPr lang="zh-CN" altLang="en-US" sz="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86" name="矩形 1185"/>
          <p:cNvSpPr/>
          <p:nvPr/>
        </p:nvSpPr>
        <p:spPr>
          <a:xfrm>
            <a:off x="6834139" y="4516506"/>
            <a:ext cx="672940" cy="1218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RMSE</a:t>
            </a:r>
            <a:endParaRPr lang="zh-CN" altLang="en-US" sz="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87" name="矩形 1186"/>
          <p:cNvSpPr/>
          <p:nvPr/>
        </p:nvSpPr>
        <p:spPr>
          <a:xfrm>
            <a:off x="6834139" y="4804014"/>
            <a:ext cx="672940" cy="1218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SGCS</a:t>
            </a:r>
            <a:endParaRPr lang="zh-CN" altLang="en-US" sz="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89" name="文本框 1188"/>
          <p:cNvSpPr txBox="1"/>
          <p:nvPr/>
        </p:nvSpPr>
        <p:spPr>
          <a:xfrm rot="5400000">
            <a:off x="7023152" y="4608850"/>
            <a:ext cx="2568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/>
              <a:t>…</a:t>
            </a:r>
            <a:endParaRPr lang="zh-CN" altLang="en-US" sz="800" dirty="0"/>
          </a:p>
        </p:txBody>
      </p:sp>
      <p:sp>
        <p:nvSpPr>
          <p:cNvPr id="1190" name="文本框 1189"/>
          <p:cNvSpPr txBox="1"/>
          <p:nvPr/>
        </p:nvSpPr>
        <p:spPr>
          <a:xfrm>
            <a:off x="6017053" y="4988778"/>
            <a:ext cx="5670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Visualize</a:t>
            </a:r>
            <a:endParaRPr lang="en-US" altLang="zh-CN" sz="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194" name="图片 1193"/>
          <p:cNvPicPr>
            <a:picLocks noChangeAspect="1"/>
          </p:cNvPicPr>
          <p:nvPr/>
        </p:nvPicPr>
        <p:blipFill>
          <a:blip r:embed="rId12"/>
          <a:srcRect l="9633" t="8971" r="6833" b="7495"/>
          <a:stretch>
            <a:fillRect/>
          </a:stretch>
        </p:blipFill>
        <p:spPr>
          <a:xfrm>
            <a:off x="6762243" y="5093725"/>
            <a:ext cx="835152" cy="626364"/>
          </a:xfrm>
          <a:prstGeom prst="rect">
            <a:avLst/>
          </a:prstGeom>
          <a:ln w="9525">
            <a:solidFill>
              <a:schemeClr val="tx1"/>
            </a:solidFill>
            <a:prstDash val="solid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TY4ZTQyMzY5YmJjOWIwOTQ1OWUyYTU1NTk0NTM4Mjk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</Words>
  <Application>WPS 演示</Application>
  <PresentationFormat>宽屏</PresentationFormat>
  <Paragraphs>84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7" baseType="lpstr">
      <vt:lpstr>Arial</vt:lpstr>
      <vt:lpstr>宋体</vt:lpstr>
      <vt:lpstr>Wingdings</vt:lpstr>
      <vt:lpstr>Times New Roman</vt:lpstr>
      <vt:lpstr>等线</vt:lpstr>
      <vt:lpstr>汉仪中等线KW</vt:lpstr>
      <vt:lpstr>微软雅黑</vt:lpstr>
      <vt:lpstr>汉仪旗黑</vt:lpstr>
      <vt:lpstr>宋体</vt:lpstr>
      <vt:lpstr>Arial Unicode MS</vt:lpstr>
      <vt:lpstr>等线 Light</vt:lpstr>
      <vt:lpstr>Calibri</vt:lpstr>
      <vt:lpstr>Helvetica Neue</vt:lpstr>
      <vt:lpstr>汉仪书宋二KW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伯涛 吴</dc:creator>
  <cp:lastModifiedBy>吴伯涛</cp:lastModifiedBy>
  <cp:revision>84</cp:revision>
  <dcterms:created xsi:type="dcterms:W3CDTF">2025-05-07T10:47:06Z</dcterms:created>
  <dcterms:modified xsi:type="dcterms:W3CDTF">2025-05-07T10:47:06Z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F2934E6EFC6330D7C68CD96726C763DB_42</vt:lpwstr>
  </property>
  <property fmtid="{D5CDD505-2E9C-101B-9397-08002B2CF9AE}" pid="3" name="KSOProductBuildVer">
    <vt:lpwstr>2052-6.12.1.8902</vt:lpwstr>
  </property>
</Properties>
</file>
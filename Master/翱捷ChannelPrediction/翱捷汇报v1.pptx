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256" r:id="rId3"/>
    <p:sldId id="257" r:id="rId4"/>
    <p:sldId id="260" r:id="rId5"/>
    <p:sldId id="281" r:id="rId6"/>
    <p:sldId id="298" r:id="rId7"/>
    <p:sldId id="282" r:id="rId8"/>
    <p:sldId id="302" r:id="rId9"/>
    <p:sldId id="301" r:id="rId10"/>
    <p:sldId id="300" r:id="rId11"/>
    <p:sldId id="299" r:id="rId12"/>
    <p:sldId id="285" r:id="rId13"/>
    <p:sldId id="287" r:id="rId14"/>
    <p:sldId id="288" r:id="rId15"/>
    <p:sldId id="305" r:id="rId16"/>
    <p:sldId id="306" r:id="rId17"/>
    <p:sldId id="307" r:id="rId18"/>
    <p:sldId id="308" r:id="rId19"/>
    <p:sldId id="309" r:id="rId20"/>
    <p:sldId id="310" r:id="rId21"/>
    <p:sldId id="311" r:id="rId22"/>
    <p:sldId id="312" r:id="rId23"/>
    <p:sldId id="313" r:id="rId24"/>
    <p:sldId id="314" r:id="rId25"/>
    <p:sldId id="315" r:id="rId26"/>
    <p:sldId id="280"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8" y="1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CBDD6-D08B-42E0-AA5C-05E27CA6D988}" type="datetimeFigureOut">
              <a:rPr lang="zh-CN" altLang="en-US" smtClean="0"/>
              <a:t>2024-09-02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C7902D-771C-4AB7-BA5B-112A849FF8D6}" type="slidenum">
              <a:rPr lang="zh-CN" altLang="en-US" smtClean="0"/>
              <a:t>‹#›</a:t>
            </a:fld>
            <a:endParaRPr lang="zh-CN" altLang="en-US"/>
          </a:p>
        </p:txBody>
      </p:sp>
    </p:spTree>
    <p:extLst>
      <p:ext uri="{BB962C8B-B14F-4D97-AF65-F5344CB8AC3E}">
        <p14:creationId xmlns:p14="http://schemas.microsoft.com/office/powerpoint/2010/main" val="612657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C7902D-771C-4AB7-BA5B-112A849FF8D6}" type="slidenum">
              <a:rPr lang="zh-CN" altLang="en-US" smtClean="0"/>
              <a:t>1</a:t>
            </a:fld>
            <a:endParaRPr lang="zh-CN" altLang="en-US"/>
          </a:p>
        </p:txBody>
      </p:sp>
    </p:spTree>
    <p:extLst>
      <p:ext uri="{BB962C8B-B14F-4D97-AF65-F5344CB8AC3E}">
        <p14:creationId xmlns:p14="http://schemas.microsoft.com/office/powerpoint/2010/main" val="251335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E2EF1F-5AB9-4920-AF5B-E1DBE170874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7279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585EE-DA44-F25C-2B01-456C117AEF2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36CDF27-CEE1-2800-57E2-7C9540653C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FD3B144-AC76-3834-5CC8-5F2485CFA50F}"/>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00E504A6-CBCC-A00D-8AA4-941FA8EF22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DA2014-3BF0-F378-E92B-EE7461D1BC08}"/>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3310408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23A30-5C33-10DD-E8F6-93A9E462B1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53ED51F-9609-C545-25DB-218DB211F62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A2E4C4-A789-872A-340F-79AF6F8F020D}"/>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C2738CBD-33A9-C92D-BDD0-29FEF548F4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8B5BBC-400C-DDCD-7B72-C719AA2D9E18}"/>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1891875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B09CB-6D98-A057-BB17-C43F7C40C3D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275DA1E-71C7-DB44-CE54-3895AADE77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1180AF7-AB19-5587-3C50-D30BA1480A3E}"/>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615515B0-9478-2796-4577-E45443C056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EF702E-8D30-8C78-3597-7BFE7F9C5BE2}"/>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3879459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8A344-DEDC-89C3-C319-B06A920246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BAF38DC-16ED-FCDC-5826-2732369210E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16966A-6792-0392-5154-EB90C496604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5C00298-DD74-B351-D429-CF0FEE0C3414}"/>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6" name="页脚占位符 5">
            <a:extLst>
              <a:ext uri="{FF2B5EF4-FFF2-40B4-BE49-F238E27FC236}">
                <a16:creationId xmlns:a16="http://schemas.microsoft.com/office/drawing/2014/main" id="{43BEE48D-6D89-B12A-367D-5A59797E38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FCE9521-155E-8808-A9ED-4A453981958C}"/>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1325057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38B6DD-FC57-C3D3-0070-EA8407619D1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6DDE2A2-137C-B7A0-8444-47473F42AA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DE079F5-BAA0-7B8F-3F91-3E7AC7EE0DA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889D85E-313C-FD77-5224-44F9F3A846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1873DD-2281-D307-2872-2FB5684DDCF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A7778DF-EFEF-9628-F9F2-B7C26314E05B}"/>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8" name="页脚占位符 7">
            <a:extLst>
              <a:ext uri="{FF2B5EF4-FFF2-40B4-BE49-F238E27FC236}">
                <a16:creationId xmlns:a16="http://schemas.microsoft.com/office/drawing/2014/main" id="{BE5280C7-97C3-CE8B-9FE2-77F81B3A2CD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826D000-BB68-A3FD-C81E-D3EE26461184}"/>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3917308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D351D9-C94F-1039-E983-27D339F26C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0728303-EB49-4CC9-B0EE-601934DDDD86}"/>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4" name="页脚占位符 3">
            <a:extLst>
              <a:ext uri="{FF2B5EF4-FFF2-40B4-BE49-F238E27FC236}">
                <a16:creationId xmlns:a16="http://schemas.microsoft.com/office/drawing/2014/main" id="{F7BD6FDB-FC5F-E571-C197-58F2591B8B9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AA3683F-A963-11F6-0ADB-8B70D69CAACB}"/>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3560227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CC7927-C8C5-A40A-42E3-8278BA3035D8}"/>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3" name="页脚占位符 2">
            <a:extLst>
              <a:ext uri="{FF2B5EF4-FFF2-40B4-BE49-F238E27FC236}">
                <a16:creationId xmlns:a16="http://schemas.microsoft.com/office/drawing/2014/main" id="{A78DCBC5-88C5-13FA-E182-A19F251546D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EE17E0-D066-D66B-1EE6-2E608CBA5FA7}"/>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137236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8A24B1-3C86-C9A5-5BEE-4A37049165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1C020-78ED-D7BC-D0D0-C50782428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D63F6ED-4A0F-B8F0-1B9C-606C31989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13328E-AF91-90DE-AB56-805B402AA0A5}"/>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6" name="页脚占位符 5">
            <a:extLst>
              <a:ext uri="{FF2B5EF4-FFF2-40B4-BE49-F238E27FC236}">
                <a16:creationId xmlns:a16="http://schemas.microsoft.com/office/drawing/2014/main" id="{92D22CD4-4685-ADF1-20D8-2A75538D657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EC0E6E-B643-6563-AC02-DEBF8C9318C5}"/>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1607122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6E092-0AC5-F027-4D8B-82DA27C025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11A3A39-E6AE-B62F-11D7-B507C00D5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879EC6-EE55-FC1F-8FF9-AACA584E88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88348C3-22BA-8C7D-EC68-8FB8B7A7E913}"/>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6" name="页脚占位符 5">
            <a:extLst>
              <a:ext uri="{FF2B5EF4-FFF2-40B4-BE49-F238E27FC236}">
                <a16:creationId xmlns:a16="http://schemas.microsoft.com/office/drawing/2014/main" id="{828523DE-CDE2-AD86-8828-D74FA654A18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14C777-492B-1A08-C9CD-271AD453C94C}"/>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2835694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A52B2-FDF4-86F2-F985-09EEEBB811B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2AC404-8547-FF08-A023-87F38433053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A76C08-761E-5AA7-8139-B32B35D5DD0B}"/>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0525B351-2BD0-773E-19B5-33AA7D6B6C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AED027-F944-1957-CE49-2E98D98D320B}"/>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756493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08D692B-3221-5B4A-C7CD-E326CBA11F3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F4A6907-7B82-4C5E-B7E8-D3FA099F98A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C1F31B-51F1-B2AF-A8AB-2F429B9C6CEE}"/>
              </a:ext>
            </a:extLst>
          </p:cNvPr>
          <p:cNvSpPr>
            <a:spLocks noGrp="1"/>
          </p:cNvSpPr>
          <p:nvPr>
            <p:ph type="dt" sz="half" idx="10"/>
          </p:nvPr>
        </p:nvSpPr>
        <p:spPr/>
        <p:txBody>
          <a:body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A87EFDB0-4FDB-3053-91F7-453A98C38B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A4E90B-D94B-CD4B-6309-D6D34509E2A0}"/>
              </a:ext>
            </a:extLst>
          </p:cNvPr>
          <p:cNvSpPr>
            <a:spLocks noGrp="1"/>
          </p:cNvSpPr>
          <p:nvPr>
            <p:ph type="sldNum" sz="quarter" idx="12"/>
          </p:nvPr>
        </p:nvSpPr>
        <p:spPr/>
        <p:txBody>
          <a:body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4117266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4" name="图片 3" descr="图片包含 建筑物&#10;&#10;自动生成的说明">
            <a:extLst>
              <a:ext uri="{FF2B5EF4-FFF2-40B4-BE49-F238E27FC236}">
                <a16:creationId xmlns:a16="http://schemas.microsoft.com/office/drawing/2014/main" id="{133A512F-7935-4AA0-B8EE-327DA99E149F}"/>
              </a:ext>
            </a:extLst>
          </p:cNvPr>
          <p:cNvPicPr>
            <a:picLocks noChangeAspect="1"/>
          </p:cNvPicPr>
          <p:nvPr userDrawn="1"/>
        </p:nvPicPr>
        <p:blipFill>
          <a:blip r:embed="rId2">
            <a:duotone>
              <a:prstClr val="black"/>
              <a:schemeClr val="accent1">
                <a:tint val="45000"/>
                <a:satMod val="400000"/>
              </a:schemeClr>
            </a:duotone>
            <a:alphaModFix amt="10000"/>
            <a:extLst>
              <a:ext uri="{28A0092B-C50C-407E-A947-70E740481C1C}">
                <a14:useLocalDpi xmlns:a14="http://schemas.microsoft.com/office/drawing/2010/main" val="0"/>
              </a:ext>
            </a:extLst>
          </a:blip>
          <a:stretch>
            <a:fillRect/>
          </a:stretch>
        </p:blipFill>
        <p:spPr>
          <a:xfrm>
            <a:off x="-50417" y="2900149"/>
            <a:ext cx="12292835" cy="3957851"/>
          </a:xfrm>
          <a:prstGeom prst="rect">
            <a:avLst/>
          </a:prstGeom>
        </p:spPr>
      </p:pic>
      <p:pic>
        <p:nvPicPr>
          <p:cNvPr id="5" name="图片 4">
            <a:extLst>
              <a:ext uri="{FF2B5EF4-FFF2-40B4-BE49-F238E27FC236}">
                <a16:creationId xmlns:a16="http://schemas.microsoft.com/office/drawing/2014/main" id="{C99AEC58-8F05-45A3-900B-EBD7DE4066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sp>
        <p:nvSpPr>
          <p:cNvPr id="6" name="标题 1">
            <a:extLst>
              <a:ext uri="{FF2B5EF4-FFF2-40B4-BE49-F238E27FC236}">
                <a16:creationId xmlns:a16="http://schemas.microsoft.com/office/drawing/2014/main" id="{8F4F430E-61A6-4C9B-AB28-E09461FCB9BD}"/>
              </a:ext>
            </a:extLst>
          </p:cNvPr>
          <p:cNvSpPr>
            <a:spLocks noGrp="1"/>
          </p:cNvSpPr>
          <p:nvPr>
            <p:ph type="title" hasCustomPrompt="1"/>
          </p:nvPr>
        </p:nvSpPr>
        <p:spPr>
          <a:xfrm>
            <a:off x="1069561" y="2016174"/>
            <a:ext cx="10052879" cy="1060855"/>
          </a:xfrm>
          <a:prstGeom prst="rect">
            <a:avLst/>
          </a:prstGeom>
        </p:spPr>
        <p:txBody>
          <a:bodyPr anchor="ctr">
            <a:noAutofit/>
          </a:bodyPr>
          <a:lstStyle>
            <a:lvl1pPr algn="ctr">
              <a:lnSpc>
                <a:spcPct val="100000"/>
              </a:lnSpc>
              <a:defRPr sz="5400" b="1">
                <a:solidFill>
                  <a:schemeClr val="tx2"/>
                </a:solidFill>
              </a:defRPr>
            </a:lvl1pPr>
          </a:lstStyle>
          <a:p>
            <a:r>
              <a:rPr lang="zh-CN" altLang="en-US" dirty="0"/>
              <a:t>单击此处编辑标题样式</a:t>
            </a:r>
          </a:p>
        </p:txBody>
      </p:sp>
      <p:sp>
        <p:nvSpPr>
          <p:cNvPr id="7" name="内容占位符 25">
            <a:extLst>
              <a:ext uri="{FF2B5EF4-FFF2-40B4-BE49-F238E27FC236}">
                <a16:creationId xmlns:a16="http://schemas.microsoft.com/office/drawing/2014/main" id="{17E19222-08F1-4F61-ACC2-6E16BB74363F}"/>
              </a:ext>
            </a:extLst>
          </p:cNvPr>
          <p:cNvSpPr>
            <a:spLocks noGrp="1"/>
          </p:cNvSpPr>
          <p:nvPr>
            <p:ph sz="quarter" idx="10"/>
          </p:nvPr>
        </p:nvSpPr>
        <p:spPr>
          <a:xfrm>
            <a:off x="4644345" y="5196924"/>
            <a:ext cx="2903311" cy="454025"/>
          </a:xfrm>
          <a:prstGeom prst="rect">
            <a:avLst/>
          </a:prstGeom>
        </p:spPr>
        <p:txBody>
          <a:bodyPr anchor="ctr"/>
          <a:lstStyle>
            <a:lvl1pPr marL="0" indent="0" algn="ctr">
              <a:lnSpc>
                <a:spcPct val="100000"/>
              </a:lnSpc>
              <a:buNone/>
              <a:defRPr sz="2000">
                <a:solidFill>
                  <a:schemeClr val="accent2"/>
                </a:solidFill>
              </a:defRPr>
            </a:lvl1pPr>
          </a:lstStyle>
          <a:p>
            <a:pPr lvl="0"/>
            <a:endParaRPr lang="zh-CN" altLang="en-US" dirty="0"/>
          </a:p>
        </p:txBody>
      </p:sp>
      <p:sp>
        <p:nvSpPr>
          <p:cNvPr id="8" name="文本占位符 31">
            <a:extLst>
              <a:ext uri="{FF2B5EF4-FFF2-40B4-BE49-F238E27FC236}">
                <a16:creationId xmlns:a16="http://schemas.microsoft.com/office/drawing/2014/main" id="{5B70BAF5-028D-41B3-B9C1-DA2C824DFAF8}"/>
              </a:ext>
            </a:extLst>
          </p:cNvPr>
          <p:cNvSpPr>
            <a:spLocks noGrp="1"/>
          </p:cNvSpPr>
          <p:nvPr>
            <p:ph type="body" sz="quarter" idx="11"/>
          </p:nvPr>
        </p:nvSpPr>
        <p:spPr>
          <a:xfrm>
            <a:off x="4034910" y="4407403"/>
            <a:ext cx="4122181" cy="598488"/>
          </a:xfrm>
          <a:prstGeom prst="rect">
            <a:avLst/>
          </a:prstGeom>
        </p:spPr>
        <p:txBody>
          <a:bodyPr anchor="ctr"/>
          <a:lstStyle>
            <a:lvl1pPr marL="0" indent="0" algn="ctr">
              <a:lnSpc>
                <a:spcPct val="100000"/>
              </a:lnSpc>
              <a:buNone/>
              <a:defRPr sz="2400" b="1">
                <a:solidFill>
                  <a:schemeClr val="accent2"/>
                </a:solidFill>
              </a:defRPr>
            </a:lvl1pPr>
          </a:lstStyle>
          <a:p>
            <a:pPr lvl="0"/>
            <a:endParaRPr lang="zh-CN" altLang="en-US" dirty="0"/>
          </a:p>
        </p:txBody>
      </p:sp>
      <p:pic>
        <p:nvPicPr>
          <p:cNvPr id="9" name="图片 8">
            <a:extLst>
              <a:ext uri="{FF2B5EF4-FFF2-40B4-BE49-F238E27FC236}">
                <a16:creationId xmlns:a16="http://schemas.microsoft.com/office/drawing/2014/main" id="{45630356-568D-4951-BB6A-685960A62A21}"/>
              </a:ext>
            </a:extLst>
          </p:cNvPr>
          <p:cNvPicPr>
            <a:picLocks noChangeAspect="1"/>
          </p:cNvPicPr>
          <p:nvPr userDrawn="1"/>
        </p:nvPicPr>
        <p:blipFill rotWithShape="1">
          <a:blip r:embed="rId4" cstate="print"/>
          <a:srcRect l="74359" r="1346"/>
          <a:stretch/>
        </p:blipFill>
        <p:spPr>
          <a:xfrm>
            <a:off x="8870172" y="356842"/>
            <a:ext cx="3002280" cy="411617"/>
          </a:xfrm>
          <a:prstGeom prst="rect">
            <a:avLst/>
          </a:prstGeom>
        </p:spPr>
      </p:pic>
      <p:grpSp>
        <p:nvGrpSpPr>
          <p:cNvPr id="10" name="组合 9">
            <a:extLst>
              <a:ext uri="{FF2B5EF4-FFF2-40B4-BE49-F238E27FC236}">
                <a16:creationId xmlns:a16="http://schemas.microsoft.com/office/drawing/2014/main" id="{59C00A82-D333-4159-817E-9C7380D16DA1}"/>
              </a:ext>
            </a:extLst>
          </p:cNvPr>
          <p:cNvGrpSpPr/>
          <p:nvPr userDrawn="1"/>
        </p:nvGrpSpPr>
        <p:grpSpPr>
          <a:xfrm>
            <a:off x="2328587" y="6244170"/>
            <a:ext cx="7554800" cy="406590"/>
            <a:chOff x="2328587" y="6073254"/>
            <a:chExt cx="7554800" cy="406590"/>
          </a:xfrm>
        </p:grpSpPr>
        <p:pic>
          <p:nvPicPr>
            <p:cNvPr id="11" name="图片 10">
              <a:extLst>
                <a:ext uri="{FF2B5EF4-FFF2-40B4-BE49-F238E27FC236}">
                  <a16:creationId xmlns:a16="http://schemas.microsoft.com/office/drawing/2014/main" id="{32F7CF06-2AC1-461F-B3BC-23393E41E731}"/>
                </a:ext>
              </a:extLst>
            </p:cNvPr>
            <p:cNvPicPr>
              <a:picLocks noChangeAspect="1"/>
            </p:cNvPicPr>
            <p:nvPr userDrawn="1"/>
          </p:nvPicPr>
          <p:blipFill rotWithShape="1">
            <a:blip r:embed="rId5">
              <a:alphaModFix amt="50000"/>
            </a:blip>
            <a:srcRect t="9831" b="36385"/>
            <a:stretch/>
          </p:blipFill>
          <p:spPr>
            <a:xfrm>
              <a:off x="3352562" y="6073254"/>
              <a:ext cx="5486876" cy="406590"/>
            </a:xfrm>
            <a:prstGeom prst="rect">
              <a:avLst/>
            </a:prstGeom>
          </p:spPr>
        </p:pic>
        <p:sp>
          <p:nvSpPr>
            <p:cNvPr id="12" name="椭圆 11">
              <a:extLst>
                <a:ext uri="{FF2B5EF4-FFF2-40B4-BE49-F238E27FC236}">
                  <a16:creationId xmlns:a16="http://schemas.microsoft.com/office/drawing/2014/main" id="{7D624B0D-C38A-4A21-9289-4625DBDC6329}"/>
                </a:ext>
              </a:extLst>
            </p:cNvPr>
            <p:cNvSpPr/>
            <p:nvPr userDrawn="1"/>
          </p:nvSpPr>
          <p:spPr>
            <a:xfrm>
              <a:off x="6051000" y="6259222"/>
              <a:ext cx="90000" cy="900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B71D46B1-BB63-4C6F-B0CE-67B40AD7F8B4}"/>
                </a:ext>
              </a:extLst>
            </p:cNvPr>
            <p:cNvCxnSpPr>
              <a:cxnSpLocks/>
            </p:cNvCxnSpPr>
            <p:nvPr userDrawn="1"/>
          </p:nvCxnSpPr>
          <p:spPr>
            <a:xfrm>
              <a:off x="2328587" y="6316922"/>
              <a:ext cx="900000" cy="0"/>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1B8C26D-FDFA-4BF4-A7CF-B529B7E2DB07}"/>
                </a:ext>
              </a:extLst>
            </p:cNvPr>
            <p:cNvCxnSpPr>
              <a:cxnSpLocks/>
            </p:cNvCxnSpPr>
            <p:nvPr userDrawn="1"/>
          </p:nvCxnSpPr>
          <p:spPr>
            <a:xfrm>
              <a:off x="8983387" y="6316922"/>
              <a:ext cx="900000" cy="0"/>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D98E603D-9283-4A63-8228-31FC2A45BE6E}"/>
              </a:ext>
            </a:extLst>
          </p:cNvPr>
          <p:cNvCxnSpPr/>
          <p:nvPr userDrawn="1"/>
        </p:nvCxnSpPr>
        <p:spPr>
          <a:xfrm>
            <a:off x="2046000" y="1712549"/>
            <a:ext cx="8100000"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1622BD5-1061-4C09-9A14-FD1D2E6AED4C}"/>
              </a:ext>
            </a:extLst>
          </p:cNvPr>
          <p:cNvCxnSpPr/>
          <p:nvPr userDrawn="1"/>
        </p:nvCxnSpPr>
        <p:spPr>
          <a:xfrm>
            <a:off x="2046000" y="3428810"/>
            <a:ext cx="8100000"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38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2">
    <p:spTree>
      <p:nvGrpSpPr>
        <p:cNvPr id="1" name=""/>
        <p:cNvGrpSpPr/>
        <p:nvPr/>
      </p:nvGrpSpPr>
      <p:grpSpPr>
        <a:xfrm>
          <a:off x="0" y="0"/>
          <a:ext cx="0" cy="0"/>
          <a:chOff x="0" y="0"/>
          <a:chExt cx="0" cy="0"/>
        </a:xfrm>
      </p:grpSpPr>
      <p:sp>
        <p:nvSpPr>
          <p:cNvPr id="7" name="图片占位符 6">
            <a:extLst>
              <a:ext uri="{FF2B5EF4-FFF2-40B4-BE49-F238E27FC236}">
                <a16:creationId xmlns:a16="http://schemas.microsoft.com/office/drawing/2014/main" id="{B2AC7F3C-7382-4A84-A86E-90EDDD72E86C}"/>
              </a:ext>
            </a:extLst>
          </p:cNvPr>
          <p:cNvSpPr>
            <a:spLocks noGrp="1"/>
          </p:cNvSpPr>
          <p:nvPr>
            <p:ph type="pic" sz="quarter" idx="10"/>
          </p:nvPr>
        </p:nvSpPr>
        <p:spPr>
          <a:xfrm>
            <a:off x="0" y="1"/>
            <a:ext cx="12192000" cy="3990974"/>
          </a:xfrm>
          <a:prstGeom prst="rect">
            <a:avLst/>
          </a:prstGeom>
        </p:spPr>
        <p:txBody>
          <a:bodyPr anchor="ctr"/>
          <a:lstStyle>
            <a:lvl1pPr marL="0" indent="0" algn="ctr">
              <a:buNone/>
              <a:defRPr/>
            </a:lvl1pPr>
          </a:lstStyle>
          <a:p>
            <a:endParaRPr lang="zh-CN" altLang="en-US" dirty="0"/>
          </a:p>
        </p:txBody>
      </p:sp>
      <p:sp>
        <p:nvSpPr>
          <p:cNvPr id="8" name="内容占位符 25">
            <a:extLst>
              <a:ext uri="{FF2B5EF4-FFF2-40B4-BE49-F238E27FC236}">
                <a16:creationId xmlns:a16="http://schemas.microsoft.com/office/drawing/2014/main" id="{3E65EB6F-1E6F-4BA7-9B1A-87394468F945}"/>
              </a:ext>
            </a:extLst>
          </p:cNvPr>
          <p:cNvSpPr>
            <a:spLocks noGrp="1"/>
          </p:cNvSpPr>
          <p:nvPr>
            <p:ph sz="quarter" idx="11"/>
          </p:nvPr>
        </p:nvSpPr>
        <p:spPr>
          <a:xfrm>
            <a:off x="888484" y="6091547"/>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9" name="文本占位符 31">
            <a:extLst>
              <a:ext uri="{FF2B5EF4-FFF2-40B4-BE49-F238E27FC236}">
                <a16:creationId xmlns:a16="http://schemas.microsoft.com/office/drawing/2014/main" id="{C851C1A8-2647-4778-B954-91350A393600}"/>
              </a:ext>
            </a:extLst>
          </p:cNvPr>
          <p:cNvSpPr>
            <a:spLocks noGrp="1"/>
          </p:cNvSpPr>
          <p:nvPr>
            <p:ph type="body" sz="quarter" idx="12"/>
          </p:nvPr>
        </p:nvSpPr>
        <p:spPr>
          <a:xfrm>
            <a:off x="888484" y="5337593"/>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10" name="标题 1">
            <a:extLst>
              <a:ext uri="{FF2B5EF4-FFF2-40B4-BE49-F238E27FC236}">
                <a16:creationId xmlns:a16="http://schemas.microsoft.com/office/drawing/2014/main" id="{A67E4451-E515-4CD6-9AC2-80FEED5A33AE}"/>
              </a:ext>
            </a:extLst>
          </p:cNvPr>
          <p:cNvSpPr>
            <a:spLocks noGrp="1"/>
          </p:cNvSpPr>
          <p:nvPr>
            <p:ph type="title" hasCustomPrompt="1"/>
          </p:nvPr>
        </p:nvSpPr>
        <p:spPr>
          <a:xfrm>
            <a:off x="888484" y="4121272"/>
            <a:ext cx="7798316" cy="1060855"/>
          </a:xfrm>
          <a:prstGeom prst="rect">
            <a:avLst/>
          </a:prstGeom>
          <a:noFill/>
          <a:effectLst/>
        </p:spPr>
        <p:txBody>
          <a:bodyPr anchor="ctr">
            <a:noAutofit/>
          </a:bodyPr>
          <a:lstStyle>
            <a:lvl1pPr algn="l">
              <a:lnSpc>
                <a:spcPct val="100000"/>
              </a:lnSpc>
              <a:defRPr sz="4800" b="0">
                <a:solidFill>
                  <a:schemeClr val="tx2"/>
                </a:solidFill>
                <a:effectLst/>
              </a:defRPr>
            </a:lvl1pPr>
          </a:lstStyle>
          <a:p>
            <a:r>
              <a:rPr lang="zh-CN" altLang="en-US" dirty="0"/>
              <a:t>单击此处编辑标题样式</a:t>
            </a:r>
          </a:p>
        </p:txBody>
      </p:sp>
      <p:pic>
        <p:nvPicPr>
          <p:cNvPr id="5" name="图片 4">
            <a:extLst>
              <a:ext uri="{FF2B5EF4-FFF2-40B4-BE49-F238E27FC236}">
                <a16:creationId xmlns:a16="http://schemas.microsoft.com/office/drawing/2014/main" id="{4EEB66B9-CD9A-4406-B82A-B301F0B2B0E1}"/>
              </a:ext>
            </a:extLst>
          </p:cNvPr>
          <p:cNvPicPr>
            <a:picLocks noChangeAspect="1"/>
          </p:cNvPicPr>
          <p:nvPr userDrawn="1"/>
        </p:nvPicPr>
        <p:blipFill rotWithShape="1">
          <a:blip r:embed="rId2" cstate="print"/>
          <a:srcRect l="74359" r="1346"/>
          <a:stretch/>
        </p:blipFill>
        <p:spPr>
          <a:xfrm>
            <a:off x="8870172" y="6192838"/>
            <a:ext cx="3002280" cy="411617"/>
          </a:xfrm>
          <a:prstGeom prst="rect">
            <a:avLst/>
          </a:prstGeom>
        </p:spPr>
      </p:pic>
      <p:cxnSp>
        <p:nvCxnSpPr>
          <p:cNvPr id="11" name="直接连接符 10">
            <a:extLst>
              <a:ext uri="{FF2B5EF4-FFF2-40B4-BE49-F238E27FC236}">
                <a16:creationId xmlns:a16="http://schemas.microsoft.com/office/drawing/2014/main" id="{BAED13B5-679B-4E26-81FE-6C898B17DE9C}"/>
              </a:ext>
            </a:extLst>
          </p:cNvPr>
          <p:cNvCxnSpPr>
            <a:cxnSpLocks/>
          </p:cNvCxnSpPr>
          <p:nvPr userDrawn="1"/>
        </p:nvCxnSpPr>
        <p:spPr>
          <a:xfrm>
            <a:off x="-80735" y="4049349"/>
            <a:ext cx="12272735" cy="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45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3">
    <p:spTree>
      <p:nvGrpSpPr>
        <p:cNvPr id="1" name=""/>
        <p:cNvGrpSpPr/>
        <p:nvPr/>
      </p:nvGrpSpPr>
      <p:grpSpPr>
        <a:xfrm>
          <a:off x="0" y="0"/>
          <a:ext cx="0" cy="0"/>
          <a:chOff x="0" y="0"/>
          <a:chExt cx="0" cy="0"/>
        </a:xfrm>
      </p:grpSpPr>
      <p:sp>
        <p:nvSpPr>
          <p:cNvPr id="3" name="图片占位符 6">
            <a:extLst>
              <a:ext uri="{FF2B5EF4-FFF2-40B4-BE49-F238E27FC236}">
                <a16:creationId xmlns:a16="http://schemas.microsoft.com/office/drawing/2014/main" id="{636D3F5B-DBA0-4275-91FF-D14D16748B87}"/>
              </a:ext>
            </a:extLst>
          </p:cNvPr>
          <p:cNvSpPr>
            <a:spLocks noGrp="1"/>
          </p:cNvSpPr>
          <p:nvPr>
            <p:ph type="pic" sz="quarter" idx="10"/>
          </p:nvPr>
        </p:nvSpPr>
        <p:spPr>
          <a:xfrm>
            <a:off x="6388100" y="0"/>
            <a:ext cx="5803900" cy="6858000"/>
          </a:xfrm>
          <a:prstGeom prst="rect">
            <a:avLst/>
          </a:prstGeom>
        </p:spPr>
        <p:txBody>
          <a:bodyPr anchor="ctr"/>
          <a:lstStyle>
            <a:lvl1pPr marL="0" indent="0" algn="ctr">
              <a:buNone/>
              <a:defRPr/>
            </a:lvl1pPr>
          </a:lstStyle>
          <a:p>
            <a:endParaRPr lang="zh-CN" altLang="en-US" dirty="0"/>
          </a:p>
        </p:txBody>
      </p:sp>
      <p:sp>
        <p:nvSpPr>
          <p:cNvPr id="4" name="内容占位符 25">
            <a:extLst>
              <a:ext uri="{FF2B5EF4-FFF2-40B4-BE49-F238E27FC236}">
                <a16:creationId xmlns:a16="http://schemas.microsoft.com/office/drawing/2014/main" id="{EAF966A0-3FED-4405-A46B-41C9C95D779B}"/>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5" name="文本占位符 31">
            <a:extLst>
              <a:ext uri="{FF2B5EF4-FFF2-40B4-BE49-F238E27FC236}">
                <a16:creationId xmlns:a16="http://schemas.microsoft.com/office/drawing/2014/main" id="{5CABA719-CA98-4DC1-BD84-0C9150108BD3}"/>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6" name="标题 1">
            <a:extLst>
              <a:ext uri="{FF2B5EF4-FFF2-40B4-BE49-F238E27FC236}">
                <a16:creationId xmlns:a16="http://schemas.microsoft.com/office/drawing/2014/main" id="{6A416B96-18E1-4343-823D-E9C854070CD6}"/>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tx2"/>
                </a:solidFill>
                <a:effectLst/>
              </a:defRPr>
            </a:lvl1pPr>
          </a:lstStyle>
          <a:p>
            <a:r>
              <a:rPr lang="zh-CN" altLang="en-US" dirty="0"/>
              <a:t>单击此处编辑标题样式</a:t>
            </a:r>
          </a:p>
        </p:txBody>
      </p:sp>
      <p:pic>
        <p:nvPicPr>
          <p:cNvPr id="7" name="图片 6">
            <a:extLst>
              <a:ext uri="{FF2B5EF4-FFF2-40B4-BE49-F238E27FC236}">
                <a16:creationId xmlns:a16="http://schemas.microsoft.com/office/drawing/2014/main" id="{15F3585C-5A73-4AF1-B357-3035864895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8" name="图片 7">
            <a:extLst>
              <a:ext uri="{FF2B5EF4-FFF2-40B4-BE49-F238E27FC236}">
                <a16:creationId xmlns:a16="http://schemas.microsoft.com/office/drawing/2014/main" id="{3069D545-3D6A-42A2-B6DB-9D6B8FC38E13}"/>
              </a:ext>
            </a:extLst>
          </p:cNvPr>
          <p:cNvPicPr>
            <a:picLocks noChangeAspect="1"/>
          </p:cNvPicPr>
          <p:nvPr userDrawn="1"/>
        </p:nvPicPr>
        <p:blipFill rotWithShape="1">
          <a:blip r:embed="rId3" cstate="print"/>
          <a:srcRect l="74359" r="1346"/>
          <a:stretch/>
        </p:blipFill>
        <p:spPr>
          <a:xfrm>
            <a:off x="310878" y="6192838"/>
            <a:ext cx="3002280" cy="411617"/>
          </a:xfrm>
          <a:prstGeom prst="rect">
            <a:avLst/>
          </a:prstGeom>
        </p:spPr>
      </p:pic>
      <p:cxnSp>
        <p:nvCxnSpPr>
          <p:cNvPr id="9" name="直接连接符 8">
            <a:extLst>
              <a:ext uri="{FF2B5EF4-FFF2-40B4-BE49-F238E27FC236}">
                <a16:creationId xmlns:a16="http://schemas.microsoft.com/office/drawing/2014/main" id="{B683CA0A-3CEC-4CF5-883E-6E1BED8E599C}"/>
              </a:ext>
            </a:extLst>
          </p:cNvPr>
          <p:cNvCxnSpPr>
            <a:cxnSpLocks/>
          </p:cNvCxnSpPr>
          <p:nvPr userDrawn="1"/>
        </p:nvCxnSpPr>
        <p:spPr>
          <a:xfrm>
            <a:off x="6261100" y="0"/>
            <a:ext cx="0" cy="68580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86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3-dark">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D36BD71-E314-4A66-99B1-E39EA1F94132}"/>
              </a:ext>
            </a:extLst>
          </p:cNvPr>
          <p:cNvSpPr/>
          <p:nvPr userDrawn="1"/>
        </p:nvSpPr>
        <p:spPr>
          <a:xfrm>
            <a:off x="-19050" y="0"/>
            <a:ext cx="6115050" cy="6858000"/>
          </a:xfrm>
          <a:prstGeom prst="rect">
            <a:avLst/>
          </a:prstGeom>
          <a:solidFill>
            <a:schemeClr val="tx2"/>
          </a:solidFill>
          <a:ln w="12700" cap="flat" cmpd="sng" algn="ctr">
            <a:noFill/>
            <a:prstDash val="solid"/>
            <a:miter lim="800000"/>
          </a:ln>
          <a:effectLst/>
        </p:spPr>
        <p:txBody>
          <a:bodyPr rtlCol="0" anchor="ctr"/>
          <a:lstStyle/>
          <a:p>
            <a:pPr algn="just"/>
            <a:endParaRPr lang="zh-CN" altLang="en-US" dirty="0"/>
          </a:p>
        </p:txBody>
      </p:sp>
      <p:sp>
        <p:nvSpPr>
          <p:cNvPr id="3" name="图片占位符 6">
            <a:extLst>
              <a:ext uri="{FF2B5EF4-FFF2-40B4-BE49-F238E27FC236}">
                <a16:creationId xmlns:a16="http://schemas.microsoft.com/office/drawing/2014/main" id="{636D3F5B-DBA0-4275-91FF-D14D16748B87}"/>
              </a:ext>
            </a:extLst>
          </p:cNvPr>
          <p:cNvSpPr>
            <a:spLocks noGrp="1"/>
          </p:cNvSpPr>
          <p:nvPr>
            <p:ph type="pic" sz="quarter" idx="10"/>
          </p:nvPr>
        </p:nvSpPr>
        <p:spPr>
          <a:xfrm>
            <a:off x="6388100" y="0"/>
            <a:ext cx="5803900" cy="6858000"/>
          </a:xfrm>
          <a:prstGeom prst="rect">
            <a:avLst/>
          </a:prstGeom>
        </p:spPr>
        <p:txBody>
          <a:bodyPr anchor="ctr"/>
          <a:lstStyle>
            <a:lvl1pPr marL="0" indent="0" algn="ctr">
              <a:buNone/>
              <a:defRPr/>
            </a:lvl1pPr>
          </a:lstStyle>
          <a:p>
            <a:endParaRPr lang="zh-CN" altLang="en-US" dirty="0"/>
          </a:p>
        </p:txBody>
      </p:sp>
      <p:sp>
        <p:nvSpPr>
          <p:cNvPr id="4" name="内容占位符 25">
            <a:extLst>
              <a:ext uri="{FF2B5EF4-FFF2-40B4-BE49-F238E27FC236}">
                <a16:creationId xmlns:a16="http://schemas.microsoft.com/office/drawing/2014/main" id="{EAF966A0-3FED-4405-A46B-41C9C95D779B}"/>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bg1"/>
                </a:solidFill>
              </a:defRPr>
            </a:lvl1pPr>
          </a:lstStyle>
          <a:p>
            <a:pPr lvl="0"/>
            <a:endParaRPr lang="zh-CN" altLang="en-US" dirty="0"/>
          </a:p>
        </p:txBody>
      </p:sp>
      <p:sp>
        <p:nvSpPr>
          <p:cNvPr id="5" name="文本占位符 31">
            <a:extLst>
              <a:ext uri="{FF2B5EF4-FFF2-40B4-BE49-F238E27FC236}">
                <a16:creationId xmlns:a16="http://schemas.microsoft.com/office/drawing/2014/main" id="{5CABA719-CA98-4DC1-BD84-0C9150108BD3}"/>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bg1"/>
                </a:solidFill>
              </a:defRPr>
            </a:lvl1pPr>
          </a:lstStyle>
          <a:p>
            <a:pPr lvl="0"/>
            <a:endParaRPr lang="zh-CN" altLang="en-US" dirty="0"/>
          </a:p>
        </p:txBody>
      </p:sp>
      <p:sp>
        <p:nvSpPr>
          <p:cNvPr id="6" name="标题 1">
            <a:extLst>
              <a:ext uri="{FF2B5EF4-FFF2-40B4-BE49-F238E27FC236}">
                <a16:creationId xmlns:a16="http://schemas.microsoft.com/office/drawing/2014/main" id="{6A416B96-18E1-4343-823D-E9C854070CD6}"/>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bg1"/>
                </a:solidFill>
                <a:effectLst/>
              </a:defRPr>
            </a:lvl1pPr>
          </a:lstStyle>
          <a:p>
            <a:r>
              <a:rPr lang="zh-CN" altLang="en-US" dirty="0"/>
              <a:t>单击此处编辑标题样式</a:t>
            </a:r>
          </a:p>
        </p:txBody>
      </p:sp>
      <p:pic>
        <p:nvPicPr>
          <p:cNvPr id="7" name="图片 6">
            <a:extLst>
              <a:ext uri="{FF2B5EF4-FFF2-40B4-BE49-F238E27FC236}">
                <a16:creationId xmlns:a16="http://schemas.microsoft.com/office/drawing/2014/main" id="{15F3585C-5A73-4AF1-B357-30358648957E}"/>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8" name="图片 7">
            <a:extLst>
              <a:ext uri="{FF2B5EF4-FFF2-40B4-BE49-F238E27FC236}">
                <a16:creationId xmlns:a16="http://schemas.microsoft.com/office/drawing/2014/main" id="{3069D545-3D6A-42A2-B6DB-9D6B8FC38E13}"/>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Lst>
          </a:blip>
          <a:srcRect l="74359" r="1346"/>
          <a:stretch/>
        </p:blipFill>
        <p:spPr>
          <a:xfrm>
            <a:off x="310878" y="6192838"/>
            <a:ext cx="3002280" cy="411617"/>
          </a:xfrm>
          <a:prstGeom prst="rect">
            <a:avLst/>
          </a:prstGeom>
        </p:spPr>
      </p:pic>
      <p:cxnSp>
        <p:nvCxnSpPr>
          <p:cNvPr id="9" name="直接连接符 8">
            <a:extLst>
              <a:ext uri="{FF2B5EF4-FFF2-40B4-BE49-F238E27FC236}">
                <a16:creationId xmlns:a16="http://schemas.microsoft.com/office/drawing/2014/main" id="{B683CA0A-3CEC-4CF5-883E-6E1BED8E599C}"/>
              </a:ext>
            </a:extLst>
          </p:cNvPr>
          <p:cNvCxnSpPr>
            <a:cxnSpLocks/>
          </p:cNvCxnSpPr>
          <p:nvPr userDrawn="1"/>
        </p:nvCxnSpPr>
        <p:spPr>
          <a:xfrm>
            <a:off x="6261100" y="0"/>
            <a:ext cx="0" cy="68580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56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封面4">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98E190D1-AFAC-4AD9-B92E-58B87CBA2BBB}"/>
              </a:ext>
            </a:extLst>
          </p:cNvPr>
          <p:cNvSpPr/>
          <p:nvPr userDrawn="1"/>
        </p:nvSpPr>
        <p:spPr>
          <a:xfrm>
            <a:off x="10515600" y="-25400"/>
            <a:ext cx="1676400" cy="6883400"/>
          </a:xfrm>
          <a:prstGeom prst="triangle">
            <a:avLst>
              <a:gd name="adj" fmla="val 99435"/>
            </a:avLst>
          </a:prstGeom>
          <a:gradFill>
            <a:gsLst>
              <a:gs pos="100000">
                <a:schemeClr val="accent4"/>
              </a:gs>
              <a:gs pos="62000">
                <a:schemeClr val="tx2"/>
              </a:gs>
            </a:gsLst>
            <a:lin ang="2700000" scaled="0"/>
          </a:gradFill>
          <a:ln w="12700" cap="flat" cmpd="sng" algn="ctr">
            <a:solidFill>
              <a:schemeClr val="bg1"/>
            </a:solidFill>
            <a:prstDash val="solid"/>
            <a:miter lim="800000"/>
          </a:ln>
          <a:effectLst/>
        </p:spPr>
        <p:txBody>
          <a:bodyPr rtlCol="0" anchor="ctr"/>
          <a:lstStyle/>
          <a:p>
            <a:pPr lvl="0" algn="just"/>
            <a:endParaRPr lang="zh-CN" altLang="en-US" dirty="0"/>
          </a:p>
        </p:txBody>
      </p:sp>
      <p:sp>
        <p:nvSpPr>
          <p:cNvPr id="5" name="内容占位符 25">
            <a:extLst>
              <a:ext uri="{FF2B5EF4-FFF2-40B4-BE49-F238E27FC236}">
                <a16:creationId xmlns:a16="http://schemas.microsoft.com/office/drawing/2014/main" id="{96682C4B-F3CB-4913-99B2-00AFB7251FAA}"/>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6" name="文本占位符 31">
            <a:extLst>
              <a:ext uri="{FF2B5EF4-FFF2-40B4-BE49-F238E27FC236}">
                <a16:creationId xmlns:a16="http://schemas.microsoft.com/office/drawing/2014/main" id="{B5A17264-04D1-4C02-832A-A1DA9484B078}"/>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7" name="标题 1">
            <a:extLst>
              <a:ext uri="{FF2B5EF4-FFF2-40B4-BE49-F238E27FC236}">
                <a16:creationId xmlns:a16="http://schemas.microsoft.com/office/drawing/2014/main" id="{26FA3F28-F930-4C1E-80F2-90C73C8F3063}"/>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tx2"/>
                </a:solidFill>
                <a:effectLst/>
              </a:defRPr>
            </a:lvl1pPr>
          </a:lstStyle>
          <a:p>
            <a:r>
              <a:rPr lang="zh-CN" altLang="en-US" dirty="0"/>
              <a:t>单击此处编辑标题样式</a:t>
            </a:r>
          </a:p>
        </p:txBody>
      </p:sp>
      <p:pic>
        <p:nvPicPr>
          <p:cNvPr id="8" name="图片 7">
            <a:extLst>
              <a:ext uri="{FF2B5EF4-FFF2-40B4-BE49-F238E27FC236}">
                <a16:creationId xmlns:a16="http://schemas.microsoft.com/office/drawing/2014/main" id="{2286D724-0E80-4FBA-8317-A8CE5EF380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9" name="图片 8">
            <a:extLst>
              <a:ext uri="{FF2B5EF4-FFF2-40B4-BE49-F238E27FC236}">
                <a16:creationId xmlns:a16="http://schemas.microsoft.com/office/drawing/2014/main" id="{F53A0ABC-646A-4367-9E96-FFDDE79E6B5F}"/>
              </a:ext>
            </a:extLst>
          </p:cNvPr>
          <p:cNvPicPr>
            <a:picLocks noChangeAspect="1"/>
          </p:cNvPicPr>
          <p:nvPr userDrawn="1"/>
        </p:nvPicPr>
        <p:blipFill rotWithShape="1">
          <a:blip r:embed="rId3" cstate="print"/>
          <a:srcRect l="74359" r="1346"/>
          <a:stretch/>
        </p:blipFill>
        <p:spPr>
          <a:xfrm>
            <a:off x="310878" y="6192838"/>
            <a:ext cx="3002280" cy="411617"/>
          </a:xfrm>
          <a:prstGeom prst="rect">
            <a:avLst/>
          </a:prstGeom>
        </p:spPr>
      </p:pic>
      <p:sp>
        <p:nvSpPr>
          <p:cNvPr id="10" name="图片占位符 6">
            <a:extLst>
              <a:ext uri="{FF2B5EF4-FFF2-40B4-BE49-F238E27FC236}">
                <a16:creationId xmlns:a16="http://schemas.microsoft.com/office/drawing/2014/main" id="{1E4B9AD9-F42C-42B1-BF19-2BD63A06C277}"/>
              </a:ext>
            </a:extLst>
          </p:cNvPr>
          <p:cNvSpPr>
            <a:spLocks noGrp="1"/>
          </p:cNvSpPr>
          <p:nvPr>
            <p:ph type="pic" sz="quarter" idx="10"/>
          </p:nvPr>
        </p:nvSpPr>
        <p:spPr>
          <a:xfrm>
            <a:off x="5859400" y="0"/>
            <a:ext cx="6146801" cy="6858000"/>
          </a:xfrm>
          <a:prstGeom prst="parallelogram">
            <a:avLst>
              <a:gd name="adj" fmla="val 28125"/>
            </a:avLst>
          </a:prstGeom>
          <a:effectLst>
            <a:outerShdw blurRad="50800" dist="38100" dir="2700000" algn="tl" rotWithShape="0">
              <a:prstClr val="black">
                <a:alpha val="40000"/>
              </a:prstClr>
            </a:outerShdw>
          </a:effectLst>
        </p:spPr>
        <p:txBody>
          <a:bodyPr anchor="ctr"/>
          <a:lstStyle>
            <a:lvl1pPr marL="0" indent="0" algn="ctr">
              <a:buNone/>
              <a:defRPr/>
            </a:lvl1pPr>
          </a:lstStyle>
          <a:p>
            <a:endParaRPr lang="zh-CN" altLang="en-US" dirty="0"/>
          </a:p>
        </p:txBody>
      </p:sp>
      <p:cxnSp>
        <p:nvCxnSpPr>
          <p:cNvPr id="11" name="直接连接符 10">
            <a:extLst>
              <a:ext uri="{FF2B5EF4-FFF2-40B4-BE49-F238E27FC236}">
                <a16:creationId xmlns:a16="http://schemas.microsoft.com/office/drawing/2014/main" id="{8763BFF2-1BD6-4E69-9E37-FE80DFEC27A8}"/>
              </a:ext>
            </a:extLst>
          </p:cNvPr>
          <p:cNvCxnSpPr>
            <a:cxnSpLocks/>
          </p:cNvCxnSpPr>
          <p:nvPr userDrawn="1"/>
        </p:nvCxnSpPr>
        <p:spPr>
          <a:xfrm flipH="1">
            <a:off x="5710548" y="-25400"/>
            <a:ext cx="1737055" cy="68834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505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5">
    <p:spTree>
      <p:nvGrpSpPr>
        <p:cNvPr id="1" name=""/>
        <p:cNvGrpSpPr/>
        <p:nvPr/>
      </p:nvGrpSpPr>
      <p:grpSpPr>
        <a:xfrm>
          <a:off x="0" y="0"/>
          <a:ext cx="0" cy="0"/>
          <a:chOff x="0" y="0"/>
          <a:chExt cx="0" cy="0"/>
        </a:xfrm>
      </p:grpSpPr>
      <p:pic>
        <p:nvPicPr>
          <p:cNvPr id="6" name="图片 5" descr="图片包含 建筑物&#10;&#10;自动生成的说明">
            <a:extLst>
              <a:ext uri="{FF2B5EF4-FFF2-40B4-BE49-F238E27FC236}">
                <a16:creationId xmlns:a16="http://schemas.microsoft.com/office/drawing/2014/main" id="{CA3B2481-2E39-4F26-AD96-B5923670EB5F}"/>
              </a:ext>
            </a:extLst>
          </p:cNvPr>
          <p:cNvPicPr>
            <a:picLocks noChangeAspect="1"/>
          </p:cNvPicPr>
          <p:nvPr userDrawn="1"/>
        </p:nvPicPr>
        <p:blipFill>
          <a:blip r:embed="rId2" cstate="print">
            <a:duotone>
              <a:prstClr val="black"/>
              <a:schemeClr val="accent1">
                <a:tint val="45000"/>
                <a:satMod val="400000"/>
              </a:schemeClr>
            </a:duotone>
            <a:alphaModFix amt="10000"/>
            <a:extLst>
              <a:ext uri="{28A0092B-C50C-407E-A947-70E740481C1C}">
                <a14:useLocalDpi xmlns:a14="http://schemas.microsoft.com/office/drawing/2010/main" val="0"/>
              </a:ext>
            </a:extLst>
          </a:blip>
          <a:stretch>
            <a:fillRect/>
          </a:stretch>
        </p:blipFill>
        <p:spPr>
          <a:xfrm>
            <a:off x="4144710" y="2394097"/>
            <a:ext cx="8047290" cy="2590938"/>
          </a:xfrm>
          <a:prstGeom prst="rect">
            <a:avLst/>
          </a:prstGeom>
        </p:spPr>
      </p:pic>
      <p:sp>
        <p:nvSpPr>
          <p:cNvPr id="5" name="标题 1">
            <a:extLst>
              <a:ext uri="{FF2B5EF4-FFF2-40B4-BE49-F238E27FC236}">
                <a16:creationId xmlns:a16="http://schemas.microsoft.com/office/drawing/2014/main" id="{C227DB4D-9A52-41BB-8743-E8038C4138FC}"/>
              </a:ext>
            </a:extLst>
          </p:cNvPr>
          <p:cNvSpPr>
            <a:spLocks noGrp="1"/>
          </p:cNvSpPr>
          <p:nvPr>
            <p:ph type="title" hasCustomPrompt="1"/>
          </p:nvPr>
        </p:nvSpPr>
        <p:spPr>
          <a:xfrm>
            <a:off x="5460763" y="2407580"/>
            <a:ext cx="6426437" cy="1060855"/>
          </a:xfrm>
          <a:prstGeom prst="rect">
            <a:avLst/>
          </a:prstGeom>
          <a:noFill/>
          <a:effectLst/>
        </p:spPr>
        <p:txBody>
          <a:bodyPr anchor="ctr">
            <a:noAutofit/>
          </a:bodyPr>
          <a:lstStyle>
            <a:lvl1pPr algn="ctr">
              <a:defRPr sz="4000" b="1">
                <a:solidFill>
                  <a:schemeClr val="tx2"/>
                </a:solidFill>
              </a:defRPr>
            </a:lvl1pPr>
          </a:lstStyle>
          <a:p>
            <a:r>
              <a:rPr lang="zh-CN" altLang="en-US" dirty="0"/>
              <a:t>单击此处编辑标题样式</a:t>
            </a:r>
          </a:p>
        </p:txBody>
      </p:sp>
      <p:sp>
        <p:nvSpPr>
          <p:cNvPr id="7" name="内容占位符 25">
            <a:extLst>
              <a:ext uri="{FF2B5EF4-FFF2-40B4-BE49-F238E27FC236}">
                <a16:creationId xmlns:a16="http://schemas.microsoft.com/office/drawing/2014/main" id="{B2D05E36-F937-40FD-97BB-9372B5AC93DC}"/>
              </a:ext>
            </a:extLst>
          </p:cNvPr>
          <p:cNvSpPr>
            <a:spLocks noGrp="1"/>
          </p:cNvSpPr>
          <p:nvPr>
            <p:ph sz="quarter" idx="10"/>
          </p:nvPr>
        </p:nvSpPr>
        <p:spPr>
          <a:xfrm>
            <a:off x="8946863" y="4107201"/>
            <a:ext cx="2903311" cy="454025"/>
          </a:xfrm>
          <a:prstGeom prst="rect">
            <a:avLst/>
          </a:prstGeom>
        </p:spPr>
        <p:txBody>
          <a:bodyPr anchor="ctr"/>
          <a:lstStyle>
            <a:lvl1pPr marL="0" indent="0" algn="ctr">
              <a:lnSpc>
                <a:spcPct val="100000"/>
              </a:lnSpc>
              <a:buNone/>
              <a:defRPr sz="1800">
                <a:solidFill>
                  <a:schemeClr val="accent2"/>
                </a:solidFill>
              </a:defRPr>
            </a:lvl1pPr>
          </a:lstStyle>
          <a:p>
            <a:pPr lvl="0"/>
            <a:endParaRPr lang="zh-CN" altLang="en-US" dirty="0"/>
          </a:p>
        </p:txBody>
      </p:sp>
      <p:sp>
        <p:nvSpPr>
          <p:cNvPr id="8" name="文本占位符 31">
            <a:extLst>
              <a:ext uri="{FF2B5EF4-FFF2-40B4-BE49-F238E27FC236}">
                <a16:creationId xmlns:a16="http://schemas.microsoft.com/office/drawing/2014/main" id="{5BC80367-1D9F-485B-B0F7-7C45899F9076}"/>
              </a:ext>
            </a:extLst>
          </p:cNvPr>
          <p:cNvSpPr>
            <a:spLocks noGrp="1"/>
          </p:cNvSpPr>
          <p:nvPr>
            <p:ph type="body" sz="quarter" idx="11"/>
          </p:nvPr>
        </p:nvSpPr>
        <p:spPr>
          <a:xfrm>
            <a:off x="5460764" y="3997557"/>
            <a:ext cx="3349862" cy="598488"/>
          </a:xfrm>
          <a:prstGeom prst="rect">
            <a:avLst/>
          </a:prstGeom>
        </p:spPr>
        <p:txBody>
          <a:bodyPr anchor="ctr"/>
          <a:lstStyle>
            <a:lvl1pPr marL="0" indent="0" algn="ctr">
              <a:lnSpc>
                <a:spcPct val="100000"/>
              </a:lnSpc>
              <a:buNone/>
              <a:defRPr sz="2400" b="1">
                <a:solidFill>
                  <a:schemeClr val="accent2"/>
                </a:solidFill>
              </a:defRPr>
            </a:lvl1pPr>
          </a:lstStyle>
          <a:p>
            <a:pPr lvl="0"/>
            <a:endParaRPr lang="zh-CN" altLang="en-US" dirty="0"/>
          </a:p>
        </p:txBody>
      </p:sp>
      <p:sp>
        <p:nvSpPr>
          <p:cNvPr id="9" name="图片占位符 14">
            <a:extLst>
              <a:ext uri="{FF2B5EF4-FFF2-40B4-BE49-F238E27FC236}">
                <a16:creationId xmlns:a16="http://schemas.microsoft.com/office/drawing/2014/main" id="{61CC23B2-BE5F-4680-96CD-C33FF9374DFF}"/>
              </a:ext>
            </a:extLst>
          </p:cNvPr>
          <p:cNvSpPr>
            <a:spLocks noGrp="1"/>
          </p:cNvSpPr>
          <p:nvPr>
            <p:ph type="pic" sz="quarter" idx="12"/>
          </p:nvPr>
        </p:nvSpPr>
        <p:spPr>
          <a:xfrm>
            <a:off x="0" y="1415726"/>
            <a:ext cx="6323888" cy="4026547"/>
          </a:xfrm>
          <a:custGeom>
            <a:avLst/>
            <a:gdLst>
              <a:gd name="connsiteX0" fmla="*/ 0 w 4827208"/>
              <a:gd name="connsiteY0" fmla="*/ 0 h 3236615"/>
              <a:gd name="connsiteX1" fmla="*/ 4827208 w 4827208"/>
              <a:gd name="connsiteY1" fmla="*/ 0 h 3236615"/>
              <a:gd name="connsiteX2" fmla="*/ 3218537 w 4827208"/>
              <a:gd name="connsiteY2" fmla="*/ 3236615 h 3236615"/>
              <a:gd name="connsiteX3" fmla="*/ 0 w 4827208"/>
              <a:gd name="connsiteY3" fmla="*/ 3236615 h 3236615"/>
            </a:gdLst>
            <a:ahLst/>
            <a:cxnLst>
              <a:cxn ang="0">
                <a:pos x="connsiteX0" y="connsiteY0"/>
              </a:cxn>
              <a:cxn ang="0">
                <a:pos x="connsiteX1" y="connsiteY1"/>
              </a:cxn>
              <a:cxn ang="0">
                <a:pos x="connsiteX2" y="connsiteY2"/>
              </a:cxn>
              <a:cxn ang="0">
                <a:pos x="connsiteX3" y="connsiteY3"/>
              </a:cxn>
            </a:cxnLst>
            <a:rect l="l" t="t" r="r" b="b"/>
            <a:pathLst>
              <a:path w="4827208" h="3236615">
                <a:moveTo>
                  <a:pt x="0" y="0"/>
                </a:moveTo>
                <a:lnTo>
                  <a:pt x="4827208" y="0"/>
                </a:lnTo>
                <a:lnTo>
                  <a:pt x="3218537" y="3236615"/>
                </a:lnTo>
                <a:lnTo>
                  <a:pt x="0" y="3236615"/>
                </a:lnTo>
                <a:close/>
              </a:path>
            </a:pathLst>
          </a:custGeom>
          <a:effectLst>
            <a:outerShdw blurRad="50800" dist="38100" dir="2700000" algn="tl" rotWithShape="0">
              <a:prstClr val="black">
                <a:alpha val="40000"/>
              </a:prstClr>
            </a:outerShdw>
          </a:effectLst>
        </p:spPr>
        <p:txBody>
          <a:bodyPr wrap="square">
            <a:noAutofit/>
          </a:bodyPr>
          <a:lstStyle/>
          <a:p>
            <a:endParaRPr lang="zh-CN" altLang="en-US"/>
          </a:p>
        </p:txBody>
      </p:sp>
      <p:pic>
        <p:nvPicPr>
          <p:cNvPr id="10" name="图片 9">
            <a:extLst>
              <a:ext uri="{FF2B5EF4-FFF2-40B4-BE49-F238E27FC236}">
                <a16:creationId xmlns:a16="http://schemas.microsoft.com/office/drawing/2014/main" id="{3788FC1A-7F0D-4A9B-AA04-89AD4994A8D0}"/>
              </a:ext>
            </a:extLst>
          </p:cNvPr>
          <p:cNvPicPr>
            <a:picLocks noChangeAspect="1"/>
          </p:cNvPicPr>
          <p:nvPr userDrawn="1"/>
        </p:nvPicPr>
        <p:blipFill>
          <a:blip r:embed="rId3"/>
          <a:stretch>
            <a:fillRect/>
          </a:stretch>
        </p:blipFill>
        <p:spPr>
          <a:xfrm>
            <a:off x="6524558" y="4706725"/>
            <a:ext cx="3935296" cy="209291"/>
          </a:xfrm>
          <a:prstGeom prst="rect">
            <a:avLst/>
          </a:prstGeom>
        </p:spPr>
      </p:pic>
      <p:pic>
        <p:nvPicPr>
          <p:cNvPr id="11" name="图片 10">
            <a:extLst>
              <a:ext uri="{FF2B5EF4-FFF2-40B4-BE49-F238E27FC236}">
                <a16:creationId xmlns:a16="http://schemas.microsoft.com/office/drawing/2014/main" id="{C00B84F0-53AC-421B-9FBC-62687BB5AA2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2913" y="271357"/>
            <a:ext cx="2169174" cy="713098"/>
          </a:xfrm>
          <a:prstGeom prst="rect">
            <a:avLst/>
          </a:prstGeom>
        </p:spPr>
      </p:pic>
      <p:pic>
        <p:nvPicPr>
          <p:cNvPr id="12" name="图片 11">
            <a:extLst>
              <a:ext uri="{FF2B5EF4-FFF2-40B4-BE49-F238E27FC236}">
                <a16:creationId xmlns:a16="http://schemas.microsoft.com/office/drawing/2014/main" id="{69E27F61-80B1-40C1-B303-E54548F0A013}"/>
              </a:ext>
            </a:extLst>
          </p:cNvPr>
          <p:cNvPicPr>
            <a:picLocks noChangeAspect="1"/>
          </p:cNvPicPr>
          <p:nvPr userDrawn="1"/>
        </p:nvPicPr>
        <p:blipFill rotWithShape="1">
          <a:blip r:embed="rId5" cstate="print"/>
          <a:srcRect r="1346"/>
          <a:stretch/>
        </p:blipFill>
        <p:spPr>
          <a:xfrm>
            <a:off x="516" y="6041797"/>
            <a:ext cx="12166903" cy="411617"/>
          </a:xfrm>
          <a:prstGeom prst="rect">
            <a:avLst/>
          </a:prstGeom>
        </p:spPr>
      </p:pic>
    </p:spTree>
    <p:extLst>
      <p:ext uri="{BB962C8B-B14F-4D97-AF65-F5344CB8AC3E}">
        <p14:creationId xmlns:p14="http://schemas.microsoft.com/office/powerpoint/2010/main" val="1810592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1">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6DC54DA7-8689-4800-BC51-1B5E92F91EBD}"/>
              </a:ext>
            </a:extLst>
          </p:cNvPr>
          <p:cNvGrpSpPr/>
          <p:nvPr userDrawn="1"/>
        </p:nvGrpSpPr>
        <p:grpSpPr>
          <a:xfrm>
            <a:off x="391884" y="2278063"/>
            <a:ext cx="4122059" cy="1462680"/>
            <a:chOff x="304800" y="2709636"/>
            <a:chExt cx="4122059" cy="1462680"/>
          </a:xfrm>
        </p:grpSpPr>
        <p:grpSp>
          <p:nvGrpSpPr>
            <p:cNvPr id="12" name="组合 11">
              <a:extLst>
                <a:ext uri="{FF2B5EF4-FFF2-40B4-BE49-F238E27FC236}">
                  <a16:creationId xmlns:a16="http://schemas.microsoft.com/office/drawing/2014/main" id="{5E59BA01-ADDE-45EC-AD9A-30B45C126EF8}"/>
                </a:ext>
              </a:extLst>
            </p:cNvPr>
            <p:cNvGrpSpPr/>
            <p:nvPr/>
          </p:nvGrpSpPr>
          <p:grpSpPr>
            <a:xfrm>
              <a:off x="304800" y="2709636"/>
              <a:ext cx="4122059" cy="1462680"/>
              <a:chOff x="667656" y="1497651"/>
              <a:chExt cx="4122059" cy="1462680"/>
            </a:xfrm>
          </p:grpSpPr>
          <p:grpSp>
            <p:nvGrpSpPr>
              <p:cNvPr id="14" name="组合 13">
                <a:extLst>
                  <a:ext uri="{FF2B5EF4-FFF2-40B4-BE49-F238E27FC236}">
                    <a16:creationId xmlns:a16="http://schemas.microsoft.com/office/drawing/2014/main" id="{5C4775BF-17D8-45C0-9CB9-425332699B08}"/>
                  </a:ext>
                </a:extLst>
              </p:cNvPr>
              <p:cNvGrpSpPr/>
              <p:nvPr/>
            </p:nvGrpSpPr>
            <p:grpSpPr>
              <a:xfrm>
                <a:off x="667656" y="1497651"/>
                <a:ext cx="4122059" cy="1438728"/>
                <a:chOff x="537028" y="1493158"/>
                <a:chExt cx="4122059" cy="1438728"/>
              </a:xfrm>
            </p:grpSpPr>
            <p:sp>
              <p:nvSpPr>
                <p:cNvPr id="17" name="矩形 16">
                  <a:extLst>
                    <a:ext uri="{FF2B5EF4-FFF2-40B4-BE49-F238E27FC236}">
                      <a16:creationId xmlns:a16="http://schemas.microsoft.com/office/drawing/2014/main" id="{0D22151C-5CCD-4390-83DF-F41B623A3BBE}"/>
                    </a:ext>
                  </a:extLst>
                </p:cNvPr>
                <p:cNvSpPr/>
                <p:nvPr/>
              </p:nvSpPr>
              <p:spPr>
                <a:xfrm>
                  <a:off x="537029" y="1493158"/>
                  <a:ext cx="4122058" cy="1438728"/>
                </a:xfrm>
                <a:prstGeom prst="rect">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8" name="图片 17" descr="图片包含 建筑物&#10;&#10;自动生成的说明">
                  <a:extLst>
                    <a:ext uri="{FF2B5EF4-FFF2-40B4-BE49-F238E27FC236}">
                      <a16:creationId xmlns:a16="http://schemas.microsoft.com/office/drawing/2014/main" id="{4FA339D9-8197-4F28-8D72-F96BF5158E1B}"/>
                    </a:ext>
                  </a:extLst>
                </p:cNvPr>
                <p:cNvPicPr>
                  <a:picLocks noChangeAspect="1"/>
                </p:cNvPicPr>
                <p:nvPr/>
              </p:nvPicPr>
              <p:blipFill>
                <a:blip r:embed="rId2" cstate="print">
                  <a:duotone>
                    <a:srgbClr val="DBDBDB">
                      <a:shade val="45000"/>
                      <a:satMod val="135000"/>
                    </a:srgbClr>
                    <a:prstClr val="white"/>
                  </a:duotone>
                  <a:alphaModFix amt="25000"/>
                  <a:extLst>
                    <a:ext uri="{28A0092B-C50C-407E-A947-70E740481C1C}">
                      <a14:useLocalDpi xmlns:a14="http://schemas.microsoft.com/office/drawing/2010/main" val="0"/>
                    </a:ext>
                  </a:extLst>
                </a:blip>
                <a:stretch>
                  <a:fillRect/>
                </a:stretch>
              </p:blipFill>
              <p:spPr>
                <a:xfrm>
                  <a:off x="537028" y="1604731"/>
                  <a:ext cx="4122058" cy="1327155"/>
                </a:xfrm>
                <a:prstGeom prst="rect">
                  <a:avLst/>
                </a:prstGeom>
                <a:effectLst/>
              </p:spPr>
            </p:pic>
          </p:grpSp>
          <p:sp>
            <p:nvSpPr>
              <p:cNvPr id="15" name="文本框 14">
                <a:extLst>
                  <a:ext uri="{FF2B5EF4-FFF2-40B4-BE49-F238E27FC236}">
                    <a16:creationId xmlns:a16="http://schemas.microsoft.com/office/drawing/2014/main" id="{C081911D-2E44-4FD6-A0AD-907AAE52FACB}"/>
                  </a:ext>
                </a:extLst>
              </p:cNvPr>
              <p:cNvSpPr txBox="1"/>
              <p:nvPr/>
            </p:nvSpPr>
            <p:spPr>
              <a:xfrm>
                <a:off x="2387598" y="1755350"/>
                <a:ext cx="2235199"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5400" b="0" i="0" u="none" strike="noStrike" kern="0" cap="none" spc="0" normalizeH="0" baseline="0" noProof="0" dirty="0">
                    <a:ln>
                      <a:noFill/>
                    </a:ln>
                    <a:solidFill>
                      <a:schemeClr val="tx2"/>
                    </a:solidFill>
                    <a:effectLst/>
                    <a:uLnTx/>
                    <a:uFillTx/>
                    <a:latin typeface="+mj-ea"/>
                    <a:ea typeface="+mj-ea"/>
                  </a:rPr>
                  <a:t>目  录</a:t>
                </a:r>
              </a:p>
            </p:txBody>
          </p:sp>
          <p:sp>
            <p:nvSpPr>
              <p:cNvPr id="16" name="矩形 15">
                <a:extLst>
                  <a:ext uri="{FF2B5EF4-FFF2-40B4-BE49-F238E27FC236}">
                    <a16:creationId xmlns:a16="http://schemas.microsoft.com/office/drawing/2014/main" id="{A92C7D20-4DAB-48D5-B9FE-07311B97C222}"/>
                  </a:ext>
                </a:extLst>
              </p:cNvPr>
              <p:cNvSpPr/>
              <p:nvPr/>
            </p:nvSpPr>
            <p:spPr>
              <a:xfrm rot="16200000">
                <a:off x="2683685" y="854302"/>
                <a:ext cx="90000" cy="4122058"/>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pic>
          <p:nvPicPr>
            <p:cNvPr id="13" name="图片 12">
              <a:extLst>
                <a:ext uri="{FF2B5EF4-FFF2-40B4-BE49-F238E27FC236}">
                  <a16:creationId xmlns:a16="http://schemas.microsoft.com/office/drawing/2014/main" id="{722A3E5D-FF59-4C7C-A657-F2CE27FAB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887" y="2871509"/>
              <a:ext cx="1590855" cy="1114981"/>
            </a:xfrm>
            <a:prstGeom prst="rect">
              <a:avLst/>
            </a:prstGeom>
          </p:spPr>
        </p:pic>
      </p:grpSp>
      <p:sp>
        <p:nvSpPr>
          <p:cNvPr id="19" name="图片占位符 6">
            <a:extLst>
              <a:ext uri="{FF2B5EF4-FFF2-40B4-BE49-F238E27FC236}">
                <a16:creationId xmlns:a16="http://schemas.microsoft.com/office/drawing/2014/main" id="{AF8E3962-2329-4680-827B-C4237CDC52F3}"/>
              </a:ext>
            </a:extLst>
          </p:cNvPr>
          <p:cNvSpPr>
            <a:spLocks noGrp="1"/>
          </p:cNvSpPr>
          <p:nvPr>
            <p:ph type="pic" sz="quarter" idx="10"/>
          </p:nvPr>
        </p:nvSpPr>
        <p:spPr>
          <a:xfrm>
            <a:off x="6095999" y="0"/>
            <a:ext cx="6096001" cy="6858000"/>
          </a:xfrm>
          <a:prstGeom prst="rect">
            <a:avLst/>
          </a:prstGeom>
        </p:spPr>
        <p:txBody>
          <a:bodyPr anchor="ctr"/>
          <a:lstStyle>
            <a:lvl1pPr marL="0" indent="0" algn="ctr">
              <a:buNone/>
              <a:defRPr/>
            </a:lvl1pPr>
          </a:lstStyle>
          <a:p>
            <a:endParaRPr lang="zh-CN" altLang="en-US" dirty="0"/>
          </a:p>
        </p:txBody>
      </p:sp>
    </p:spTree>
    <p:extLst>
      <p:ext uri="{BB962C8B-B14F-4D97-AF65-F5344CB8AC3E}">
        <p14:creationId xmlns:p14="http://schemas.microsoft.com/office/powerpoint/2010/main" val="142174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目录2">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78DC3B0-6545-47FD-A372-07AD4DF09697}"/>
              </a:ext>
            </a:extLst>
          </p:cNvPr>
          <p:cNvGrpSpPr/>
          <p:nvPr userDrawn="1"/>
        </p:nvGrpSpPr>
        <p:grpSpPr>
          <a:xfrm>
            <a:off x="4034971" y="689970"/>
            <a:ext cx="4122059" cy="1462680"/>
            <a:chOff x="304800" y="2709636"/>
            <a:chExt cx="4122059" cy="1462680"/>
          </a:xfrm>
        </p:grpSpPr>
        <p:grpSp>
          <p:nvGrpSpPr>
            <p:cNvPr id="4" name="组合 3">
              <a:extLst>
                <a:ext uri="{FF2B5EF4-FFF2-40B4-BE49-F238E27FC236}">
                  <a16:creationId xmlns:a16="http://schemas.microsoft.com/office/drawing/2014/main" id="{A499F2E8-30BC-413E-8034-6A7278D4979C}"/>
                </a:ext>
              </a:extLst>
            </p:cNvPr>
            <p:cNvGrpSpPr/>
            <p:nvPr/>
          </p:nvGrpSpPr>
          <p:grpSpPr>
            <a:xfrm>
              <a:off x="304800" y="2709636"/>
              <a:ext cx="4122059" cy="1462680"/>
              <a:chOff x="667656" y="1497651"/>
              <a:chExt cx="4122059" cy="1462680"/>
            </a:xfrm>
          </p:grpSpPr>
          <p:grpSp>
            <p:nvGrpSpPr>
              <p:cNvPr id="6" name="组合 5">
                <a:extLst>
                  <a:ext uri="{FF2B5EF4-FFF2-40B4-BE49-F238E27FC236}">
                    <a16:creationId xmlns:a16="http://schemas.microsoft.com/office/drawing/2014/main" id="{BFD679A7-DAD2-4984-B6F0-7C9ABE4B8F0F}"/>
                  </a:ext>
                </a:extLst>
              </p:cNvPr>
              <p:cNvGrpSpPr/>
              <p:nvPr/>
            </p:nvGrpSpPr>
            <p:grpSpPr>
              <a:xfrm>
                <a:off x="667656" y="1497651"/>
                <a:ext cx="4122059" cy="1438728"/>
                <a:chOff x="537028" y="1493158"/>
                <a:chExt cx="4122059" cy="1438728"/>
              </a:xfrm>
            </p:grpSpPr>
            <p:sp>
              <p:nvSpPr>
                <p:cNvPr id="9" name="矩形 8">
                  <a:extLst>
                    <a:ext uri="{FF2B5EF4-FFF2-40B4-BE49-F238E27FC236}">
                      <a16:creationId xmlns:a16="http://schemas.microsoft.com/office/drawing/2014/main" id="{424CD77E-BBF9-4D46-B301-F75D3222F2E0}"/>
                    </a:ext>
                  </a:extLst>
                </p:cNvPr>
                <p:cNvSpPr/>
                <p:nvPr/>
              </p:nvSpPr>
              <p:spPr>
                <a:xfrm>
                  <a:off x="537029" y="1493158"/>
                  <a:ext cx="4122058" cy="1438728"/>
                </a:xfrm>
                <a:prstGeom prst="rect">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0" name="图片 9" descr="图片包含 建筑物&#10;&#10;自动生成的说明">
                  <a:extLst>
                    <a:ext uri="{FF2B5EF4-FFF2-40B4-BE49-F238E27FC236}">
                      <a16:creationId xmlns:a16="http://schemas.microsoft.com/office/drawing/2014/main" id="{83E81D97-88FE-44C4-85F5-ABEF155EA045}"/>
                    </a:ext>
                  </a:extLst>
                </p:cNvPr>
                <p:cNvPicPr>
                  <a:picLocks noChangeAspect="1"/>
                </p:cNvPicPr>
                <p:nvPr/>
              </p:nvPicPr>
              <p:blipFill>
                <a:blip r:embed="rId2" cstate="print">
                  <a:duotone>
                    <a:srgbClr val="DBDBDB">
                      <a:shade val="45000"/>
                      <a:satMod val="135000"/>
                    </a:srgbClr>
                    <a:prstClr val="white"/>
                  </a:duotone>
                  <a:alphaModFix amt="25000"/>
                  <a:extLst>
                    <a:ext uri="{28A0092B-C50C-407E-A947-70E740481C1C}">
                      <a14:useLocalDpi xmlns:a14="http://schemas.microsoft.com/office/drawing/2010/main" val="0"/>
                    </a:ext>
                  </a:extLst>
                </a:blip>
                <a:stretch>
                  <a:fillRect/>
                </a:stretch>
              </p:blipFill>
              <p:spPr>
                <a:xfrm>
                  <a:off x="537028" y="1604731"/>
                  <a:ext cx="4122058" cy="1327155"/>
                </a:xfrm>
                <a:prstGeom prst="rect">
                  <a:avLst/>
                </a:prstGeom>
                <a:effectLst/>
              </p:spPr>
            </p:pic>
          </p:grpSp>
          <p:sp>
            <p:nvSpPr>
              <p:cNvPr id="7" name="文本框 6">
                <a:extLst>
                  <a:ext uri="{FF2B5EF4-FFF2-40B4-BE49-F238E27FC236}">
                    <a16:creationId xmlns:a16="http://schemas.microsoft.com/office/drawing/2014/main" id="{53959A77-64DA-4694-95C2-AD9E38910645}"/>
                  </a:ext>
                </a:extLst>
              </p:cNvPr>
              <p:cNvSpPr txBox="1"/>
              <p:nvPr/>
            </p:nvSpPr>
            <p:spPr>
              <a:xfrm>
                <a:off x="2387598" y="1755350"/>
                <a:ext cx="2235199"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5400" b="0" i="0" u="none" strike="noStrike" kern="0" cap="none" spc="0" normalizeH="0" baseline="0" noProof="0" dirty="0">
                    <a:ln>
                      <a:noFill/>
                    </a:ln>
                    <a:solidFill>
                      <a:schemeClr val="tx2"/>
                    </a:solidFill>
                    <a:effectLst/>
                    <a:uLnTx/>
                    <a:uFillTx/>
                    <a:latin typeface="+mj-ea"/>
                    <a:ea typeface="+mj-ea"/>
                  </a:rPr>
                  <a:t>目  录</a:t>
                </a:r>
              </a:p>
            </p:txBody>
          </p:sp>
          <p:sp>
            <p:nvSpPr>
              <p:cNvPr id="8" name="矩形 7">
                <a:extLst>
                  <a:ext uri="{FF2B5EF4-FFF2-40B4-BE49-F238E27FC236}">
                    <a16:creationId xmlns:a16="http://schemas.microsoft.com/office/drawing/2014/main" id="{20512A63-1AB8-442E-BAE6-AF2B98235281}"/>
                  </a:ext>
                </a:extLst>
              </p:cNvPr>
              <p:cNvSpPr/>
              <p:nvPr/>
            </p:nvSpPr>
            <p:spPr>
              <a:xfrm rot="16200000">
                <a:off x="2683685" y="854302"/>
                <a:ext cx="90000" cy="4122058"/>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pic>
          <p:nvPicPr>
            <p:cNvPr id="5" name="图片 4">
              <a:extLst>
                <a:ext uri="{FF2B5EF4-FFF2-40B4-BE49-F238E27FC236}">
                  <a16:creationId xmlns:a16="http://schemas.microsoft.com/office/drawing/2014/main" id="{AD253681-53B8-4661-A94B-736B46C3AF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887" y="2871509"/>
              <a:ext cx="1590855" cy="1114981"/>
            </a:xfrm>
            <a:prstGeom prst="rect">
              <a:avLst/>
            </a:prstGeom>
          </p:spPr>
        </p:pic>
      </p:grpSp>
      <p:sp>
        <p:nvSpPr>
          <p:cNvPr id="11" name="图片占位符 6">
            <a:extLst>
              <a:ext uri="{FF2B5EF4-FFF2-40B4-BE49-F238E27FC236}">
                <a16:creationId xmlns:a16="http://schemas.microsoft.com/office/drawing/2014/main" id="{D403F116-EFE8-4DEB-B6FE-4D20752B7443}"/>
              </a:ext>
            </a:extLst>
          </p:cNvPr>
          <p:cNvSpPr>
            <a:spLocks noGrp="1"/>
          </p:cNvSpPr>
          <p:nvPr>
            <p:ph type="pic" sz="quarter" idx="10"/>
          </p:nvPr>
        </p:nvSpPr>
        <p:spPr>
          <a:xfrm>
            <a:off x="1" y="3240088"/>
            <a:ext cx="12192000" cy="3617912"/>
          </a:xfrm>
          <a:prstGeom prst="rect">
            <a:avLst/>
          </a:prstGeom>
        </p:spPr>
        <p:txBody>
          <a:bodyPr anchor="ctr"/>
          <a:lstStyle>
            <a:lvl1pPr marL="0" indent="0" algn="ctr">
              <a:buNone/>
              <a:defRPr/>
            </a:lvl1pPr>
          </a:lstStyle>
          <a:p>
            <a:endParaRPr lang="zh-CN" altLang="en-US" dirty="0"/>
          </a:p>
        </p:txBody>
      </p:sp>
    </p:spTree>
    <p:extLst>
      <p:ext uri="{BB962C8B-B14F-4D97-AF65-F5344CB8AC3E}">
        <p14:creationId xmlns:p14="http://schemas.microsoft.com/office/powerpoint/2010/main" val="206535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页版式1">
    <p:spTree>
      <p:nvGrpSpPr>
        <p:cNvPr id="1" name=""/>
        <p:cNvGrpSpPr/>
        <p:nvPr/>
      </p:nvGrpSpPr>
      <p:grpSpPr>
        <a:xfrm>
          <a:off x="0" y="0"/>
          <a:ext cx="0" cy="0"/>
          <a:chOff x="0" y="0"/>
          <a:chExt cx="0" cy="0"/>
        </a:xfrm>
      </p:grpSpPr>
      <p:sp>
        <p:nvSpPr>
          <p:cNvPr id="2" name="标题 1"/>
          <p:cNvSpPr>
            <a:spLocks noGrp="1"/>
          </p:cNvSpPr>
          <p:nvPr>
            <p:ph type="title"/>
          </p:nvPr>
        </p:nvSpPr>
        <p:spPr>
          <a:xfrm>
            <a:off x="381368" y="263408"/>
            <a:ext cx="8940432" cy="657713"/>
          </a:xfrm>
          <a:prstGeom prst="rect">
            <a:avLst/>
          </a:prstGeom>
        </p:spPr>
        <p:txBody>
          <a:bodyPr anchor="ctr">
            <a:normAutofit/>
          </a:bodyPr>
          <a:lstStyle>
            <a:lvl1pPr>
              <a:lnSpc>
                <a:spcPct val="100000"/>
              </a:lnSpc>
              <a:defRPr sz="3200">
                <a:solidFill>
                  <a:schemeClr val="tx2"/>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142440"/>
            <a:ext cx="11429264" cy="4991454"/>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7" name="图片 6">
            <a:extLst>
              <a:ext uri="{FF2B5EF4-FFF2-40B4-BE49-F238E27FC236}">
                <a16:creationId xmlns:a16="http://schemas.microsoft.com/office/drawing/2014/main" id="{633E3E6D-D003-4285-9CD3-F9F948F4D401}"/>
              </a:ext>
            </a:extLst>
          </p:cNvPr>
          <p:cNvPicPr>
            <a:picLocks noChangeAspect="1"/>
          </p:cNvPicPr>
          <p:nvPr userDrawn="1"/>
        </p:nvPicPr>
        <p:blipFill rotWithShape="1">
          <a:blip r:embed="rId2" cstate="print"/>
          <a:srcRect r="1346"/>
          <a:stretch/>
        </p:blipFill>
        <p:spPr>
          <a:xfrm>
            <a:off x="516" y="6149854"/>
            <a:ext cx="12191484" cy="411617"/>
          </a:xfrm>
          <a:prstGeom prst="rect">
            <a:avLst/>
          </a:prstGeom>
        </p:spPr>
      </p:pic>
      <p:pic>
        <p:nvPicPr>
          <p:cNvPr id="13" name="图片 12" descr="文本&#10;&#10;中度可信度描述已自动生成">
            <a:extLst>
              <a:ext uri="{FF2B5EF4-FFF2-40B4-BE49-F238E27FC236}">
                <a16:creationId xmlns:a16="http://schemas.microsoft.com/office/drawing/2014/main" id="{20F80C42-4A81-4868-AA78-9E4FF9811EE2}"/>
              </a:ext>
            </a:extLst>
          </p:cNvPr>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9553162" y="263409"/>
            <a:ext cx="2305463" cy="757902"/>
          </a:xfrm>
          <a:prstGeom prst="rect">
            <a:avLst/>
          </a:prstGeom>
        </p:spPr>
      </p:pic>
      <p:sp>
        <p:nvSpPr>
          <p:cNvPr id="8" name="矩形 7">
            <a:extLst>
              <a:ext uri="{FF2B5EF4-FFF2-40B4-BE49-F238E27FC236}">
                <a16:creationId xmlns:a16="http://schemas.microsoft.com/office/drawing/2014/main" id="{EB998610-38B8-4F4F-8E37-98D574A43924}"/>
              </a:ext>
            </a:extLst>
          </p:cNvPr>
          <p:cNvSpPr/>
          <p:nvPr userDrawn="1"/>
        </p:nvSpPr>
        <p:spPr>
          <a:xfrm>
            <a:off x="-1" y="311884"/>
            <a:ext cx="360363" cy="560759"/>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spTree>
    <p:extLst>
      <p:ext uri="{BB962C8B-B14F-4D97-AF65-F5344CB8AC3E}">
        <p14:creationId xmlns:p14="http://schemas.microsoft.com/office/powerpoint/2010/main" val="422916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页版式2">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8ACCEA9-8D4D-47C1-AFB3-3E215258EFDB}"/>
              </a:ext>
            </a:extLst>
          </p:cNvPr>
          <p:cNvSpPr/>
          <p:nvPr userDrawn="1"/>
        </p:nvSpPr>
        <p:spPr>
          <a:xfrm>
            <a:off x="0" y="0"/>
            <a:ext cx="12191483" cy="685800"/>
          </a:xfrm>
          <a:prstGeom prst="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sp>
        <p:nvSpPr>
          <p:cNvPr id="2" name="标题 1"/>
          <p:cNvSpPr>
            <a:spLocks noGrp="1"/>
          </p:cNvSpPr>
          <p:nvPr>
            <p:ph type="title"/>
          </p:nvPr>
        </p:nvSpPr>
        <p:spPr>
          <a:xfrm>
            <a:off x="927468" y="85609"/>
            <a:ext cx="6895732" cy="538838"/>
          </a:xfrm>
          <a:prstGeom prst="rect">
            <a:avLst/>
          </a:prstGeom>
        </p:spPr>
        <p:txBody>
          <a:bodyPr anchor="ctr">
            <a:normAutofit/>
          </a:bodyPr>
          <a:lstStyle>
            <a:lvl1pPr>
              <a:lnSpc>
                <a:spcPct val="100000"/>
              </a:lnSpc>
              <a:defRPr sz="3200">
                <a:solidFill>
                  <a:schemeClr val="bg1"/>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034104"/>
            <a:ext cx="11429264" cy="4761859"/>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 name="图片 9" descr="图片包含 户外, 标牌, 黑色&#10;&#10;自动生成的说明">
            <a:extLst>
              <a:ext uri="{FF2B5EF4-FFF2-40B4-BE49-F238E27FC236}">
                <a16:creationId xmlns:a16="http://schemas.microsoft.com/office/drawing/2014/main" id="{62155B61-5059-48B5-87FF-DD4186D229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pic>
        <p:nvPicPr>
          <p:cNvPr id="12" name="图片 11">
            <a:extLst>
              <a:ext uri="{FF2B5EF4-FFF2-40B4-BE49-F238E27FC236}">
                <a16:creationId xmlns:a16="http://schemas.microsoft.com/office/drawing/2014/main" id="{4D934C7A-D80F-46AF-9EA9-3274A652C82D}"/>
              </a:ext>
            </a:extLst>
          </p:cNvPr>
          <p:cNvPicPr>
            <a:picLocks noChangeAspect="1"/>
          </p:cNvPicPr>
          <p:nvPr userDrawn="1"/>
        </p:nvPicPr>
        <p:blipFill rotWithShape="1">
          <a:blip r:embed="rId3" cstate="print">
            <a:alphaModFix/>
            <a:extLst>
              <a:ext uri="{BEBA8EAE-BF5A-486C-A8C5-ECC9F3942E4B}">
                <a14:imgProps xmlns:a14="http://schemas.microsoft.com/office/drawing/2010/main">
                  <a14:imgLayer r:embed="rId4">
                    <a14:imgEffect>
                      <a14:sharpenSoften amount="100000"/>
                    </a14:imgEffect>
                    <a14:imgEffect>
                      <a14:brightnessContrast bright="100000"/>
                    </a14:imgEffect>
                  </a14:imgLayer>
                </a14:imgProps>
              </a:ext>
            </a:extLst>
          </a:blip>
          <a:srcRect l="73973" r="3197"/>
          <a:stretch/>
        </p:blipFill>
        <p:spPr>
          <a:xfrm>
            <a:off x="9046840" y="274621"/>
            <a:ext cx="2821309" cy="411617"/>
          </a:xfrm>
          <a:prstGeom prst="rect">
            <a:avLst/>
          </a:prstGeom>
        </p:spPr>
      </p:pic>
      <p:sp>
        <p:nvSpPr>
          <p:cNvPr id="13" name="文本框 12">
            <a:extLst>
              <a:ext uri="{FF2B5EF4-FFF2-40B4-BE49-F238E27FC236}">
                <a16:creationId xmlns:a16="http://schemas.microsoft.com/office/drawing/2014/main" id="{52A61551-45B8-4979-813A-58420CD05B43}"/>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14" name="文本框 13">
            <a:extLst>
              <a:ext uri="{FF2B5EF4-FFF2-40B4-BE49-F238E27FC236}">
                <a16:creationId xmlns:a16="http://schemas.microsoft.com/office/drawing/2014/main" id="{7B5C5EC2-BF47-4B56-8C74-5186E7035801}"/>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15" name="直接连接符 14">
            <a:extLst>
              <a:ext uri="{FF2B5EF4-FFF2-40B4-BE49-F238E27FC236}">
                <a16:creationId xmlns:a16="http://schemas.microsoft.com/office/drawing/2014/main" id="{7F2E2F86-D946-488E-851C-D8455FD8E6B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93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页版式3">
    <p:spTree>
      <p:nvGrpSpPr>
        <p:cNvPr id="1" name=""/>
        <p:cNvGrpSpPr/>
        <p:nvPr/>
      </p:nvGrpSpPr>
      <p:grpSpPr>
        <a:xfrm>
          <a:off x="0" y="0"/>
          <a:ext cx="0" cy="0"/>
          <a:chOff x="0" y="0"/>
          <a:chExt cx="0" cy="0"/>
        </a:xfrm>
      </p:grpSpPr>
      <p:sp>
        <p:nvSpPr>
          <p:cNvPr id="2" name="标题 1"/>
          <p:cNvSpPr>
            <a:spLocks noGrp="1"/>
          </p:cNvSpPr>
          <p:nvPr>
            <p:ph type="title"/>
          </p:nvPr>
        </p:nvSpPr>
        <p:spPr>
          <a:xfrm>
            <a:off x="381368" y="263408"/>
            <a:ext cx="8940432" cy="657713"/>
          </a:xfrm>
          <a:prstGeom prst="rect">
            <a:avLst/>
          </a:prstGeom>
        </p:spPr>
        <p:txBody>
          <a:bodyPr anchor="ctr">
            <a:normAutofit/>
          </a:bodyPr>
          <a:lstStyle>
            <a:lvl1pPr>
              <a:lnSpc>
                <a:spcPct val="100000"/>
              </a:lnSpc>
              <a:defRPr sz="3200">
                <a:solidFill>
                  <a:schemeClr val="tx2"/>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142440"/>
            <a:ext cx="11429264" cy="4991454"/>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矩形 2">
            <a:extLst>
              <a:ext uri="{FF2B5EF4-FFF2-40B4-BE49-F238E27FC236}">
                <a16:creationId xmlns:a16="http://schemas.microsoft.com/office/drawing/2014/main" id="{95F2A3FF-349C-4A77-B4E4-30B91612AF58}"/>
              </a:ext>
            </a:extLst>
          </p:cNvPr>
          <p:cNvSpPr/>
          <p:nvPr userDrawn="1"/>
        </p:nvSpPr>
        <p:spPr>
          <a:xfrm>
            <a:off x="-1" y="311884"/>
            <a:ext cx="360363" cy="560759"/>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pic>
        <p:nvPicPr>
          <p:cNvPr id="8" name="图片 7">
            <a:extLst>
              <a:ext uri="{FF2B5EF4-FFF2-40B4-BE49-F238E27FC236}">
                <a16:creationId xmlns:a16="http://schemas.microsoft.com/office/drawing/2014/main" id="{C4D43C20-4F27-4C91-AEAA-CF5C31A8075D}"/>
              </a:ext>
            </a:extLst>
          </p:cNvPr>
          <p:cNvPicPr>
            <a:picLocks noChangeAspect="1"/>
          </p:cNvPicPr>
          <p:nvPr userDrawn="1"/>
        </p:nvPicPr>
        <p:blipFill rotWithShape="1">
          <a:blip r:embed="rId2" cstate="print"/>
          <a:srcRect l="74359" r="1346"/>
          <a:stretch/>
        </p:blipFill>
        <p:spPr>
          <a:xfrm>
            <a:off x="8870172" y="360363"/>
            <a:ext cx="3002280" cy="411617"/>
          </a:xfrm>
          <a:prstGeom prst="rect">
            <a:avLst/>
          </a:prstGeom>
        </p:spPr>
      </p:pic>
      <p:sp>
        <p:nvSpPr>
          <p:cNvPr id="9" name="矩形 8">
            <a:extLst>
              <a:ext uri="{FF2B5EF4-FFF2-40B4-BE49-F238E27FC236}">
                <a16:creationId xmlns:a16="http://schemas.microsoft.com/office/drawing/2014/main" id="{66616902-5391-4A6F-829E-AD2830E6904C}"/>
              </a:ext>
            </a:extLst>
          </p:cNvPr>
          <p:cNvSpPr/>
          <p:nvPr userDrawn="1"/>
        </p:nvSpPr>
        <p:spPr>
          <a:xfrm>
            <a:off x="360362" y="6446383"/>
            <a:ext cx="11460164" cy="411617"/>
          </a:xfrm>
          <a:prstGeom prst="rect">
            <a:avLst/>
          </a:prstGeom>
          <a:solidFill>
            <a:schemeClr val="tx2"/>
          </a:solidFill>
          <a:ln w="12700" cap="flat" cmpd="sng" algn="ctr">
            <a:noFill/>
            <a:prstDash val="solid"/>
            <a:miter lim="800000"/>
          </a:ln>
          <a:effectLst/>
        </p:spPr>
        <p:txBody>
          <a:bodyPr rtlCol="0" anchor="ctr"/>
          <a:lstStyle/>
          <a:p>
            <a:pPr algn="just"/>
            <a:endParaRPr lang="zh-CN" altLang="en-US" dirty="0">
              <a:solidFill>
                <a:schemeClr val="tx2"/>
              </a:solidFill>
            </a:endParaRPr>
          </a:p>
        </p:txBody>
      </p:sp>
      <p:sp>
        <p:nvSpPr>
          <p:cNvPr id="10" name="文本框 9">
            <a:extLst>
              <a:ext uri="{FF2B5EF4-FFF2-40B4-BE49-F238E27FC236}">
                <a16:creationId xmlns:a16="http://schemas.microsoft.com/office/drawing/2014/main" id="{7DC35A62-787F-4D0F-902F-C6A602FEBB80}"/>
              </a:ext>
            </a:extLst>
          </p:cNvPr>
          <p:cNvSpPr txBox="1"/>
          <p:nvPr userDrawn="1"/>
        </p:nvSpPr>
        <p:spPr>
          <a:xfrm>
            <a:off x="10118489" y="6484482"/>
            <a:ext cx="1692143" cy="338554"/>
          </a:xfrm>
          <a:prstGeom prst="rect">
            <a:avLst/>
          </a:prstGeom>
          <a:noFill/>
        </p:spPr>
        <p:txBody>
          <a:bodyPr wrap="square" rtlCol="0" anchor="ctr">
            <a:spAutoFit/>
          </a:bodyPr>
          <a:lstStyle/>
          <a:p>
            <a:pPr algn="ctr"/>
            <a:r>
              <a:rPr lang="en-US" altLang="zh-CN" sz="1600" i="1" dirty="0">
                <a:solidFill>
                  <a:schemeClr val="bg1"/>
                </a:solidFill>
              </a:rPr>
              <a:t>www.sjtu.edu.cn </a:t>
            </a:r>
            <a:endParaRPr lang="zh-CN" altLang="en-US" sz="1400" i="1" dirty="0">
              <a:solidFill>
                <a:schemeClr val="bg1"/>
              </a:solidFill>
            </a:endParaRPr>
          </a:p>
        </p:txBody>
      </p:sp>
      <p:sp>
        <p:nvSpPr>
          <p:cNvPr id="11" name="文本框 10">
            <a:extLst>
              <a:ext uri="{FF2B5EF4-FFF2-40B4-BE49-F238E27FC236}">
                <a16:creationId xmlns:a16="http://schemas.microsoft.com/office/drawing/2014/main" id="{7530E292-1289-47A7-B19B-DBEC054F4388}"/>
              </a:ext>
            </a:extLst>
          </p:cNvPr>
          <p:cNvSpPr txBox="1"/>
          <p:nvPr userDrawn="1"/>
        </p:nvSpPr>
        <p:spPr>
          <a:xfrm>
            <a:off x="360364" y="6497182"/>
            <a:ext cx="2223180" cy="338554"/>
          </a:xfrm>
          <a:prstGeom prst="rect">
            <a:avLst/>
          </a:prstGeom>
          <a:noFill/>
        </p:spPr>
        <p:txBody>
          <a:bodyPr wrap="square" rtlCol="0" anchor="ctr">
            <a:spAutoFit/>
          </a:bodyPr>
          <a:lstStyle/>
          <a:p>
            <a:pPr algn="ctr"/>
            <a:r>
              <a:rPr lang="zh-CN" altLang="en-US" sz="1600" dirty="0">
                <a:solidFill>
                  <a:schemeClr val="bg1"/>
                </a:solidFill>
              </a:rPr>
              <a:t>饮水思源   爱国荣校</a:t>
            </a:r>
          </a:p>
        </p:txBody>
      </p:sp>
    </p:spTree>
    <p:extLst>
      <p:ext uri="{BB962C8B-B14F-4D97-AF65-F5344CB8AC3E}">
        <p14:creationId xmlns:p14="http://schemas.microsoft.com/office/powerpoint/2010/main" val="322891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13" name="标题 1">
            <a:extLst>
              <a:ext uri="{FF2B5EF4-FFF2-40B4-BE49-F238E27FC236}">
                <a16:creationId xmlns:a16="http://schemas.microsoft.com/office/drawing/2014/main" id="{2BE1FDF5-4923-43E1-8950-8527649FE6EB}"/>
              </a:ext>
            </a:extLst>
          </p:cNvPr>
          <p:cNvSpPr>
            <a:spLocks noGrp="1"/>
          </p:cNvSpPr>
          <p:nvPr>
            <p:ph type="title" hasCustomPrompt="1"/>
          </p:nvPr>
        </p:nvSpPr>
        <p:spPr>
          <a:xfrm>
            <a:off x="1439862" y="1355320"/>
            <a:ext cx="8796337" cy="1060855"/>
          </a:xfrm>
          <a:prstGeom prst="rect">
            <a:avLst/>
          </a:prstGeom>
          <a:noFill/>
          <a:effectLst/>
        </p:spPr>
        <p:txBody>
          <a:bodyPr anchor="ctr">
            <a:noAutofit/>
          </a:bodyPr>
          <a:lstStyle>
            <a:lvl1pPr algn="l">
              <a:lnSpc>
                <a:spcPct val="100000"/>
              </a:lnSpc>
              <a:defRPr sz="6000" b="0">
                <a:solidFill>
                  <a:schemeClr val="tx2"/>
                </a:solidFill>
                <a:effectLst/>
              </a:defRPr>
            </a:lvl1pPr>
          </a:lstStyle>
          <a:p>
            <a:r>
              <a:rPr lang="zh-CN" altLang="en-US" dirty="0"/>
              <a:t>单击此处编辑标题样式</a:t>
            </a:r>
          </a:p>
        </p:txBody>
      </p:sp>
      <p:pic>
        <p:nvPicPr>
          <p:cNvPr id="15" name="图片 14">
            <a:extLst>
              <a:ext uri="{FF2B5EF4-FFF2-40B4-BE49-F238E27FC236}">
                <a16:creationId xmlns:a16="http://schemas.microsoft.com/office/drawing/2014/main" id="{5FD0C4E5-D655-41D1-8AC5-975561F1C627}"/>
              </a:ext>
            </a:extLst>
          </p:cNvPr>
          <p:cNvPicPr>
            <a:picLocks noChangeAspect="1"/>
          </p:cNvPicPr>
          <p:nvPr userDrawn="1"/>
        </p:nvPicPr>
        <p:blipFill rotWithShape="1">
          <a:blip r:embed="rId2" cstate="print"/>
          <a:srcRect r="1346"/>
          <a:stretch/>
        </p:blipFill>
        <p:spPr>
          <a:xfrm>
            <a:off x="516" y="5781221"/>
            <a:ext cx="12191484" cy="411617"/>
          </a:xfrm>
          <a:prstGeom prst="rect">
            <a:avLst/>
          </a:prstGeom>
        </p:spPr>
      </p:pic>
      <p:sp>
        <p:nvSpPr>
          <p:cNvPr id="16" name="矩形 15">
            <a:extLst>
              <a:ext uri="{FF2B5EF4-FFF2-40B4-BE49-F238E27FC236}">
                <a16:creationId xmlns:a16="http://schemas.microsoft.com/office/drawing/2014/main" id="{EDD1933B-16C3-4999-98BD-F73EBEC916D2}"/>
              </a:ext>
            </a:extLst>
          </p:cNvPr>
          <p:cNvSpPr/>
          <p:nvPr userDrawn="1"/>
        </p:nvSpPr>
        <p:spPr>
          <a:xfrm>
            <a:off x="0" y="1523797"/>
            <a:ext cx="360363" cy="723900"/>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spTree>
    <p:extLst>
      <p:ext uri="{BB962C8B-B14F-4D97-AF65-F5344CB8AC3E}">
        <p14:creationId xmlns:p14="http://schemas.microsoft.com/office/powerpoint/2010/main" val="1402250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pic>
        <p:nvPicPr>
          <p:cNvPr id="3" name="图片 2" descr="图片包含 建筑物, 圆屋顶, 地板&#10;&#10;描述已自动生成">
            <a:extLst>
              <a:ext uri="{FF2B5EF4-FFF2-40B4-BE49-F238E27FC236}">
                <a16:creationId xmlns:a16="http://schemas.microsoft.com/office/drawing/2014/main" id="{B94F3640-73A4-452A-B43A-9C6BC3DA01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4" name="矩形 3">
            <a:extLst>
              <a:ext uri="{FF2B5EF4-FFF2-40B4-BE49-F238E27FC236}">
                <a16:creationId xmlns:a16="http://schemas.microsoft.com/office/drawing/2014/main" id="{1E81BD90-8A64-4ED5-A552-F6BD597FB9AE}"/>
              </a:ext>
            </a:extLst>
          </p:cNvPr>
          <p:cNvSpPr/>
          <p:nvPr userDrawn="1"/>
        </p:nvSpPr>
        <p:spPr>
          <a:xfrm rot="16200000">
            <a:off x="6051000" y="-2616750"/>
            <a:ext cx="90000" cy="12192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33">
            <a:extLst>
              <a:ext uri="{FF2B5EF4-FFF2-40B4-BE49-F238E27FC236}">
                <a16:creationId xmlns:a16="http://schemas.microsoft.com/office/drawing/2014/main" id="{6E06DE62-527A-47C4-87BF-FFC53A66E78B}"/>
              </a:ext>
            </a:extLst>
          </p:cNvPr>
          <p:cNvSpPr>
            <a:spLocks noGrp="1"/>
          </p:cNvSpPr>
          <p:nvPr>
            <p:ph type="pic" sz="quarter" idx="10"/>
          </p:nvPr>
        </p:nvSpPr>
        <p:spPr>
          <a:xfrm>
            <a:off x="0" y="-19050"/>
            <a:ext cx="12192000" cy="3442348"/>
          </a:xfrm>
          <a:prstGeom prst="rect">
            <a:avLst/>
          </a:prstGeom>
        </p:spPr>
        <p:txBody>
          <a:bodyPr/>
          <a:lstStyle/>
          <a:p>
            <a:endParaRPr lang="zh-CN" altLang="en-US" dirty="0"/>
          </a:p>
        </p:txBody>
      </p:sp>
      <p:sp>
        <p:nvSpPr>
          <p:cNvPr id="6" name="标题 13">
            <a:extLst>
              <a:ext uri="{FF2B5EF4-FFF2-40B4-BE49-F238E27FC236}">
                <a16:creationId xmlns:a16="http://schemas.microsoft.com/office/drawing/2014/main" id="{028BE167-9388-4F73-B56C-D2C5AA5DAD6C}"/>
              </a:ext>
            </a:extLst>
          </p:cNvPr>
          <p:cNvSpPr>
            <a:spLocks noGrp="1"/>
          </p:cNvSpPr>
          <p:nvPr>
            <p:ph type="title"/>
          </p:nvPr>
        </p:nvSpPr>
        <p:spPr>
          <a:xfrm>
            <a:off x="4654075" y="3047028"/>
            <a:ext cx="6489700" cy="775349"/>
          </a:xfrm>
          <a:prstGeom prst="rect">
            <a:avLst/>
          </a:prstGeom>
          <a:solidFill>
            <a:schemeClr val="bg1"/>
          </a:solidFill>
          <a:effectLst>
            <a:outerShdw blurRad="50800" dist="38100" dir="2700000" algn="tl" rotWithShape="0">
              <a:prstClr val="black">
                <a:alpha val="40000"/>
              </a:prstClr>
            </a:outerShdw>
          </a:effectLst>
        </p:spPr>
        <p:txBody>
          <a:bodyPr anchor="ctr"/>
          <a:lstStyle>
            <a:lvl1pPr algn="ctr">
              <a:defRPr sz="4000" b="1">
                <a:solidFill>
                  <a:schemeClr val="tx2"/>
                </a:solidFill>
              </a:defRPr>
            </a:lvl1pPr>
          </a:lstStyle>
          <a:p>
            <a:r>
              <a:rPr lang="zh-CN" altLang="en-US" dirty="0"/>
              <a:t>单击此处编辑母版标题样式</a:t>
            </a:r>
          </a:p>
        </p:txBody>
      </p:sp>
      <p:pic>
        <p:nvPicPr>
          <p:cNvPr id="7" name="图片 6">
            <a:extLst>
              <a:ext uri="{FF2B5EF4-FFF2-40B4-BE49-F238E27FC236}">
                <a16:creationId xmlns:a16="http://schemas.microsoft.com/office/drawing/2014/main" id="{7B04C2BD-8375-4CA5-A006-B014FC0FB530}"/>
              </a:ext>
            </a:extLst>
          </p:cNvPr>
          <p:cNvPicPr>
            <a:picLocks noChangeAspect="1"/>
          </p:cNvPicPr>
          <p:nvPr userDrawn="1"/>
        </p:nvPicPr>
        <p:blipFill rotWithShape="1">
          <a:blip r:embed="rId3" cstate="print"/>
          <a:srcRect r="1346"/>
          <a:stretch/>
        </p:blipFill>
        <p:spPr>
          <a:xfrm>
            <a:off x="516" y="6041797"/>
            <a:ext cx="12166903" cy="411617"/>
          </a:xfrm>
          <a:prstGeom prst="rect">
            <a:avLst/>
          </a:prstGeom>
        </p:spPr>
      </p:pic>
      <p:sp>
        <p:nvSpPr>
          <p:cNvPr id="8" name="文本占位符 38">
            <a:extLst>
              <a:ext uri="{FF2B5EF4-FFF2-40B4-BE49-F238E27FC236}">
                <a16:creationId xmlns:a16="http://schemas.microsoft.com/office/drawing/2014/main" id="{E32F64F0-3B16-41D3-A21E-C57551DE700E}"/>
              </a:ext>
            </a:extLst>
          </p:cNvPr>
          <p:cNvSpPr>
            <a:spLocks noGrp="1"/>
          </p:cNvSpPr>
          <p:nvPr>
            <p:ph type="body" sz="quarter" idx="11"/>
          </p:nvPr>
        </p:nvSpPr>
        <p:spPr>
          <a:xfrm>
            <a:off x="4654075" y="4054685"/>
            <a:ext cx="6489700" cy="1534265"/>
          </a:xfrm>
          <a:prstGeom prst="rect">
            <a:avLst/>
          </a:prstGeom>
        </p:spPr>
        <p:txBody>
          <a:bodyPr/>
          <a:lstStyle>
            <a:lvl1pPr marL="0" indent="0" algn="just">
              <a:lnSpc>
                <a:spcPct val="130000"/>
              </a:lnSpc>
              <a:buNone/>
              <a:defRPr sz="2200">
                <a:solidFill>
                  <a:schemeClr val="accent2"/>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spTree>
    <p:extLst>
      <p:ext uri="{BB962C8B-B14F-4D97-AF65-F5344CB8AC3E}">
        <p14:creationId xmlns:p14="http://schemas.microsoft.com/office/powerpoint/2010/main" val="107777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DFAE37BE-F1B1-4D9C-A3B6-56648BA1CF1D}"/>
              </a:ext>
            </a:extLst>
          </p:cNvPr>
          <p:cNvCxnSpPr/>
          <p:nvPr userDrawn="1"/>
        </p:nvCxnSpPr>
        <p:spPr>
          <a:xfrm>
            <a:off x="304800" y="3429000"/>
            <a:ext cx="2197510" cy="0"/>
          </a:xfrm>
          <a:prstGeom prst="line">
            <a:avLst/>
          </a:prstGeom>
          <a:noFill/>
          <a:ln w="6350" cap="flat" cmpd="sng" algn="ctr">
            <a:solidFill>
              <a:srgbClr val="FFFFFF"/>
            </a:solidFill>
            <a:prstDash val="solid"/>
            <a:miter lim="800000"/>
          </a:ln>
          <a:effectLst/>
        </p:spPr>
      </p:cxnSp>
      <p:cxnSp>
        <p:nvCxnSpPr>
          <p:cNvPr id="11" name="直接连接符 10">
            <a:extLst>
              <a:ext uri="{FF2B5EF4-FFF2-40B4-BE49-F238E27FC236}">
                <a16:creationId xmlns:a16="http://schemas.microsoft.com/office/drawing/2014/main" id="{F501B036-7786-46C7-98A8-6857014E016B}"/>
              </a:ext>
            </a:extLst>
          </p:cNvPr>
          <p:cNvCxnSpPr/>
          <p:nvPr userDrawn="1"/>
        </p:nvCxnSpPr>
        <p:spPr>
          <a:xfrm>
            <a:off x="9689690" y="3429000"/>
            <a:ext cx="2197510" cy="0"/>
          </a:xfrm>
          <a:prstGeom prst="line">
            <a:avLst/>
          </a:prstGeom>
          <a:noFill/>
          <a:ln w="6350" cap="flat" cmpd="sng" algn="ctr">
            <a:solidFill>
              <a:srgbClr val="FFFFFF"/>
            </a:solidFill>
            <a:prstDash val="solid"/>
            <a:miter lim="800000"/>
          </a:ln>
          <a:effectLst/>
        </p:spPr>
      </p:cxnSp>
      <p:sp>
        <p:nvSpPr>
          <p:cNvPr id="13" name="文本占位符 31">
            <a:extLst>
              <a:ext uri="{FF2B5EF4-FFF2-40B4-BE49-F238E27FC236}">
                <a16:creationId xmlns:a16="http://schemas.microsoft.com/office/drawing/2014/main" id="{947A5DF3-60A2-4866-9A4F-599F80ED898E}"/>
              </a:ext>
            </a:extLst>
          </p:cNvPr>
          <p:cNvSpPr txBox="1">
            <a:spLocks/>
          </p:cNvSpPr>
          <p:nvPr userDrawn="1"/>
        </p:nvSpPr>
        <p:spPr>
          <a:xfrm>
            <a:off x="2555162" y="3129756"/>
            <a:ext cx="7081677" cy="598488"/>
          </a:xfrm>
          <a:prstGeom prst="rect">
            <a:avLst/>
          </a:prstGeom>
        </p:spPr>
        <p:txBody>
          <a:bodyPr anchor="ctr"/>
          <a:lstStyle>
            <a:lvl1pPr marL="0" indent="0" algn="ctr" defTabSz="967710" rtl="0" eaLnBrk="1" latinLnBrk="0" hangingPunct="1">
              <a:lnSpc>
                <a:spcPct val="100000"/>
              </a:lnSpc>
              <a:spcBef>
                <a:spcPts val="1058"/>
              </a:spcBef>
              <a:buFontTx/>
              <a:buNone/>
              <a:defRPr sz="6000" b="1" kern="1200" spc="600">
                <a:solidFill>
                  <a:schemeClr val="bg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6000" b="1" i="0" u="none" strike="noStrike" kern="1200" cap="none" spc="600" normalizeH="0" baseline="0" noProof="0" dirty="0">
              <a:ln>
                <a:noFill/>
              </a:ln>
              <a:solidFill>
                <a:srgbClr val="FFFFFF"/>
              </a:solidFill>
              <a:effectLst/>
              <a:uLnTx/>
              <a:uFillTx/>
              <a:latin typeface="Arial"/>
              <a:ea typeface="微软雅黑"/>
              <a:cs typeface="+mn-cs"/>
            </a:endParaRPr>
          </a:p>
        </p:txBody>
      </p:sp>
      <p:pic>
        <p:nvPicPr>
          <p:cNvPr id="16" name="图片 15" descr="文本&#10;&#10;描述已自动生成">
            <a:extLst>
              <a:ext uri="{FF2B5EF4-FFF2-40B4-BE49-F238E27FC236}">
                <a16:creationId xmlns:a16="http://schemas.microsoft.com/office/drawing/2014/main" id="{F48AE7D4-DFEE-4825-B27E-30333F4A9B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75242" y="806450"/>
            <a:ext cx="3841516" cy="2692400"/>
          </a:xfrm>
          <a:prstGeom prst="rect">
            <a:avLst/>
          </a:prstGeom>
        </p:spPr>
      </p:pic>
      <p:sp>
        <p:nvSpPr>
          <p:cNvPr id="17" name="标题 1">
            <a:extLst>
              <a:ext uri="{FF2B5EF4-FFF2-40B4-BE49-F238E27FC236}">
                <a16:creationId xmlns:a16="http://schemas.microsoft.com/office/drawing/2014/main" id="{04CF1101-69DB-4A33-A9E2-33249567E39A}"/>
              </a:ext>
            </a:extLst>
          </p:cNvPr>
          <p:cNvSpPr>
            <a:spLocks noGrp="1"/>
          </p:cNvSpPr>
          <p:nvPr>
            <p:ph type="title" hasCustomPrompt="1"/>
          </p:nvPr>
        </p:nvSpPr>
        <p:spPr>
          <a:xfrm>
            <a:off x="2351313" y="3700057"/>
            <a:ext cx="7561943" cy="1060855"/>
          </a:xfrm>
          <a:prstGeom prst="rect">
            <a:avLst/>
          </a:prstGeom>
          <a:noFill/>
          <a:effectLst/>
        </p:spPr>
        <p:txBody>
          <a:bodyPr anchor="ctr">
            <a:noAutofit/>
          </a:bodyPr>
          <a:lstStyle>
            <a:lvl1pPr algn="ctr">
              <a:lnSpc>
                <a:spcPct val="100000"/>
              </a:lnSpc>
              <a:defRPr sz="4000" b="0">
                <a:solidFill>
                  <a:schemeClr val="tx2"/>
                </a:solidFill>
                <a:effectLst/>
              </a:defRPr>
            </a:lvl1pPr>
          </a:lstStyle>
          <a:p>
            <a:r>
              <a:rPr lang="zh-CN" altLang="en-US" dirty="0"/>
              <a:t>单击此处编辑标题样式</a:t>
            </a:r>
          </a:p>
        </p:txBody>
      </p:sp>
      <p:sp>
        <p:nvSpPr>
          <p:cNvPr id="19" name="文本框 18">
            <a:extLst>
              <a:ext uri="{FF2B5EF4-FFF2-40B4-BE49-F238E27FC236}">
                <a16:creationId xmlns:a16="http://schemas.microsoft.com/office/drawing/2014/main" id="{7CE687FC-3BE9-4FBA-A63F-1E81331F6D34}"/>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20" name="文本框 19">
            <a:extLst>
              <a:ext uri="{FF2B5EF4-FFF2-40B4-BE49-F238E27FC236}">
                <a16:creationId xmlns:a16="http://schemas.microsoft.com/office/drawing/2014/main" id="{25A3466E-5ED7-4191-A258-206517395BA4}"/>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21" name="直接连接符 20">
            <a:extLst>
              <a:ext uri="{FF2B5EF4-FFF2-40B4-BE49-F238E27FC236}">
                <a16:creationId xmlns:a16="http://schemas.microsoft.com/office/drawing/2014/main" id="{E1DA9E16-0FEA-4E2C-8CE1-B167730F177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735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封底2">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DFAE37BE-F1B1-4D9C-A3B6-56648BA1CF1D}"/>
              </a:ext>
            </a:extLst>
          </p:cNvPr>
          <p:cNvCxnSpPr/>
          <p:nvPr userDrawn="1"/>
        </p:nvCxnSpPr>
        <p:spPr>
          <a:xfrm>
            <a:off x="304800" y="3429000"/>
            <a:ext cx="2197510" cy="0"/>
          </a:xfrm>
          <a:prstGeom prst="line">
            <a:avLst/>
          </a:prstGeom>
          <a:noFill/>
          <a:ln w="6350" cap="flat" cmpd="sng" algn="ctr">
            <a:solidFill>
              <a:srgbClr val="FFFFFF"/>
            </a:solidFill>
            <a:prstDash val="solid"/>
            <a:miter lim="800000"/>
          </a:ln>
          <a:effectLst/>
        </p:spPr>
      </p:cxnSp>
      <p:cxnSp>
        <p:nvCxnSpPr>
          <p:cNvPr id="11" name="直接连接符 10">
            <a:extLst>
              <a:ext uri="{FF2B5EF4-FFF2-40B4-BE49-F238E27FC236}">
                <a16:creationId xmlns:a16="http://schemas.microsoft.com/office/drawing/2014/main" id="{F501B036-7786-46C7-98A8-6857014E016B}"/>
              </a:ext>
            </a:extLst>
          </p:cNvPr>
          <p:cNvCxnSpPr/>
          <p:nvPr userDrawn="1"/>
        </p:nvCxnSpPr>
        <p:spPr>
          <a:xfrm>
            <a:off x="9689690" y="3429000"/>
            <a:ext cx="2197510" cy="0"/>
          </a:xfrm>
          <a:prstGeom prst="line">
            <a:avLst/>
          </a:prstGeom>
          <a:noFill/>
          <a:ln w="6350" cap="flat" cmpd="sng" algn="ctr">
            <a:solidFill>
              <a:srgbClr val="FFFFFF"/>
            </a:solidFill>
            <a:prstDash val="solid"/>
            <a:miter lim="800000"/>
          </a:ln>
          <a:effectLst/>
        </p:spPr>
      </p:cxnSp>
      <p:sp>
        <p:nvSpPr>
          <p:cNvPr id="13" name="文本占位符 31">
            <a:extLst>
              <a:ext uri="{FF2B5EF4-FFF2-40B4-BE49-F238E27FC236}">
                <a16:creationId xmlns:a16="http://schemas.microsoft.com/office/drawing/2014/main" id="{947A5DF3-60A2-4866-9A4F-599F80ED898E}"/>
              </a:ext>
            </a:extLst>
          </p:cNvPr>
          <p:cNvSpPr txBox="1">
            <a:spLocks/>
          </p:cNvSpPr>
          <p:nvPr userDrawn="1"/>
        </p:nvSpPr>
        <p:spPr>
          <a:xfrm>
            <a:off x="2555162" y="3129756"/>
            <a:ext cx="7081677" cy="598488"/>
          </a:xfrm>
          <a:prstGeom prst="rect">
            <a:avLst/>
          </a:prstGeom>
        </p:spPr>
        <p:txBody>
          <a:bodyPr anchor="ctr"/>
          <a:lstStyle>
            <a:lvl1pPr marL="0" indent="0" algn="ctr" defTabSz="967710" rtl="0" eaLnBrk="1" latinLnBrk="0" hangingPunct="1">
              <a:lnSpc>
                <a:spcPct val="100000"/>
              </a:lnSpc>
              <a:spcBef>
                <a:spcPts val="1058"/>
              </a:spcBef>
              <a:buFontTx/>
              <a:buNone/>
              <a:defRPr sz="6000" b="1" kern="1200" spc="600">
                <a:solidFill>
                  <a:schemeClr val="bg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6000" b="1" i="0" u="none" strike="noStrike" kern="1200" cap="none" spc="600" normalizeH="0" baseline="0" noProof="0" dirty="0">
              <a:ln>
                <a:noFill/>
              </a:ln>
              <a:solidFill>
                <a:srgbClr val="FFFFFF"/>
              </a:solidFill>
              <a:effectLst/>
              <a:uLnTx/>
              <a:uFillTx/>
              <a:latin typeface="Arial"/>
              <a:ea typeface="微软雅黑"/>
              <a:cs typeface="+mn-cs"/>
            </a:endParaRPr>
          </a:p>
        </p:txBody>
      </p:sp>
      <p:sp>
        <p:nvSpPr>
          <p:cNvPr id="19" name="文本框 18">
            <a:extLst>
              <a:ext uri="{FF2B5EF4-FFF2-40B4-BE49-F238E27FC236}">
                <a16:creationId xmlns:a16="http://schemas.microsoft.com/office/drawing/2014/main" id="{7CE687FC-3BE9-4FBA-A63F-1E81331F6D34}"/>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20" name="文本框 19">
            <a:extLst>
              <a:ext uri="{FF2B5EF4-FFF2-40B4-BE49-F238E27FC236}">
                <a16:creationId xmlns:a16="http://schemas.microsoft.com/office/drawing/2014/main" id="{25A3466E-5ED7-4191-A258-206517395BA4}"/>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21" name="直接连接符 20">
            <a:extLst>
              <a:ext uri="{FF2B5EF4-FFF2-40B4-BE49-F238E27FC236}">
                <a16:creationId xmlns:a16="http://schemas.microsoft.com/office/drawing/2014/main" id="{E1DA9E16-0FEA-4E2C-8CE1-B167730F177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pic>
        <p:nvPicPr>
          <p:cNvPr id="3" name="图片 2" descr="文本&#10;&#10;中度可信度描述已自动生成">
            <a:extLst>
              <a:ext uri="{FF2B5EF4-FFF2-40B4-BE49-F238E27FC236}">
                <a16:creationId xmlns:a16="http://schemas.microsoft.com/office/drawing/2014/main" id="{5723A9D1-EED7-4450-8C0A-D4F40F2B09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3315" y="1918497"/>
            <a:ext cx="4717143" cy="1550721"/>
          </a:xfrm>
          <a:prstGeom prst="rect">
            <a:avLst/>
          </a:prstGeom>
        </p:spPr>
      </p:pic>
      <p:sp>
        <p:nvSpPr>
          <p:cNvPr id="12" name="标题 1">
            <a:extLst>
              <a:ext uri="{FF2B5EF4-FFF2-40B4-BE49-F238E27FC236}">
                <a16:creationId xmlns:a16="http://schemas.microsoft.com/office/drawing/2014/main" id="{D828F617-93F6-4A6A-9A46-2F3977BC78B6}"/>
              </a:ext>
            </a:extLst>
          </p:cNvPr>
          <p:cNvSpPr>
            <a:spLocks noGrp="1"/>
          </p:cNvSpPr>
          <p:nvPr>
            <p:ph type="title" hasCustomPrompt="1"/>
          </p:nvPr>
        </p:nvSpPr>
        <p:spPr>
          <a:xfrm>
            <a:off x="6096001" y="2179233"/>
            <a:ext cx="5613400" cy="1060855"/>
          </a:xfrm>
          <a:prstGeom prst="rect">
            <a:avLst/>
          </a:prstGeom>
          <a:noFill/>
          <a:effectLst/>
        </p:spPr>
        <p:txBody>
          <a:bodyPr anchor="ctr">
            <a:noAutofit/>
          </a:bodyPr>
          <a:lstStyle>
            <a:lvl1pPr algn="ctr">
              <a:lnSpc>
                <a:spcPct val="100000"/>
              </a:lnSpc>
              <a:defRPr sz="4000" b="0">
                <a:solidFill>
                  <a:schemeClr val="tx2"/>
                </a:solidFill>
                <a:effectLst/>
              </a:defRPr>
            </a:lvl1pPr>
          </a:lstStyle>
          <a:p>
            <a:r>
              <a:rPr lang="zh-CN" altLang="en-US" dirty="0"/>
              <a:t>单击此处编辑标题样式</a:t>
            </a:r>
          </a:p>
        </p:txBody>
      </p:sp>
    </p:spTree>
    <p:extLst>
      <p:ext uri="{BB962C8B-B14F-4D97-AF65-F5344CB8AC3E}">
        <p14:creationId xmlns:p14="http://schemas.microsoft.com/office/powerpoint/2010/main" val="2778590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封底3">
    <p:bg>
      <p:bgPr>
        <a:solidFill>
          <a:schemeClr val="tx2"/>
        </a:solidFill>
        <a:effectLst/>
      </p:bgPr>
    </p:bg>
    <p:spTree>
      <p:nvGrpSpPr>
        <p:cNvPr id="1" name=""/>
        <p:cNvGrpSpPr/>
        <p:nvPr/>
      </p:nvGrpSpPr>
      <p:grpSpPr>
        <a:xfrm>
          <a:off x="0" y="0"/>
          <a:ext cx="0" cy="0"/>
          <a:chOff x="0" y="0"/>
          <a:chExt cx="0" cy="0"/>
        </a:xfrm>
      </p:grpSpPr>
      <p:sp>
        <p:nvSpPr>
          <p:cNvPr id="9" name="流程图: 离页连接符 8">
            <a:extLst>
              <a:ext uri="{FF2B5EF4-FFF2-40B4-BE49-F238E27FC236}">
                <a16:creationId xmlns:a16="http://schemas.microsoft.com/office/drawing/2014/main" id="{033EB741-EFF7-4BA9-9D9F-8D39CB76B557}"/>
              </a:ext>
            </a:extLst>
          </p:cNvPr>
          <p:cNvSpPr/>
          <p:nvPr userDrawn="1"/>
        </p:nvSpPr>
        <p:spPr>
          <a:xfrm>
            <a:off x="3419386" y="0"/>
            <a:ext cx="5353229" cy="5219695"/>
          </a:xfrm>
          <a:prstGeom prst="flowChartOffpageConnector">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0" name="文本占位符 31">
            <a:extLst>
              <a:ext uri="{FF2B5EF4-FFF2-40B4-BE49-F238E27FC236}">
                <a16:creationId xmlns:a16="http://schemas.microsoft.com/office/drawing/2014/main" id="{340CE4CD-6751-47F9-A2C4-46D3B98564CC}"/>
              </a:ext>
            </a:extLst>
          </p:cNvPr>
          <p:cNvSpPr txBox="1">
            <a:spLocks/>
          </p:cNvSpPr>
          <p:nvPr userDrawn="1"/>
        </p:nvSpPr>
        <p:spPr>
          <a:xfrm>
            <a:off x="2952571" y="2609847"/>
            <a:ext cx="6286859" cy="598488"/>
          </a:xfrm>
          <a:prstGeom prst="rect">
            <a:avLst/>
          </a:prstGeom>
        </p:spPr>
        <p:txBody>
          <a:bodyPr anchor="ctr"/>
          <a:lstStyle>
            <a:lvl1pPr marL="0" indent="0" algn="ctr" defTabSz="967710" rtl="0" eaLnBrk="1" latinLnBrk="0" hangingPunct="1">
              <a:lnSpc>
                <a:spcPct val="100000"/>
              </a:lnSpc>
              <a:spcBef>
                <a:spcPts val="1058"/>
              </a:spcBef>
              <a:buFontTx/>
              <a:buNone/>
              <a:defRPr sz="5400" b="1" kern="1200" spc="600">
                <a:solidFill>
                  <a:schemeClr val="accent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5400" b="1" i="0" u="none" strike="noStrike" kern="1200" cap="none" spc="600" normalizeH="0" baseline="0" noProof="0" dirty="0">
              <a:ln>
                <a:noFill/>
              </a:ln>
              <a:solidFill>
                <a:srgbClr val="C8161E"/>
              </a:solidFill>
              <a:effectLst/>
              <a:uLnTx/>
              <a:uFillTx/>
              <a:latin typeface="Arial"/>
              <a:ea typeface="微软雅黑"/>
              <a:cs typeface="+mn-cs"/>
            </a:endParaRPr>
          </a:p>
        </p:txBody>
      </p:sp>
      <p:pic>
        <p:nvPicPr>
          <p:cNvPr id="11" name="图片 10">
            <a:extLst>
              <a:ext uri="{FF2B5EF4-FFF2-40B4-BE49-F238E27FC236}">
                <a16:creationId xmlns:a16="http://schemas.microsoft.com/office/drawing/2014/main" id="{EF900DEE-6164-48C3-8797-16E7213B07EB}"/>
              </a:ext>
            </a:extLst>
          </p:cNvPr>
          <p:cNvPicPr>
            <a:picLocks noChangeAspect="1"/>
          </p:cNvPicPr>
          <p:nvPr userDrawn="1"/>
        </p:nvPicPr>
        <p:blipFill rotWithShape="1">
          <a:blip r:embed="rId2">
            <a:alphaModFix amt="20000"/>
            <a:duotone>
              <a:srgbClr val="ED7D31">
                <a:shade val="45000"/>
                <a:satMod val="135000"/>
              </a:srgbClr>
              <a:prstClr val="white"/>
            </a:duotone>
          </a:blip>
          <a:srcRect t="9831" b="36385"/>
          <a:stretch/>
        </p:blipFill>
        <p:spPr>
          <a:xfrm>
            <a:off x="3352562" y="6146610"/>
            <a:ext cx="5486876" cy="406590"/>
          </a:xfrm>
          <a:prstGeom prst="rect">
            <a:avLst/>
          </a:prstGeom>
        </p:spPr>
      </p:pic>
      <p:pic>
        <p:nvPicPr>
          <p:cNvPr id="12" name="图片 11">
            <a:extLst>
              <a:ext uri="{FF2B5EF4-FFF2-40B4-BE49-F238E27FC236}">
                <a16:creationId xmlns:a16="http://schemas.microsoft.com/office/drawing/2014/main" id="{CE9C0F90-B4B1-48B6-B1D3-91ACC9BAE7A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86410" y="188997"/>
            <a:ext cx="3019180" cy="2116050"/>
          </a:xfrm>
          <a:prstGeom prst="rect">
            <a:avLst/>
          </a:prstGeom>
        </p:spPr>
      </p:pic>
      <p:sp>
        <p:nvSpPr>
          <p:cNvPr id="13" name="任意多边形: 形状 12">
            <a:extLst>
              <a:ext uri="{FF2B5EF4-FFF2-40B4-BE49-F238E27FC236}">
                <a16:creationId xmlns:a16="http://schemas.microsoft.com/office/drawing/2014/main" id="{FB2C31BE-C0C5-4899-948E-BC783E5331C4}"/>
              </a:ext>
            </a:extLst>
          </p:cNvPr>
          <p:cNvSpPr/>
          <p:nvPr userDrawn="1"/>
        </p:nvSpPr>
        <p:spPr>
          <a:xfrm>
            <a:off x="3419386" y="4393629"/>
            <a:ext cx="5353229" cy="1461642"/>
          </a:xfrm>
          <a:custGeom>
            <a:avLst/>
            <a:gdLst>
              <a:gd name="connsiteX0" fmla="*/ 0 w 5353229"/>
              <a:gd name="connsiteY0" fmla="*/ 0 h 1461642"/>
              <a:gd name="connsiteX1" fmla="*/ 2676615 w 5353229"/>
              <a:gd name="connsiteY1" fmla="*/ 1043939 h 1461642"/>
              <a:gd name="connsiteX2" fmla="*/ 5353229 w 5353229"/>
              <a:gd name="connsiteY2" fmla="*/ 0 h 1461642"/>
              <a:gd name="connsiteX3" fmla="*/ 5353229 w 5353229"/>
              <a:gd name="connsiteY3" fmla="*/ 417703 h 1461642"/>
              <a:gd name="connsiteX4" fmla="*/ 2676615 w 5353229"/>
              <a:gd name="connsiteY4" fmla="*/ 1461642 h 1461642"/>
              <a:gd name="connsiteX5" fmla="*/ 0 w 5353229"/>
              <a:gd name="connsiteY5" fmla="*/ 417703 h 1461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53229" h="1461642">
                <a:moveTo>
                  <a:pt x="0" y="0"/>
                </a:moveTo>
                <a:lnTo>
                  <a:pt x="2676615" y="1043939"/>
                </a:lnTo>
                <a:lnTo>
                  <a:pt x="5353229" y="0"/>
                </a:lnTo>
                <a:lnTo>
                  <a:pt x="5353229" y="417703"/>
                </a:lnTo>
                <a:lnTo>
                  <a:pt x="2676615" y="1461642"/>
                </a:lnTo>
                <a:lnTo>
                  <a:pt x="0" y="417703"/>
                </a:lnTo>
                <a:close/>
              </a:path>
            </a:pathLst>
          </a:custGeom>
          <a:solidFill>
            <a:srgbClr val="FFFFFF"/>
          </a:solidFill>
          <a:ln w="12700" cap="flat" cmpd="sng" algn="ctr">
            <a:solidFill>
              <a:srgbClr val="FFFFFF"/>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4" name="图片 13" descr="图片包含 建筑物&#10;&#10;自动生成的说明">
            <a:extLst>
              <a:ext uri="{FF2B5EF4-FFF2-40B4-BE49-F238E27FC236}">
                <a16:creationId xmlns:a16="http://schemas.microsoft.com/office/drawing/2014/main" id="{05619C6E-49A8-4320-BAA1-41C03E721E4F}"/>
              </a:ext>
            </a:extLst>
          </p:cNvPr>
          <p:cNvPicPr>
            <a:picLocks noChangeAspect="1"/>
          </p:cNvPicPr>
          <p:nvPr userDrawn="1"/>
        </p:nvPicPr>
        <p:blipFill>
          <a:blip r:embed="rId4">
            <a:duotone>
              <a:prstClr val="black"/>
              <a:srgbClr val="C8161E">
                <a:tint val="45000"/>
                <a:satMod val="400000"/>
              </a:srgbClr>
            </a:duotone>
            <a:alphaModFix amt="20000"/>
            <a:extLst>
              <a:ext uri="{28A0092B-C50C-407E-A947-70E740481C1C}">
                <a14:useLocalDpi xmlns:a14="http://schemas.microsoft.com/office/drawing/2010/main" val="0"/>
              </a:ext>
            </a:extLst>
          </a:blip>
          <a:stretch>
            <a:fillRect/>
          </a:stretch>
        </p:blipFill>
        <p:spPr>
          <a:xfrm>
            <a:off x="-50417" y="2900149"/>
            <a:ext cx="12292835" cy="3957851"/>
          </a:xfrm>
          <a:prstGeom prst="rect">
            <a:avLst/>
          </a:prstGeom>
        </p:spPr>
      </p:pic>
      <p:sp>
        <p:nvSpPr>
          <p:cNvPr id="15" name="文本占位符 31">
            <a:extLst>
              <a:ext uri="{FF2B5EF4-FFF2-40B4-BE49-F238E27FC236}">
                <a16:creationId xmlns:a16="http://schemas.microsoft.com/office/drawing/2014/main" id="{545C6A52-683F-4BB0-A406-3D050A96C0FB}"/>
              </a:ext>
            </a:extLst>
          </p:cNvPr>
          <p:cNvSpPr>
            <a:spLocks noGrp="1"/>
          </p:cNvSpPr>
          <p:nvPr>
            <p:ph type="body" sz="quarter" idx="11"/>
          </p:nvPr>
        </p:nvSpPr>
        <p:spPr>
          <a:xfrm>
            <a:off x="3104971" y="2762247"/>
            <a:ext cx="6286859" cy="598488"/>
          </a:xfrm>
          <a:prstGeom prst="rect">
            <a:avLst/>
          </a:prstGeom>
        </p:spPr>
        <p:txBody>
          <a:bodyPr anchor="ctr"/>
          <a:lstStyle>
            <a:lvl1pPr marL="0" indent="0" algn="ctr">
              <a:lnSpc>
                <a:spcPct val="100000"/>
              </a:lnSpc>
              <a:buNone/>
              <a:defRPr sz="4800" b="1" spc="600">
                <a:solidFill>
                  <a:schemeClr val="tx2"/>
                </a:solidFill>
              </a:defRPr>
            </a:lvl1pPr>
          </a:lstStyle>
          <a:p>
            <a:pPr lvl="0"/>
            <a:endParaRPr lang="zh-CN" altLang="en-US" dirty="0"/>
          </a:p>
        </p:txBody>
      </p:sp>
    </p:spTree>
    <p:extLst>
      <p:ext uri="{BB962C8B-B14F-4D97-AF65-F5344CB8AC3E}">
        <p14:creationId xmlns:p14="http://schemas.microsoft.com/office/powerpoint/2010/main" val="1107452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8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87300B8-43AC-7282-DD4C-DD632D6598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3E7059-003C-8AA7-55FF-6A579C8B26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E168202-DF3B-7334-C82E-AAC184817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267CC3-4343-48E5-9368-0E5E1294B4F2}" type="datetimeFigureOut">
              <a:rPr lang="zh-CN" altLang="en-US" smtClean="0"/>
              <a:t>2024-09-02</a:t>
            </a:fld>
            <a:endParaRPr lang="zh-CN" altLang="en-US"/>
          </a:p>
        </p:txBody>
      </p:sp>
      <p:sp>
        <p:nvSpPr>
          <p:cNvPr id="5" name="页脚占位符 4">
            <a:extLst>
              <a:ext uri="{FF2B5EF4-FFF2-40B4-BE49-F238E27FC236}">
                <a16:creationId xmlns:a16="http://schemas.microsoft.com/office/drawing/2014/main" id="{E831F47E-EB76-3FCF-BA44-FAEA6BCC66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1158089-AA3D-2F57-ED69-02C408878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DDFF5-E89F-41E8-BEBB-A70E42EDFC12}" type="slidenum">
              <a:rPr lang="zh-CN" altLang="en-US" smtClean="0"/>
              <a:t>‹#›</a:t>
            </a:fld>
            <a:endParaRPr lang="zh-CN" altLang="en-US"/>
          </a:p>
        </p:txBody>
      </p:sp>
    </p:spTree>
    <p:extLst>
      <p:ext uri="{BB962C8B-B14F-4D97-AF65-F5344CB8AC3E}">
        <p14:creationId xmlns:p14="http://schemas.microsoft.com/office/powerpoint/2010/main" val="1224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0000"/>
            <a:lumOff val="80000"/>
            <a:alpha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961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6771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41927" indent="-241927" algn="l" defTabSz="967710" rtl="0" eaLnBrk="1" latinLnBrk="0" hangingPunct="1">
        <a:lnSpc>
          <a:spcPct val="90000"/>
        </a:lnSpc>
        <a:spcBef>
          <a:spcPts val="1058"/>
        </a:spcBef>
        <a:buFontTx/>
        <a:buBlip>
          <a:blip r:embed="rId19"/>
        </a:buBlip>
        <a:defRPr sz="2963" b="0" kern="1200">
          <a:solidFill>
            <a:schemeClr val="tx2">
              <a:lumMod val="75000"/>
              <a:lumOff val="25000"/>
            </a:schemeClr>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zh-CN"/>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1">
          <p15:clr>
            <a:srgbClr val="F26B43"/>
          </p15:clr>
        </p15:guide>
        <p15:guide id="2" orient="horz" pos="227">
          <p15:clr>
            <a:srgbClr val="F26B43"/>
          </p15:clr>
        </p15:guide>
        <p15:guide id="3" pos="3840">
          <p15:clr>
            <a:srgbClr val="F26B43"/>
          </p15:clr>
        </p15:guide>
        <p15:guide id="4" pos="227">
          <p15:clr>
            <a:srgbClr val="F26B43"/>
          </p15:clr>
        </p15:guide>
        <p15:guide id="5" orient="horz" pos="2041">
          <p15:clr>
            <a:srgbClr val="F26B43"/>
          </p15:clr>
        </p15:guide>
        <p15:guide id="6" pos="7446">
          <p15:clr>
            <a:srgbClr val="F26B43"/>
          </p15:clr>
        </p15:guide>
        <p15:guide id="7" orient="horz" pos="3651">
          <p15:clr>
            <a:srgbClr val="F26B43"/>
          </p15:clr>
        </p15:guide>
        <p15:guide id="8" orient="horz" pos="2514">
          <p15:clr>
            <a:srgbClr val="FDE53C"/>
          </p15:clr>
        </p15:guide>
        <p15:guide id="9" orient="horz" pos="1554">
          <p15:clr>
            <a:srgbClr val="FDE53C"/>
          </p15:clr>
        </p15:guide>
        <p15:guide id="12" pos="2418">
          <p15:clr>
            <a:srgbClr val="A4A3A4"/>
          </p15:clr>
        </p15:guide>
        <p15:guide id="13" pos="4830">
          <p15:clr>
            <a:srgbClr val="A4A3A4"/>
          </p15:clr>
        </p15:guide>
        <p15:guide id="14" orient="horz" pos="1356">
          <p15:clr>
            <a:srgbClr val="A4A3A4"/>
          </p15:clr>
        </p15:guide>
        <p15:guide id="15" orient="horz" pos="2718">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0.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0.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0.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矩形: 圆角 111">
            <a:extLst>
              <a:ext uri="{FF2B5EF4-FFF2-40B4-BE49-F238E27FC236}">
                <a16:creationId xmlns:a16="http://schemas.microsoft.com/office/drawing/2014/main" id="{A8997839-771A-D8F6-7B36-62BEFCED1083}"/>
              </a:ext>
            </a:extLst>
          </p:cNvPr>
          <p:cNvSpPr/>
          <p:nvPr/>
        </p:nvSpPr>
        <p:spPr>
          <a:xfrm>
            <a:off x="5431112" y="1256373"/>
            <a:ext cx="2205319" cy="1392544"/>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7" name="直接箭头连接符 116">
            <a:extLst>
              <a:ext uri="{FF2B5EF4-FFF2-40B4-BE49-F238E27FC236}">
                <a16:creationId xmlns:a16="http://schemas.microsoft.com/office/drawing/2014/main" id="{1175CFA7-4F5E-B229-2365-ECB03624921D}"/>
              </a:ext>
            </a:extLst>
          </p:cNvPr>
          <p:cNvCxnSpPr>
            <a:cxnSpLocks/>
            <a:stCxn id="221" idx="2"/>
            <a:endCxn id="134" idx="0"/>
          </p:cNvCxnSpPr>
          <p:nvPr/>
        </p:nvCxnSpPr>
        <p:spPr>
          <a:xfrm>
            <a:off x="6533773" y="2415643"/>
            <a:ext cx="0" cy="4461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8" name="直接箭头连接符 117">
            <a:extLst>
              <a:ext uri="{FF2B5EF4-FFF2-40B4-BE49-F238E27FC236}">
                <a16:creationId xmlns:a16="http://schemas.microsoft.com/office/drawing/2014/main" id="{82C17A5B-C3EE-BE84-6AEE-5F3447A39AF5}"/>
              </a:ext>
            </a:extLst>
          </p:cNvPr>
          <p:cNvCxnSpPr>
            <a:cxnSpLocks/>
            <a:stCxn id="127" idx="2"/>
            <a:endCxn id="220" idx="0"/>
          </p:cNvCxnSpPr>
          <p:nvPr/>
        </p:nvCxnSpPr>
        <p:spPr>
          <a:xfrm flipH="1">
            <a:off x="6533773" y="1073061"/>
            <a:ext cx="2" cy="5148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7" name="文本框 126">
            <a:extLst>
              <a:ext uri="{FF2B5EF4-FFF2-40B4-BE49-F238E27FC236}">
                <a16:creationId xmlns:a16="http://schemas.microsoft.com/office/drawing/2014/main" id="{C66C56DD-A8FA-6B4A-5D93-85E39B4D9DFC}"/>
              </a:ext>
            </a:extLst>
          </p:cNvPr>
          <p:cNvSpPr txBox="1"/>
          <p:nvPr/>
        </p:nvSpPr>
        <p:spPr>
          <a:xfrm>
            <a:off x="5839010" y="703729"/>
            <a:ext cx="1389530" cy="369332"/>
          </a:xfrm>
          <a:prstGeom prst="rect">
            <a:avLst/>
          </a:prstGeom>
          <a:noFill/>
        </p:spPr>
        <p:txBody>
          <a:bodyPr wrap="square" rtlCol="0">
            <a:spAutoFit/>
          </a:bodyPr>
          <a:lstStyle/>
          <a:p>
            <a:r>
              <a:rPr lang="en-US" altLang="zh-CN" dirty="0"/>
              <a:t>Inputs data</a:t>
            </a:r>
            <a:endParaRPr lang="zh-CN" altLang="en-US" dirty="0"/>
          </a:p>
        </p:txBody>
      </p:sp>
      <p:sp>
        <p:nvSpPr>
          <p:cNvPr id="128" name="文本框 127">
            <a:extLst>
              <a:ext uri="{FF2B5EF4-FFF2-40B4-BE49-F238E27FC236}">
                <a16:creationId xmlns:a16="http://schemas.microsoft.com/office/drawing/2014/main" id="{B41D7419-7AB5-F875-2162-AF5F1982197B}"/>
              </a:ext>
            </a:extLst>
          </p:cNvPr>
          <p:cNvSpPr txBox="1"/>
          <p:nvPr/>
        </p:nvSpPr>
        <p:spPr>
          <a:xfrm>
            <a:off x="5937765" y="5357391"/>
            <a:ext cx="1192014" cy="369332"/>
          </a:xfrm>
          <a:prstGeom prst="rect">
            <a:avLst/>
          </a:prstGeom>
          <a:noFill/>
        </p:spPr>
        <p:txBody>
          <a:bodyPr wrap="square" rtlCol="0">
            <a:spAutoFit/>
          </a:bodyPr>
          <a:lstStyle/>
          <a:p>
            <a:r>
              <a:rPr lang="en-US" altLang="zh-CN" dirty="0"/>
              <a:t>Pred data</a:t>
            </a:r>
            <a:endParaRPr lang="zh-CN" altLang="en-US" dirty="0"/>
          </a:p>
        </p:txBody>
      </p:sp>
      <p:sp>
        <p:nvSpPr>
          <p:cNvPr id="130" name="左大括号 129">
            <a:extLst>
              <a:ext uri="{FF2B5EF4-FFF2-40B4-BE49-F238E27FC236}">
                <a16:creationId xmlns:a16="http://schemas.microsoft.com/office/drawing/2014/main" id="{6D722D37-1E3A-B068-2992-77C0E665959E}"/>
              </a:ext>
            </a:extLst>
          </p:cNvPr>
          <p:cNvSpPr/>
          <p:nvPr/>
        </p:nvSpPr>
        <p:spPr>
          <a:xfrm>
            <a:off x="4977499" y="1256373"/>
            <a:ext cx="230092" cy="3271346"/>
          </a:xfrm>
          <a:prstGeom prst="leftBrace">
            <a:avLst>
              <a:gd name="adj1" fmla="val 8333"/>
              <a:gd name="adj2" fmla="val 5030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31" name="文本框 130">
            <a:extLst>
              <a:ext uri="{FF2B5EF4-FFF2-40B4-BE49-F238E27FC236}">
                <a16:creationId xmlns:a16="http://schemas.microsoft.com/office/drawing/2014/main" id="{8285198B-7F79-A8E1-52F2-05C74078DCFD}"/>
              </a:ext>
            </a:extLst>
          </p:cNvPr>
          <p:cNvSpPr txBox="1"/>
          <p:nvPr/>
        </p:nvSpPr>
        <p:spPr>
          <a:xfrm>
            <a:off x="4589127" y="2707380"/>
            <a:ext cx="357790" cy="369332"/>
          </a:xfrm>
          <a:prstGeom prst="rect">
            <a:avLst/>
          </a:prstGeom>
          <a:noFill/>
        </p:spPr>
        <p:txBody>
          <a:bodyPr wrap="none" rtlCol="0">
            <a:spAutoFit/>
          </a:bodyPr>
          <a:lstStyle/>
          <a:p>
            <a:r>
              <a:rPr lang="en-US" altLang="zh-CN" dirty="0"/>
              <a:t>N</a:t>
            </a:r>
            <a:endParaRPr lang="zh-CN" altLang="en-US" dirty="0"/>
          </a:p>
        </p:txBody>
      </p:sp>
      <p:sp>
        <p:nvSpPr>
          <p:cNvPr id="133" name="文本框 132">
            <a:extLst>
              <a:ext uri="{FF2B5EF4-FFF2-40B4-BE49-F238E27FC236}">
                <a16:creationId xmlns:a16="http://schemas.microsoft.com/office/drawing/2014/main" id="{8C052CDB-B684-753D-BC01-D55364173A41}"/>
              </a:ext>
            </a:extLst>
          </p:cNvPr>
          <p:cNvSpPr txBox="1"/>
          <p:nvPr/>
        </p:nvSpPr>
        <p:spPr>
          <a:xfrm>
            <a:off x="5395256" y="1257727"/>
            <a:ext cx="1218603" cy="369332"/>
          </a:xfrm>
          <a:prstGeom prst="rect">
            <a:avLst/>
          </a:prstGeom>
          <a:noFill/>
        </p:spPr>
        <p:txBody>
          <a:bodyPr wrap="square" rtlCol="0">
            <a:spAutoFit/>
          </a:bodyPr>
          <a:lstStyle/>
          <a:p>
            <a:r>
              <a:rPr lang="en-US" altLang="zh-CN" dirty="0"/>
              <a:t>hidden</a:t>
            </a:r>
            <a:endParaRPr lang="zh-CN" altLang="en-US" dirty="0"/>
          </a:p>
        </p:txBody>
      </p:sp>
      <p:sp>
        <p:nvSpPr>
          <p:cNvPr id="134" name="矩形: 圆角 133">
            <a:extLst>
              <a:ext uri="{FF2B5EF4-FFF2-40B4-BE49-F238E27FC236}">
                <a16:creationId xmlns:a16="http://schemas.microsoft.com/office/drawing/2014/main" id="{848870ED-138A-38D7-EA67-7805B0EC1FC9}"/>
              </a:ext>
            </a:extLst>
          </p:cNvPr>
          <p:cNvSpPr/>
          <p:nvPr/>
        </p:nvSpPr>
        <p:spPr>
          <a:xfrm>
            <a:off x="5431113" y="2861798"/>
            <a:ext cx="2205319" cy="38635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hidden</a:t>
            </a:r>
            <a:endParaRPr lang="zh-CN" altLang="en-US" dirty="0">
              <a:solidFill>
                <a:schemeClr val="tx1"/>
              </a:solidFill>
            </a:endParaRPr>
          </a:p>
        </p:txBody>
      </p:sp>
      <p:sp>
        <p:nvSpPr>
          <p:cNvPr id="140" name="矩形: 圆角 139">
            <a:extLst>
              <a:ext uri="{FF2B5EF4-FFF2-40B4-BE49-F238E27FC236}">
                <a16:creationId xmlns:a16="http://schemas.microsoft.com/office/drawing/2014/main" id="{5980CE12-05DC-54F8-DE63-CD81CA19C47F}"/>
              </a:ext>
            </a:extLst>
          </p:cNvPr>
          <p:cNvSpPr/>
          <p:nvPr/>
        </p:nvSpPr>
        <p:spPr>
          <a:xfrm>
            <a:off x="5431112" y="4141363"/>
            <a:ext cx="2205319" cy="38635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hidden</a:t>
            </a:r>
            <a:endParaRPr lang="zh-CN" altLang="en-US" dirty="0">
              <a:solidFill>
                <a:schemeClr val="tx1"/>
              </a:solidFill>
            </a:endParaRPr>
          </a:p>
        </p:txBody>
      </p:sp>
      <p:cxnSp>
        <p:nvCxnSpPr>
          <p:cNvPr id="141" name="直接箭头连接符 140">
            <a:extLst>
              <a:ext uri="{FF2B5EF4-FFF2-40B4-BE49-F238E27FC236}">
                <a16:creationId xmlns:a16="http://schemas.microsoft.com/office/drawing/2014/main" id="{856038FA-EF54-3D2C-0414-0AF7A9F2BB3B}"/>
              </a:ext>
            </a:extLst>
          </p:cNvPr>
          <p:cNvCxnSpPr>
            <a:cxnSpLocks/>
            <a:stCxn id="168" idx="2"/>
            <a:endCxn id="140" idx="0"/>
          </p:cNvCxnSpPr>
          <p:nvPr/>
        </p:nvCxnSpPr>
        <p:spPr>
          <a:xfrm flipH="1">
            <a:off x="6533772" y="3895137"/>
            <a:ext cx="1" cy="2462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5" name="直接箭头连接符 164">
            <a:extLst>
              <a:ext uri="{FF2B5EF4-FFF2-40B4-BE49-F238E27FC236}">
                <a16:creationId xmlns:a16="http://schemas.microsoft.com/office/drawing/2014/main" id="{AAC5AD93-F2B7-B22D-5336-DA8F581A3B98}"/>
              </a:ext>
            </a:extLst>
          </p:cNvPr>
          <p:cNvCxnSpPr>
            <a:cxnSpLocks/>
            <a:stCxn id="134" idx="2"/>
            <a:endCxn id="168" idx="0"/>
          </p:cNvCxnSpPr>
          <p:nvPr/>
        </p:nvCxnSpPr>
        <p:spPr>
          <a:xfrm>
            <a:off x="6533773" y="3248154"/>
            <a:ext cx="0" cy="2776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8" name="文本框 167">
            <a:extLst>
              <a:ext uri="{FF2B5EF4-FFF2-40B4-BE49-F238E27FC236}">
                <a16:creationId xmlns:a16="http://schemas.microsoft.com/office/drawing/2014/main" id="{13C3A9BE-9F3F-C483-BD00-E5D5CEE86357}"/>
              </a:ext>
            </a:extLst>
          </p:cNvPr>
          <p:cNvSpPr txBox="1"/>
          <p:nvPr/>
        </p:nvSpPr>
        <p:spPr>
          <a:xfrm>
            <a:off x="6360488" y="3525805"/>
            <a:ext cx="346570" cy="369332"/>
          </a:xfrm>
          <a:prstGeom prst="rect">
            <a:avLst/>
          </a:prstGeom>
          <a:noFill/>
        </p:spPr>
        <p:txBody>
          <a:bodyPr wrap="none" rtlCol="0">
            <a:spAutoFit/>
          </a:bodyPr>
          <a:lstStyle/>
          <a:p>
            <a:r>
              <a:rPr lang="en-US" altLang="zh-CN" dirty="0"/>
              <a:t>…</a:t>
            </a:r>
            <a:endParaRPr lang="zh-CN" altLang="en-US" dirty="0"/>
          </a:p>
        </p:txBody>
      </p:sp>
      <p:cxnSp>
        <p:nvCxnSpPr>
          <p:cNvPr id="193" name="直接箭头连接符 192">
            <a:extLst>
              <a:ext uri="{FF2B5EF4-FFF2-40B4-BE49-F238E27FC236}">
                <a16:creationId xmlns:a16="http://schemas.microsoft.com/office/drawing/2014/main" id="{D590346B-4913-33E7-4896-B7B1907405EC}"/>
              </a:ext>
            </a:extLst>
          </p:cNvPr>
          <p:cNvCxnSpPr>
            <a:cxnSpLocks/>
            <a:stCxn id="140" idx="2"/>
            <a:endCxn id="236" idx="0"/>
          </p:cNvCxnSpPr>
          <p:nvPr/>
        </p:nvCxnSpPr>
        <p:spPr>
          <a:xfrm>
            <a:off x="6533772" y="4527719"/>
            <a:ext cx="0" cy="301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0" name="矩形 219">
            <a:extLst>
              <a:ext uri="{FF2B5EF4-FFF2-40B4-BE49-F238E27FC236}">
                <a16:creationId xmlns:a16="http://schemas.microsoft.com/office/drawing/2014/main" id="{23516E29-43DA-A89C-E1FE-11E6B69AD259}"/>
              </a:ext>
            </a:extLst>
          </p:cNvPr>
          <p:cNvSpPr/>
          <p:nvPr/>
        </p:nvSpPr>
        <p:spPr>
          <a:xfrm>
            <a:off x="5839008" y="1587951"/>
            <a:ext cx="1389530" cy="268026"/>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sp>
        <p:nvSpPr>
          <p:cNvPr id="221" name="矩形 220">
            <a:extLst>
              <a:ext uri="{FF2B5EF4-FFF2-40B4-BE49-F238E27FC236}">
                <a16:creationId xmlns:a16="http://schemas.microsoft.com/office/drawing/2014/main" id="{C4C34249-BFE1-FAB2-7881-B3FD63F839B1}"/>
              </a:ext>
            </a:extLst>
          </p:cNvPr>
          <p:cNvSpPr/>
          <p:nvPr/>
        </p:nvSpPr>
        <p:spPr>
          <a:xfrm>
            <a:off x="5839008" y="2147618"/>
            <a:ext cx="1389530" cy="26802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ReLU</a:t>
            </a:r>
            <a:endParaRPr lang="zh-CN" altLang="en-US" sz="1600" dirty="0"/>
          </a:p>
        </p:txBody>
      </p:sp>
      <p:cxnSp>
        <p:nvCxnSpPr>
          <p:cNvPr id="222" name="直接箭头连接符 221">
            <a:extLst>
              <a:ext uri="{FF2B5EF4-FFF2-40B4-BE49-F238E27FC236}">
                <a16:creationId xmlns:a16="http://schemas.microsoft.com/office/drawing/2014/main" id="{02C6A0B4-04DA-B649-52FE-AC2CD9BD26CD}"/>
              </a:ext>
            </a:extLst>
          </p:cNvPr>
          <p:cNvCxnSpPr>
            <a:cxnSpLocks/>
            <a:stCxn id="220" idx="2"/>
            <a:endCxn id="221" idx="0"/>
          </p:cNvCxnSpPr>
          <p:nvPr/>
        </p:nvCxnSpPr>
        <p:spPr>
          <a:xfrm>
            <a:off x="6533773" y="1855977"/>
            <a:ext cx="0" cy="291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6" name="矩形 235">
            <a:extLst>
              <a:ext uri="{FF2B5EF4-FFF2-40B4-BE49-F238E27FC236}">
                <a16:creationId xmlns:a16="http://schemas.microsoft.com/office/drawing/2014/main" id="{88A46217-0571-B1C2-68B3-BE12EE2A4FC9}"/>
              </a:ext>
            </a:extLst>
          </p:cNvPr>
          <p:cNvSpPr/>
          <p:nvPr/>
        </p:nvSpPr>
        <p:spPr>
          <a:xfrm>
            <a:off x="5839007" y="4829398"/>
            <a:ext cx="1389530" cy="268026"/>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cxnSp>
        <p:nvCxnSpPr>
          <p:cNvPr id="239" name="直接箭头连接符 238">
            <a:extLst>
              <a:ext uri="{FF2B5EF4-FFF2-40B4-BE49-F238E27FC236}">
                <a16:creationId xmlns:a16="http://schemas.microsoft.com/office/drawing/2014/main" id="{96F620E2-D345-B6C3-F65D-1A2922B121A9}"/>
              </a:ext>
            </a:extLst>
          </p:cNvPr>
          <p:cNvCxnSpPr>
            <a:cxnSpLocks/>
            <a:stCxn id="236" idx="2"/>
            <a:endCxn id="128" idx="0"/>
          </p:cNvCxnSpPr>
          <p:nvPr/>
        </p:nvCxnSpPr>
        <p:spPr>
          <a:xfrm>
            <a:off x="6533772" y="5097424"/>
            <a:ext cx="0" cy="2599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24002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05ECC-F19C-469E-BAA3-7810EC50D4AF}"/>
              </a:ext>
            </a:extLst>
          </p:cNvPr>
          <p:cNvSpPr>
            <a:spLocks noGrp="1"/>
          </p:cNvSpPr>
          <p:nvPr>
            <p:ph type="title"/>
          </p:nvPr>
        </p:nvSpPr>
        <p:spPr/>
        <p:txBody>
          <a:bodyPr/>
          <a:lstStyle/>
          <a:p>
            <a:r>
              <a:rPr lang="zh-CN" altLang="en-US"/>
              <a:t>信道预测</a:t>
            </a:r>
            <a:r>
              <a:rPr lang="zh-CN" altLang="en-US" dirty="0"/>
              <a:t>任务</a:t>
            </a:r>
          </a:p>
        </p:txBody>
      </p:sp>
      <p:sp>
        <p:nvSpPr>
          <p:cNvPr id="3" name="内容占位符 2">
            <a:extLst>
              <a:ext uri="{FF2B5EF4-FFF2-40B4-BE49-F238E27FC236}">
                <a16:creationId xmlns:a16="http://schemas.microsoft.com/office/drawing/2014/main" id="{A7B5F1DE-2DCC-43FF-880E-DD1292091203}"/>
              </a:ext>
            </a:extLst>
          </p:cNvPr>
          <p:cNvSpPr>
            <a:spLocks noGrp="1"/>
          </p:cNvSpPr>
          <p:nvPr>
            <p:ph sz="quarter" idx="10"/>
          </p:nvPr>
        </p:nvSpPr>
        <p:spPr/>
        <p:txBody>
          <a:bodyPr/>
          <a:lstStyle/>
          <a:p>
            <a:r>
              <a:rPr lang="en-US" altLang="zh-CN" dirty="0"/>
              <a:t>2024</a:t>
            </a:r>
            <a:r>
              <a:rPr lang="zh-CN" altLang="en-US" dirty="0"/>
              <a:t>年</a:t>
            </a:r>
            <a:r>
              <a:rPr lang="en-US" altLang="zh-CN" dirty="0"/>
              <a:t>8</a:t>
            </a:r>
            <a:r>
              <a:rPr lang="zh-CN" altLang="en-US" dirty="0"/>
              <a:t>月</a:t>
            </a:r>
          </a:p>
        </p:txBody>
      </p:sp>
      <p:sp>
        <p:nvSpPr>
          <p:cNvPr id="4" name="文本占位符 3">
            <a:extLst>
              <a:ext uri="{FF2B5EF4-FFF2-40B4-BE49-F238E27FC236}">
                <a16:creationId xmlns:a16="http://schemas.microsoft.com/office/drawing/2014/main" id="{2D53CAF1-A9D1-4E1E-932D-D7D1FAD85530}"/>
              </a:ext>
            </a:extLst>
          </p:cNvPr>
          <p:cNvSpPr>
            <a:spLocks noGrp="1"/>
          </p:cNvSpPr>
          <p:nvPr>
            <p:ph type="body" sz="quarter" idx="11"/>
          </p:nvPr>
        </p:nvSpPr>
        <p:spPr/>
        <p:txBody>
          <a:bodyPr/>
          <a:lstStyle/>
          <a:p>
            <a:r>
              <a:rPr lang="zh-CN" altLang="en-US" dirty="0"/>
              <a:t>数据服务 </a:t>
            </a:r>
          </a:p>
        </p:txBody>
      </p:sp>
    </p:spTree>
    <p:extLst>
      <p:ext uri="{BB962C8B-B14F-4D97-AF65-F5344CB8AC3E}">
        <p14:creationId xmlns:p14="http://schemas.microsoft.com/office/powerpoint/2010/main" val="3003887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一、研究背景</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a:lnSpc>
                <a:spcPct val="120000"/>
              </a:lnSpc>
            </a:pPr>
            <a:r>
              <a:rPr lang="zh-CN" altLang="en-US" dirty="0">
                <a:latin typeface="宋体" panose="02010600030101010101" pitchFamily="2" charset="-122"/>
                <a:ea typeface="宋体" panose="02010600030101010101" pitchFamily="2" charset="-122"/>
                <a:cs typeface="Calibri" panose="020F0502020204030204" pitchFamily="34" charset="0"/>
              </a:rPr>
              <a:t>随着无线通信技术的持续进步，尤其是第五代（</a:t>
            </a:r>
            <a:r>
              <a:rPr lang="en-US" altLang="zh-CN" dirty="0">
                <a:latin typeface="宋体" panose="02010600030101010101" pitchFamily="2" charset="-122"/>
                <a:ea typeface="宋体" panose="02010600030101010101" pitchFamily="2" charset="-122"/>
                <a:cs typeface="Calibri" panose="020F0502020204030204" pitchFamily="34" charset="0"/>
              </a:rPr>
              <a:t>5G</a:t>
            </a:r>
            <a:r>
              <a:rPr lang="zh-CN" altLang="en-US" dirty="0">
                <a:latin typeface="宋体" panose="02010600030101010101" pitchFamily="2" charset="-122"/>
                <a:ea typeface="宋体" panose="02010600030101010101" pitchFamily="2" charset="-122"/>
                <a:cs typeface="Calibri" panose="020F0502020204030204" pitchFamily="34" charset="0"/>
              </a:rPr>
              <a:t>）移动通信系统的广泛部署，对信道状态信息（</a:t>
            </a:r>
            <a:r>
              <a:rPr lang="en-US" altLang="zh-CN" dirty="0">
                <a:latin typeface="宋体" panose="02010600030101010101" pitchFamily="2" charset="-122"/>
                <a:ea typeface="宋体" panose="02010600030101010101" pitchFamily="2" charset="-122"/>
                <a:cs typeface="Calibri" panose="020F0502020204030204" pitchFamily="34" charset="0"/>
              </a:rPr>
              <a:t>CSI</a:t>
            </a:r>
            <a:r>
              <a:rPr lang="zh-CN" altLang="en-US" dirty="0">
                <a:latin typeface="宋体" panose="02010600030101010101" pitchFamily="2" charset="-122"/>
                <a:ea typeface="宋体" panose="02010600030101010101" pitchFamily="2" charset="-122"/>
                <a:cs typeface="Calibri" panose="020F0502020204030204" pitchFamily="34" charset="0"/>
              </a:rPr>
              <a:t>）的精确预测成为了提升网络性能的关键因素。</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a:lnSpc>
                <a:spcPct val="120000"/>
              </a:lnSpc>
            </a:pPr>
            <a:r>
              <a:rPr lang="zh-CN" altLang="en-US" b="1" dirty="0">
                <a:latin typeface="宋体" panose="02010600030101010101" pitchFamily="2" charset="-122"/>
                <a:ea typeface="宋体" panose="02010600030101010101" pitchFamily="2" charset="-122"/>
                <a:cs typeface="Calibri" panose="020F0502020204030204" pitchFamily="34" charset="0"/>
              </a:rPr>
              <a:t>信道预测</a:t>
            </a:r>
            <a:r>
              <a:rPr lang="zh-CN" altLang="en-US" dirty="0">
                <a:latin typeface="宋体" panose="02010600030101010101" pitchFamily="2" charset="-122"/>
                <a:ea typeface="宋体" panose="02010600030101010101" pitchFamily="2" charset="-122"/>
                <a:cs typeface="Calibri" panose="020F0502020204030204" pitchFamily="34" charset="0"/>
              </a:rPr>
              <a:t>技术能够为无线资源管理、链路自适应调整以及干扰协调等提供重要支持，从而在保证服务质量和提高频谱利用率方面发挥着至关重要的作用。</a:t>
            </a:r>
            <a:endParaRPr lang="en-US" altLang="zh-CN" dirty="0">
              <a:latin typeface="宋体" panose="02010600030101010101" pitchFamily="2" charset="-122"/>
              <a:ea typeface="宋体" panose="02010600030101010101" pitchFamily="2" charset="-122"/>
              <a:cs typeface="Calibri" panose="020F0502020204030204" pitchFamily="34" charset="0"/>
            </a:endParaRPr>
          </a:p>
        </p:txBody>
      </p:sp>
      <p:pic>
        <p:nvPicPr>
          <p:cNvPr id="2" name="图片 1">
            <a:extLst>
              <a:ext uri="{FF2B5EF4-FFF2-40B4-BE49-F238E27FC236}">
                <a16:creationId xmlns:a16="http://schemas.microsoft.com/office/drawing/2014/main" id="{2E90264C-BB57-97EC-D220-09F1C0419862}"/>
              </a:ext>
            </a:extLst>
          </p:cNvPr>
          <p:cNvPicPr>
            <a:picLocks noChangeAspect="1"/>
          </p:cNvPicPr>
          <p:nvPr/>
        </p:nvPicPr>
        <p:blipFill>
          <a:blip r:embed="rId2"/>
          <a:stretch>
            <a:fillRect/>
          </a:stretch>
        </p:blipFill>
        <p:spPr>
          <a:xfrm>
            <a:off x="2858551" y="3930819"/>
            <a:ext cx="6240120" cy="1271967"/>
          </a:xfrm>
          <a:prstGeom prst="rect">
            <a:avLst/>
          </a:prstGeom>
        </p:spPr>
      </p:pic>
      <p:sp>
        <p:nvSpPr>
          <p:cNvPr id="3" name="文本框 2">
            <a:extLst>
              <a:ext uri="{FF2B5EF4-FFF2-40B4-BE49-F238E27FC236}">
                <a16:creationId xmlns:a16="http://schemas.microsoft.com/office/drawing/2014/main" id="{3E6714BD-C89A-55B3-EA68-3D5BE80B0BF6}"/>
              </a:ext>
            </a:extLst>
          </p:cNvPr>
          <p:cNvSpPr txBox="1"/>
          <p:nvPr/>
        </p:nvSpPr>
        <p:spPr>
          <a:xfrm>
            <a:off x="4746551" y="5268230"/>
            <a:ext cx="26072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信道预测任务示意图</a:t>
            </a:r>
          </a:p>
        </p:txBody>
      </p:sp>
    </p:spTree>
    <p:extLst>
      <p:ext uri="{BB962C8B-B14F-4D97-AF65-F5344CB8AC3E}">
        <p14:creationId xmlns:p14="http://schemas.microsoft.com/office/powerpoint/2010/main" val="231912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二、研究方法</a:t>
            </a:r>
          </a:p>
        </p:txBody>
      </p:sp>
      <mc:AlternateContent xmlns:mc="http://schemas.openxmlformats.org/markup-compatibility/2006" xmlns:a14="http://schemas.microsoft.com/office/drawing/2010/main">
        <mc:Choice Requires="a14">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normAutofit/>
              </a:bodyPr>
              <a:lstStyle/>
              <a:p>
                <a:pPr>
                  <a:lnSpc>
                    <a:spcPct val="120000"/>
                  </a:lnSpc>
                </a:pPr>
                <a:r>
                  <a:rPr lang="zh-CN" altLang="en-US" b="1" dirty="0">
                    <a:latin typeface="宋体" panose="02010600030101010101" pitchFamily="2" charset="-122"/>
                    <a:ea typeface="宋体" panose="02010600030101010101" pitchFamily="2" charset="-122"/>
                    <a:cs typeface="Calibri" panose="020F0502020204030204" pitchFamily="34" charset="0"/>
                  </a:rPr>
                  <a:t>信道预测</a:t>
                </a:r>
                <a:r>
                  <a:rPr lang="zh-CN" altLang="en-US" dirty="0">
                    <a:latin typeface="宋体" panose="02010600030101010101" pitchFamily="2" charset="-122"/>
                    <a:ea typeface="宋体" panose="02010600030101010101" pitchFamily="2" charset="-122"/>
                    <a:cs typeface="Calibri" panose="020F0502020204030204" pitchFamily="34" charset="0"/>
                  </a:rPr>
                  <a:t>中，数据维度较大会对物理层产生一定的传输代价，不利于预测模型的部署和使用，因此对原始的数据进行压缩，减少传输的数据维度，有利于预测模型的实际部署。</a:t>
                </a:r>
              </a:p>
              <a:p>
                <a:pPr>
                  <a:lnSpc>
                    <a:spcPct val="120000"/>
                  </a:lnSpc>
                </a:pPr>
                <a:r>
                  <a:rPr lang="zh-CN" altLang="en-US" dirty="0">
                    <a:latin typeface="宋体" panose="02010600030101010101" pitchFamily="2" charset="-122"/>
                    <a:ea typeface="宋体" panose="02010600030101010101" pitchFamily="2" charset="-122"/>
                    <a:cs typeface="Calibri" panose="020F0502020204030204" pitchFamily="34" charset="0"/>
                  </a:rPr>
                  <a:t>使用</a:t>
                </a:r>
                <a:r>
                  <a:rPr lang="en-US" altLang="zh-CN" dirty="0">
                    <a:latin typeface="宋体" panose="02010600030101010101" pitchFamily="2" charset="-122"/>
                    <a:ea typeface="宋体" panose="02010600030101010101" pitchFamily="2" charset="-122"/>
                    <a:cs typeface="Calibri" panose="020F0502020204030204" pitchFamily="34" charset="0"/>
                  </a:rPr>
                  <a:t>C</a:t>
                </a:r>
                <a:r>
                  <a:rPr lang="zh-CN" altLang="en-US" dirty="0">
                    <a:latin typeface="宋体" panose="02010600030101010101" pitchFamily="2" charset="-122"/>
                    <a:ea typeface="宋体" panose="02010600030101010101" pitchFamily="2" charset="-122"/>
                    <a:cs typeface="Calibri" panose="020F0502020204030204" pitchFamily="34" charset="0"/>
                  </a:rPr>
                  <a:t>表示一个带有压缩和复原功能的模型，</a:t>
                </a:r>
                <a:r>
                  <a:rPr lang="en-US" altLang="zh-CN" dirty="0">
                    <a:latin typeface="宋体" panose="02010600030101010101" pitchFamily="2" charset="-122"/>
                    <a:ea typeface="宋体" panose="02010600030101010101" pitchFamily="2" charset="-122"/>
                    <a:cs typeface="Calibri" panose="020F0502020204030204" pitchFamily="34" charset="0"/>
                  </a:rPr>
                  <a:t>G</a:t>
                </a:r>
                <a:r>
                  <a:rPr lang="zh-CN" altLang="en-US" dirty="0">
                    <a:latin typeface="宋体" panose="02010600030101010101" pitchFamily="2" charset="-122"/>
                    <a:ea typeface="宋体" panose="02010600030101010101" pitchFamily="2" charset="-122"/>
                    <a:cs typeface="Calibri" panose="020F0502020204030204" pitchFamily="34" charset="0"/>
                  </a:rPr>
                  <a:t>为预测模型，则</a:t>
                </a:r>
                <a:r>
                  <a:rPr lang="zh-CN" altLang="en-US" b="1" dirty="0">
                    <a:latin typeface="宋体" panose="02010600030101010101" pitchFamily="2" charset="-122"/>
                    <a:ea typeface="宋体" panose="02010600030101010101" pitchFamily="2" charset="-122"/>
                    <a:cs typeface="Calibri" panose="020F0502020204030204" pitchFamily="34" charset="0"/>
                  </a:rPr>
                  <a:t>压缩信道预测</a:t>
                </a:r>
                <a:r>
                  <a:rPr lang="zh-CN" altLang="en-US" dirty="0">
                    <a:latin typeface="宋体" panose="02010600030101010101" pitchFamily="2" charset="-122"/>
                    <a:ea typeface="宋体" panose="02010600030101010101" pitchFamily="2" charset="-122"/>
                    <a:cs typeface="Calibri" panose="020F0502020204030204" pitchFamily="34" charset="0"/>
                  </a:rPr>
                  <a:t>存在两种方法：</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lvl="1"/>
                <a:r>
                  <a:rPr lang="zh-CN" altLang="en-US" sz="2000" dirty="0">
                    <a:latin typeface="宋体" panose="02010600030101010101" pitchFamily="2" charset="-122"/>
                    <a:ea typeface="宋体" panose="02010600030101010101" pitchFamily="2" charset="-122"/>
                    <a:cs typeface="Calibri" panose="020F0502020204030204" pitchFamily="34" charset="0"/>
                  </a:rPr>
                  <a:t>预测压缩模型</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marL="483855" lvl="1" indent="0">
                  <a:buNone/>
                </a:pP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+2</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m:t>
                          </m:r>
                          <m:r>
                            <m:rPr>
                              <m:sty m:val="p"/>
                            </m:rPr>
                            <a:rPr lang="en-US" altLang="zh-CN" sz="2000">
                              <a:latin typeface="Cambria Math" panose="02040503050406030204" pitchFamily="18" charset="0"/>
                            </a:rPr>
                            <m:t>k</m:t>
                          </m:r>
                        </m:sub>
                      </m:sSub>
                      <m:r>
                        <a:rPr lang="en-US" altLang="zh-CN" sz="2000">
                          <a:latin typeface="Cambria Math" panose="02040503050406030204" pitchFamily="18" charset="0"/>
                        </a:rPr>
                        <m:t>)=</m:t>
                      </m:r>
                      <m:r>
                        <m:rPr>
                          <m:sty m:val="p"/>
                        </m:rPr>
                        <a:rPr lang="en-US" altLang="zh-CN" sz="2000">
                          <a:latin typeface="Cambria Math" panose="02040503050406030204" pitchFamily="18" charset="0"/>
                        </a:rPr>
                        <m:t>C</m:t>
                      </m:r>
                      <m:r>
                        <a:rPr lang="en-US" altLang="zh-CN" sz="2000">
                          <a:latin typeface="Cambria Math" panose="02040503050406030204" pitchFamily="18" charset="0"/>
                        </a:rPr>
                        <m:t>(</m:t>
                      </m:r>
                      <m:r>
                        <m:rPr>
                          <m:sty m:val="p"/>
                        </m:rPr>
                        <a:rPr lang="en-US" altLang="zh-CN" sz="2000">
                          <a:latin typeface="Cambria Math" panose="02040503050406030204" pitchFamily="18" charset="0"/>
                        </a:rPr>
                        <m:t>G</m:t>
                      </m:r>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m:t>
                              </m:r>
                              <m:r>
                                <m:rPr>
                                  <m:sty m:val="p"/>
                                </m:rPr>
                                <a:rPr lang="en-US" altLang="zh-CN" sz="2000">
                                  <a:latin typeface="Cambria Math" panose="02040503050406030204" pitchFamily="18" charset="0"/>
                                </a:rPr>
                                <m:t>L</m:t>
                              </m:r>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sub>
                          </m:sSub>
                        </m:e>
                      </m:d>
                    </m:oMath>
                  </m:oMathPara>
                </a14:m>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1"/>
                <a:r>
                  <a:rPr lang="zh-CN" altLang="en-US" sz="2000" dirty="0">
                    <a:latin typeface="宋体" panose="02010600030101010101" pitchFamily="2" charset="-122"/>
                    <a:ea typeface="宋体" panose="02010600030101010101" pitchFamily="2" charset="-122"/>
                    <a:cs typeface="Calibri" panose="020F0502020204030204" pitchFamily="34" charset="0"/>
                  </a:rPr>
                  <a:t>压缩</a:t>
                </a:r>
                <a14:m>
                  <m:oMath xmlns:m="http://schemas.openxmlformats.org/officeDocument/2006/math">
                    <m:r>
                      <a:rPr lang="zh-CN" altLang="en-US" sz="2000" dirty="0">
                        <a:latin typeface="Cambria Math" panose="02040503050406030204" pitchFamily="18" charset="0"/>
                      </a:rPr>
                      <m:t>预测模型</m:t>
                    </m:r>
                  </m:oMath>
                </a14:m>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marL="483855" lvl="1" indent="0">
                  <a:buNone/>
                </a:pP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+2</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m:t>
                          </m:r>
                          <m:r>
                            <m:rPr>
                              <m:sty m:val="p"/>
                            </m:rPr>
                            <a:rPr lang="en-US" altLang="zh-CN" sz="2000">
                              <a:latin typeface="Cambria Math" panose="02040503050406030204" pitchFamily="18" charset="0"/>
                            </a:rPr>
                            <m:t>k</m:t>
                          </m:r>
                        </m:sub>
                      </m:sSub>
                      <m:r>
                        <a:rPr lang="en-US" altLang="zh-CN" sz="2000">
                          <a:latin typeface="Cambria Math" panose="02040503050406030204" pitchFamily="18" charset="0"/>
                        </a:rPr>
                        <m:t>)=</m:t>
                      </m:r>
                      <m:r>
                        <m:rPr>
                          <m:sty m:val="p"/>
                        </m:rPr>
                        <a:rPr lang="en-US" altLang="zh-CN" sz="2000">
                          <a:latin typeface="Cambria Math" panose="02040503050406030204" pitchFamily="18" charset="0"/>
                        </a:rPr>
                        <m:t>G</m:t>
                      </m:r>
                      <m:r>
                        <a:rPr lang="en-US" altLang="zh-CN" sz="2000">
                          <a:latin typeface="Cambria Math" panose="02040503050406030204" pitchFamily="18" charset="0"/>
                        </a:rPr>
                        <m:t>(</m:t>
                      </m:r>
                      <m:r>
                        <m:rPr>
                          <m:sty m:val="p"/>
                        </m:rPr>
                        <a:rPr lang="en-US" altLang="zh-CN" sz="2000">
                          <a:latin typeface="Cambria Math" panose="02040503050406030204" pitchFamily="18" charset="0"/>
                        </a:rPr>
                        <m:t>C</m:t>
                      </m:r>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r>
                                <a:rPr lang="en-US" altLang="zh-CN" sz="2000">
                                  <a:latin typeface="Cambria Math" panose="02040503050406030204" pitchFamily="18" charset="0"/>
                                </a:rPr>
                                <m:t>−</m:t>
                              </m:r>
                              <m:r>
                                <m:rPr>
                                  <m:sty m:val="p"/>
                                </m:rPr>
                                <a:rPr lang="en-US" altLang="zh-CN" sz="2000">
                                  <a:latin typeface="Cambria Math" panose="02040503050406030204" pitchFamily="18" charset="0"/>
                                </a:rPr>
                                <m:t>L</m:t>
                              </m:r>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X</m:t>
                              </m:r>
                            </m:e>
                            <m:sub>
                              <m:r>
                                <m:rPr>
                                  <m:sty m:val="p"/>
                                </m:rPr>
                                <a:rPr lang="en-US" altLang="zh-CN" sz="2000">
                                  <a:latin typeface="Cambria Math" panose="02040503050406030204" pitchFamily="18" charset="0"/>
                                </a:rPr>
                                <m:t>t</m:t>
                              </m:r>
                            </m:sub>
                          </m:sSub>
                        </m:e>
                      </m:d>
                      <m:r>
                        <a:rPr lang="en-US" altLang="zh-CN" sz="2000">
                          <a:latin typeface="Cambria Math" panose="02040503050406030204" pitchFamily="18" charset="0"/>
                        </a:rPr>
                        <m:t>)</m:t>
                      </m:r>
                    </m:oMath>
                  </m:oMathPara>
                </a14:m>
                <a:endParaRPr lang="zh-CN" altLang="zh-CN" sz="2000" dirty="0">
                  <a:latin typeface="宋体" panose="02010600030101010101" pitchFamily="2" charset="-122"/>
                  <a:ea typeface="宋体" panose="02010600030101010101" pitchFamily="2" charset="-122"/>
                  <a:cs typeface="Calibri" panose="020F0502020204030204" pitchFamily="34" charset="0"/>
                </a:endParaRPr>
              </a:p>
              <a:p>
                <a:pPr>
                  <a:lnSpc>
                    <a:spcPct val="120000"/>
                  </a:lnSpc>
                </a:pPr>
                <a:endParaRPr lang="zh-CN" altLang="en-US" dirty="0">
                  <a:latin typeface="宋体" panose="02010600030101010101" pitchFamily="2" charset="-122"/>
                  <a:ea typeface="宋体" panose="02010600030101010101" pitchFamily="2" charset="-122"/>
                  <a:cs typeface="Calibri" panose="020F0502020204030204" pitchFamily="34" charset="0"/>
                </a:endParaRPr>
              </a:p>
              <a:p>
                <a:pPr>
                  <a:lnSpc>
                    <a:spcPct val="120000"/>
                  </a:lnSpc>
                </a:pPr>
                <a:endParaRPr lang="en-US" altLang="zh-CN" dirty="0"/>
              </a:p>
            </p:txBody>
          </p:sp>
        </mc:Choice>
        <mc:Fallback xmlns="">
          <p:sp>
            <p:nvSpPr>
              <p:cNvPr id="24" name="内容占位符 23">
                <a:extLst>
                  <a:ext uri="{FF2B5EF4-FFF2-40B4-BE49-F238E27FC236}">
                    <a16:creationId xmlns:a16="http://schemas.microsoft.com/office/drawing/2014/main" id="{DD1CC97B-827D-430E-B8C4-D5CB49F6B127}"/>
                  </a:ext>
                </a:extLst>
              </p:cNvPr>
              <p:cNvSpPr>
                <a:spLocks noGrp="1" noRot="1" noChangeAspect="1" noMove="1" noResize="1" noEditPoints="1" noAdjustHandles="1" noChangeArrowheads="1" noChangeShapeType="1" noTextEdit="1"/>
              </p:cNvSpPr>
              <p:nvPr>
                <p:ph sz="quarter" idx="10"/>
              </p:nvPr>
            </p:nvSpPr>
            <p:spPr>
              <a:blipFill>
                <a:blip r:embed="rId2"/>
                <a:stretch>
                  <a:fillRect t="-7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98560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-MLP</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7" y="1142440"/>
            <a:ext cx="6897591" cy="4991454"/>
          </a:xfrm>
        </p:spPr>
        <p:txBody>
          <a:bodyPr>
            <a:normAutofit/>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MLP</a:t>
            </a:r>
            <a:r>
              <a:rPr lang="zh-CN" altLang="zh-CN" b="1" dirty="0">
                <a:latin typeface="宋体" panose="02010600030101010101" pitchFamily="2" charset="-122"/>
                <a:ea typeface="宋体" panose="02010600030101010101" pitchFamily="2" charset="-122"/>
                <a:cs typeface="Calibri" panose="020F0502020204030204" pitchFamily="34" charset="0"/>
              </a:rPr>
              <a:t>模型</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zh-CN" dirty="0">
                <a:latin typeface="宋体" panose="02010600030101010101" pitchFamily="2" charset="-122"/>
                <a:ea typeface="宋体" panose="02010600030101010101" pitchFamily="2" charset="-122"/>
                <a:cs typeface="Calibri" panose="020F0502020204030204" pitchFamily="34" charset="0"/>
              </a:rPr>
              <a:t>采用</a:t>
            </a:r>
            <a:r>
              <a:rPr lang="zh-CN" altLang="en-US" dirty="0">
                <a:latin typeface="宋体" panose="02010600030101010101" pitchFamily="2" charset="-122"/>
                <a:ea typeface="宋体" panose="02010600030101010101" pitchFamily="2" charset="-122"/>
                <a:cs typeface="Calibri" panose="020F0502020204030204" pitchFamily="34" charset="0"/>
              </a:rPr>
              <a:t>多个全连接层以及</a:t>
            </a:r>
            <a:r>
              <a:rPr lang="en-US" altLang="zh-CN" dirty="0">
                <a:latin typeface="宋体" panose="02010600030101010101" pitchFamily="2" charset="-122"/>
                <a:ea typeface="宋体" panose="02010600030101010101" pitchFamily="2" charset="-122"/>
                <a:cs typeface="Calibri" panose="020F0502020204030204" pitchFamily="34" charset="0"/>
              </a:rPr>
              <a:t>ReLU</a:t>
            </a:r>
            <a:r>
              <a:rPr lang="zh-CN" altLang="zh-CN" dirty="0">
                <a:latin typeface="宋体" panose="02010600030101010101" pitchFamily="2" charset="-122"/>
                <a:ea typeface="宋体" panose="02010600030101010101" pitchFamily="2" charset="-122"/>
                <a:cs typeface="Calibri" panose="020F0502020204030204" pitchFamily="34" charset="0"/>
              </a:rPr>
              <a:t>函数搭建</a:t>
            </a:r>
            <a:r>
              <a:rPr lang="en-US" altLang="zh-CN" dirty="0">
                <a:latin typeface="宋体" panose="02010600030101010101" pitchFamily="2" charset="-122"/>
                <a:ea typeface="宋体" panose="02010600030101010101" pitchFamily="2" charset="-122"/>
                <a:cs typeface="Calibri" panose="020F0502020204030204" pitchFamily="34" charset="0"/>
              </a:rPr>
              <a:t>MLP</a:t>
            </a:r>
            <a:r>
              <a:rPr lang="zh-CN" altLang="zh-CN" dirty="0">
                <a:latin typeface="宋体" panose="02010600030101010101" pitchFamily="2" charset="-122"/>
                <a:ea typeface="宋体" panose="02010600030101010101" pitchFamily="2" charset="-122"/>
                <a:cs typeface="Calibri" panose="020F0502020204030204" pitchFamily="34" charset="0"/>
              </a:rPr>
              <a:t>模型。</a:t>
            </a:r>
            <a:endParaRPr lang="zh-CN" altLang="en-US"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en-US" dirty="0">
                <a:latin typeface="宋体" panose="02010600030101010101" pitchFamily="2" charset="-122"/>
                <a:ea typeface="宋体" panose="02010600030101010101" pitchFamily="2" charset="-122"/>
                <a:cs typeface="Calibri" panose="020F0502020204030204" pitchFamily="34" charset="0"/>
              </a:rPr>
              <a:t>因其简单的结构和通过激活函数（如</a:t>
            </a:r>
            <a:r>
              <a:rPr lang="en-US" altLang="zh-CN" dirty="0">
                <a:latin typeface="宋体" panose="02010600030101010101" pitchFamily="2" charset="-122"/>
                <a:ea typeface="宋体" panose="02010600030101010101" pitchFamily="2" charset="-122"/>
                <a:cs typeface="Calibri" panose="020F0502020204030204" pitchFamily="34" charset="0"/>
              </a:rPr>
              <a:t>ReLU</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Sigmoid</a:t>
            </a:r>
            <a:r>
              <a:rPr lang="zh-CN" altLang="en-US" dirty="0">
                <a:latin typeface="宋体" panose="02010600030101010101" pitchFamily="2" charset="-122"/>
                <a:ea typeface="宋体" panose="02010600030101010101" pitchFamily="2" charset="-122"/>
                <a:cs typeface="Calibri" panose="020F0502020204030204" pitchFamily="34" charset="0"/>
              </a:rPr>
              <a:t>）能够捕捉时间序列中的复杂非线性关系，而具有强大的非线性建模能力。</a:t>
            </a:r>
            <a:r>
              <a:rPr lang="en-US" altLang="zh-CN" dirty="0">
                <a:latin typeface="宋体" panose="02010600030101010101" pitchFamily="2" charset="-122"/>
                <a:ea typeface="宋体" panose="02010600030101010101" pitchFamily="2" charset="-122"/>
                <a:cs typeface="Calibri" panose="020F0502020204030204" pitchFamily="34" charset="0"/>
              </a:rPr>
              <a:t>MLP</a:t>
            </a:r>
            <a:r>
              <a:rPr lang="zh-CN" altLang="en-US" dirty="0">
                <a:latin typeface="宋体" panose="02010600030101010101" pitchFamily="2" charset="-122"/>
                <a:ea typeface="宋体" panose="02010600030101010101" pitchFamily="2" charset="-122"/>
                <a:cs typeface="Calibri" panose="020F0502020204030204" pitchFamily="34" charset="0"/>
              </a:rPr>
              <a:t>可以根据需要调整网络结构（如隐藏层数、每层的神经元数）和超参数（如学习率、批量大小）以适应不同的时间序列任务。因此，其能够有效地处理信道的多步预测问题。</a:t>
            </a: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sp>
        <p:nvSpPr>
          <p:cNvPr id="3" name="文本框 2">
            <a:extLst>
              <a:ext uri="{FF2B5EF4-FFF2-40B4-BE49-F238E27FC236}">
                <a16:creationId xmlns:a16="http://schemas.microsoft.com/office/drawing/2014/main" id="{AC991B9F-2957-0B89-664B-881462CA9DE8}"/>
              </a:ext>
            </a:extLst>
          </p:cNvPr>
          <p:cNvSpPr txBox="1"/>
          <p:nvPr/>
        </p:nvSpPr>
        <p:spPr>
          <a:xfrm>
            <a:off x="8898248" y="5863801"/>
            <a:ext cx="186990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MLP</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sp>
        <p:nvSpPr>
          <p:cNvPr id="2" name="矩形: 圆角 1">
            <a:extLst>
              <a:ext uri="{FF2B5EF4-FFF2-40B4-BE49-F238E27FC236}">
                <a16:creationId xmlns:a16="http://schemas.microsoft.com/office/drawing/2014/main" id="{8742DB7D-C9FF-0CD2-0401-4ABB854C3818}"/>
              </a:ext>
            </a:extLst>
          </p:cNvPr>
          <p:cNvSpPr/>
          <p:nvPr/>
        </p:nvSpPr>
        <p:spPr>
          <a:xfrm>
            <a:off x="8305034" y="1473765"/>
            <a:ext cx="2289753" cy="1392544"/>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箭头连接符 3">
            <a:extLst>
              <a:ext uri="{FF2B5EF4-FFF2-40B4-BE49-F238E27FC236}">
                <a16:creationId xmlns:a16="http://schemas.microsoft.com/office/drawing/2014/main" id="{EC7EF8F6-B4DA-8D81-9D0A-262413C42B7A}"/>
              </a:ext>
            </a:extLst>
          </p:cNvPr>
          <p:cNvCxnSpPr>
            <a:cxnSpLocks/>
            <a:stCxn id="17" idx="2"/>
            <a:endCxn id="10" idx="0"/>
          </p:cNvCxnSpPr>
          <p:nvPr/>
        </p:nvCxnSpPr>
        <p:spPr>
          <a:xfrm>
            <a:off x="9452900" y="2633035"/>
            <a:ext cx="1685" cy="4484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 name="直接箭头连接符 4">
            <a:extLst>
              <a:ext uri="{FF2B5EF4-FFF2-40B4-BE49-F238E27FC236}">
                <a16:creationId xmlns:a16="http://schemas.microsoft.com/office/drawing/2014/main" id="{7A684882-86C5-6A8C-4A50-9F61B4CC85EF}"/>
              </a:ext>
            </a:extLst>
          </p:cNvPr>
          <p:cNvCxnSpPr>
            <a:cxnSpLocks/>
            <a:stCxn id="6" idx="2"/>
            <a:endCxn id="16" idx="0"/>
          </p:cNvCxnSpPr>
          <p:nvPr/>
        </p:nvCxnSpPr>
        <p:spPr>
          <a:xfrm flipH="1">
            <a:off x="9452900" y="1290453"/>
            <a:ext cx="2" cy="5148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文本框 5">
            <a:extLst>
              <a:ext uri="{FF2B5EF4-FFF2-40B4-BE49-F238E27FC236}">
                <a16:creationId xmlns:a16="http://schemas.microsoft.com/office/drawing/2014/main" id="{E5B73574-3CE3-DB3D-D6A5-591421792E0D}"/>
              </a:ext>
            </a:extLst>
          </p:cNvPr>
          <p:cNvSpPr txBox="1"/>
          <p:nvPr/>
        </p:nvSpPr>
        <p:spPr>
          <a:xfrm>
            <a:off x="8758137" y="921121"/>
            <a:ext cx="1389530" cy="369332"/>
          </a:xfrm>
          <a:prstGeom prst="rect">
            <a:avLst/>
          </a:prstGeom>
          <a:noFill/>
        </p:spPr>
        <p:txBody>
          <a:bodyPr wrap="square" rtlCol="0">
            <a:spAutoFit/>
          </a:bodyPr>
          <a:lstStyle/>
          <a:p>
            <a:r>
              <a:rPr lang="en-US" altLang="zh-CN" dirty="0"/>
              <a:t>Inputs data</a:t>
            </a:r>
            <a:endParaRPr lang="zh-CN" altLang="en-US" dirty="0"/>
          </a:p>
        </p:txBody>
      </p:sp>
      <p:sp>
        <p:nvSpPr>
          <p:cNvPr id="7" name="文本框 6">
            <a:extLst>
              <a:ext uri="{FF2B5EF4-FFF2-40B4-BE49-F238E27FC236}">
                <a16:creationId xmlns:a16="http://schemas.microsoft.com/office/drawing/2014/main" id="{437A6BCA-FD49-7442-E960-92C14BC8CCA4}"/>
              </a:ext>
            </a:extLst>
          </p:cNvPr>
          <p:cNvSpPr txBox="1"/>
          <p:nvPr/>
        </p:nvSpPr>
        <p:spPr>
          <a:xfrm>
            <a:off x="8853904" y="5494469"/>
            <a:ext cx="1192014" cy="369332"/>
          </a:xfrm>
          <a:prstGeom prst="rect">
            <a:avLst/>
          </a:prstGeom>
          <a:noFill/>
        </p:spPr>
        <p:txBody>
          <a:bodyPr wrap="square" rtlCol="0">
            <a:spAutoFit/>
          </a:bodyPr>
          <a:lstStyle/>
          <a:p>
            <a:r>
              <a:rPr lang="en-US" altLang="zh-CN" dirty="0"/>
              <a:t>Pred data</a:t>
            </a:r>
            <a:endParaRPr lang="zh-CN" altLang="en-US" dirty="0"/>
          </a:p>
        </p:txBody>
      </p:sp>
      <p:sp>
        <p:nvSpPr>
          <p:cNvPr id="8" name="左大括号 7">
            <a:extLst>
              <a:ext uri="{FF2B5EF4-FFF2-40B4-BE49-F238E27FC236}">
                <a16:creationId xmlns:a16="http://schemas.microsoft.com/office/drawing/2014/main" id="{F3E80899-5C9A-921F-341D-60B5C4551FAA}"/>
              </a:ext>
            </a:extLst>
          </p:cNvPr>
          <p:cNvSpPr/>
          <p:nvPr/>
        </p:nvSpPr>
        <p:spPr>
          <a:xfrm>
            <a:off x="7896626" y="1473765"/>
            <a:ext cx="230092" cy="3271346"/>
          </a:xfrm>
          <a:prstGeom prst="leftBrace">
            <a:avLst>
              <a:gd name="adj1" fmla="val 8333"/>
              <a:gd name="adj2" fmla="val 5030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7129405-A2DC-D460-BCBF-523A80B0B68A}"/>
              </a:ext>
            </a:extLst>
          </p:cNvPr>
          <p:cNvSpPr txBox="1"/>
          <p:nvPr/>
        </p:nvSpPr>
        <p:spPr>
          <a:xfrm>
            <a:off x="8305034" y="1475119"/>
            <a:ext cx="1258429" cy="646331"/>
          </a:xfrm>
          <a:prstGeom prst="rect">
            <a:avLst/>
          </a:prstGeom>
          <a:noFill/>
        </p:spPr>
        <p:txBody>
          <a:bodyPr wrap="square" rtlCol="0">
            <a:spAutoFit/>
          </a:bodyPr>
          <a:lstStyle/>
          <a:p>
            <a:r>
              <a:rPr lang="en-US" altLang="zh-CN" dirty="0"/>
              <a:t>hidden</a:t>
            </a:r>
          </a:p>
          <a:p>
            <a:endParaRPr lang="zh-CN" altLang="en-US" dirty="0"/>
          </a:p>
        </p:txBody>
      </p:sp>
      <p:sp>
        <p:nvSpPr>
          <p:cNvPr id="10" name="矩形: 圆角 9">
            <a:extLst>
              <a:ext uri="{FF2B5EF4-FFF2-40B4-BE49-F238E27FC236}">
                <a16:creationId xmlns:a16="http://schemas.microsoft.com/office/drawing/2014/main" id="{52FD7846-506A-EB16-B0FC-3147E79BD734}"/>
              </a:ext>
            </a:extLst>
          </p:cNvPr>
          <p:cNvSpPr/>
          <p:nvPr/>
        </p:nvSpPr>
        <p:spPr>
          <a:xfrm>
            <a:off x="8314383" y="3081523"/>
            <a:ext cx="2280404" cy="38635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hidden</a:t>
            </a:r>
            <a:endParaRPr lang="zh-CN" altLang="en-US" dirty="0">
              <a:solidFill>
                <a:schemeClr val="tx1"/>
              </a:solidFill>
            </a:endParaRPr>
          </a:p>
        </p:txBody>
      </p:sp>
      <p:sp>
        <p:nvSpPr>
          <p:cNvPr id="11" name="矩形: 圆角 10">
            <a:extLst>
              <a:ext uri="{FF2B5EF4-FFF2-40B4-BE49-F238E27FC236}">
                <a16:creationId xmlns:a16="http://schemas.microsoft.com/office/drawing/2014/main" id="{851E9CD2-F9C9-A196-9B94-6A0DA4DCB638}"/>
              </a:ext>
            </a:extLst>
          </p:cNvPr>
          <p:cNvSpPr/>
          <p:nvPr/>
        </p:nvSpPr>
        <p:spPr>
          <a:xfrm>
            <a:off x="8314383" y="4367193"/>
            <a:ext cx="2280404" cy="377918"/>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hidden</a:t>
            </a:r>
            <a:endParaRPr lang="zh-CN" altLang="en-US" dirty="0">
              <a:solidFill>
                <a:schemeClr val="tx1"/>
              </a:solidFill>
            </a:endParaRPr>
          </a:p>
        </p:txBody>
      </p:sp>
      <p:cxnSp>
        <p:nvCxnSpPr>
          <p:cNvPr id="12" name="直接箭头连接符 11">
            <a:extLst>
              <a:ext uri="{FF2B5EF4-FFF2-40B4-BE49-F238E27FC236}">
                <a16:creationId xmlns:a16="http://schemas.microsoft.com/office/drawing/2014/main" id="{23B9C07A-3A3A-CACF-8A75-630BCA088C02}"/>
              </a:ext>
            </a:extLst>
          </p:cNvPr>
          <p:cNvCxnSpPr>
            <a:cxnSpLocks/>
            <a:stCxn id="14" idx="2"/>
            <a:endCxn id="11" idx="0"/>
          </p:cNvCxnSpPr>
          <p:nvPr/>
        </p:nvCxnSpPr>
        <p:spPr>
          <a:xfrm>
            <a:off x="9452900" y="4112529"/>
            <a:ext cx="1685" cy="2546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12">
            <a:extLst>
              <a:ext uri="{FF2B5EF4-FFF2-40B4-BE49-F238E27FC236}">
                <a16:creationId xmlns:a16="http://schemas.microsoft.com/office/drawing/2014/main" id="{39464C1B-56DE-B521-837D-9531A9B63C40}"/>
              </a:ext>
            </a:extLst>
          </p:cNvPr>
          <p:cNvCxnSpPr>
            <a:cxnSpLocks/>
            <a:stCxn id="10" idx="2"/>
            <a:endCxn id="14" idx="0"/>
          </p:cNvCxnSpPr>
          <p:nvPr/>
        </p:nvCxnSpPr>
        <p:spPr>
          <a:xfrm flipH="1">
            <a:off x="9452900" y="3467879"/>
            <a:ext cx="1685" cy="2753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文本框 13">
            <a:extLst>
              <a:ext uri="{FF2B5EF4-FFF2-40B4-BE49-F238E27FC236}">
                <a16:creationId xmlns:a16="http://schemas.microsoft.com/office/drawing/2014/main" id="{F095C5E6-894E-4854-D6FB-2CF45CDAA8CB}"/>
              </a:ext>
            </a:extLst>
          </p:cNvPr>
          <p:cNvSpPr txBox="1"/>
          <p:nvPr/>
        </p:nvSpPr>
        <p:spPr>
          <a:xfrm>
            <a:off x="9279615" y="3743197"/>
            <a:ext cx="346570" cy="369332"/>
          </a:xfrm>
          <a:prstGeom prst="rect">
            <a:avLst/>
          </a:prstGeom>
          <a:noFill/>
        </p:spPr>
        <p:txBody>
          <a:bodyPr wrap="none" rtlCol="0">
            <a:spAutoFit/>
          </a:bodyPr>
          <a:lstStyle/>
          <a:p>
            <a:r>
              <a:rPr lang="en-US" altLang="zh-CN" dirty="0"/>
              <a:t>…</a:t>
            </a:r>
            <a:endParaRPr lang="zh-CN" altLang="en-US" dirty="0"/>
          </a:p>
        </p:txBody>
      </p:sp>
      <p:cxnSp>
        <p:nvCxnSpPr>
          <p:cNvPr id="15" name="直接箭头连接符 14">
            <a:extLst>
              <a:ext uri="{FF2B5EF4-FFF2-40B4-BE49-F238E27FC236}">
                <a16:creationId xmlns:a16="http://schemas.microsoft.com/office/drawing/2014/main" id="{39B71ED4-D0E5-667D-3019-FA3D30EA0E86}"/>
              </a:ext>
            </a:extLst>
          </p:cNvPr>
          <p:cNvCxnSpPr>
            <a:cxnSpLocks/>
            <a:stCxn id="11" idx="2"/>
            <a:endCxn id="19" idx="0"/>
          </p:cNvCxnSpPr>
          <p:nvPr/>
        </p:nvCxnSpPr>
        <p:spPr>
          <a:xfrm flipH="1">
            <a:off x="9452899" y="4745111"/>
            <a:ext cx="1686" cy="301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矩形 15">
            <a:extLst>
              <a:ext uri="{FF2B5EF4-FFF2-40B4-BE49-F238E27FC236}">
                <a16:creationId xmlns:a16="http://schemas.microsoft.com/office/drawing/2014/main" id="{0D33231A-C0C9-C09C-E72B-7E820E090B50}"/>
              </a:ext>
            </a:extLst>
          </p:cNvPr>
          <p:cNvSpPr/>
          <p:nvPr/>
        </p:nvSpPr>
        <p:spPr>
          <a:xfrm>
            <a:off x="8758135" y="1805343"/>
            <a:ext cx="1389530" cy="268026"/>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sp>
        <p:nvSpPr>
          <p:cNvPr id="17" name="矩形 16">
            <a:extLst>
              <a:ext uri="{FF2B5EF4-FFF2-40B4-BE49-F238E27FC236}">
                <a16:creationId xmlns:a16="http://schemas.microsoft.com/office/drawing/2014/main" id="{EEC96C0D-86ED-69AE-E987-54C3C4C2ACF3}"/>
              </a:ext>
            </a:extLst>
          </p:cNvPr>
          <p:cNvSpPr/>
          <p:nvPr/>
        </p:nvSpPr>
        <p:spPr>
          <a:xfrm>
            <a:off x="8758135" y="2365010"/>
            <a:ext cx="1389530" cy="26802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ReLU</a:t>
            </a:r>
            <a:endParaRPr lang="zh-CN" altLang="en-US" sz="1600" dirty="0"/>
          </a:p>
        </p:txBody>
      </p:sp>
      <p:cxnSp>
        <p:nvCxnSpPr>
          <p:cNvPr id="18" name="直接箭头连接符 17">
            <a:extLst>
              <a:ext uri="{FF2B5EF4-FFF2-40B4-BE49-F238E27FC236}">
                <a16:creationId xmlns:a16="http://schemas.microsoft.com/office/drawing/2014/main" id="{EFDD1D23-1D92-F1FE-D15C-2F29BCAA5B8E}"/>
              </a:ext>
            </a:extLst>
          </p:cNvPr>
          <p:cNvCxnSpPr>
            <a:cxnSpLocks/>
            <a:stCxn id="16" idx="2"/>
            <a:endCxn id="17" idx="0"/>
          </p:cNvCxnSpPr>
          <p:nvPr/>
        </p:nvCxnSpPr>
        <p:spPr>
          <a:xfrm>
            <a:off x="9452900" y="2073369"/>
            <a:ext cx="0" cy="291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矩形 18">
            <a:extLst>
              <a:ext uri="{FF2B5EF4-FFF2-40B4-BE49-F238E27FC236}">
                <a16:creationId xmlns:a16="http://schemas.microsoft.com/office/drawing/2014/main" id="{024430E5-51BD-132D-1709-787C510D4800}"/>
              </a:ext>
            </a:extLst>
          </p:cNvPr>
          <p:cNvSpPr/>
          <p:nvPr/>
        </p:nvSpPr>
        <p:spPr>
          <a:xfrm>
            <a:off x="8758134" y="5046790"/>
            <a:ext cx="1389530" cy="268026"/>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cxnSp>
        <p:nvCxnSpPr>
          <p:cNvPr id="20" name="直接箭头连接符 19">
            <a:extLst>
              <a:ext uri="{FF2B5EF4-FFF2-40B4-BE49-F238E27FC236}">
                <a16:creationId xmlns:a16="http://schemas.microsoft.com/office/drawing/2014/main" id="{A47A23D1-40AB-4A80-3FAF-81D4B03C409D}"/>
              </a:ext>
            </a:extLst>
          </p:cNvPr>
          <p:cNvCxnSpPr>
            <a:cxnSpLocks/>
            <a:stCxn id="19" idx="2"/>
          </p:cNvCxnSpPr>
          <p:nvPr/>
        </p:nvCxnSpPr>
        <p:spPr>
          <a:xfrm>
            <a:off x="9452899" y="5314816"/>
            <a:ext cx="0" cy="2599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文本框 30">
            <a:extLst>
              <a:ext uri="{FF2B5EF4-FFF2-40B4-BE49-F238E27FC236}">
                <a16:creationId xmlns:a16="http://schemas.microsoft.com/office/drawing/2014/main" id="{BCBC46BC-E518-6601-5F96-DD6DA49ECDE6}"/>
              </a:ext>
            </a:extLst>
          </p:cNvPr>
          <p:cNvSpPr txBox="1"/>
          <p:nvPr/>
        </p:nvSpPr>
        <p:spPr>
          <a:xfrm>
            <a:off x="7450433" y="2924772"/>
            <a:ext cx="357790" cy="369332"/>
          </a:xfrm>
          <a:prstGeom prst="rect">
            <a:avLst/>
          </a:prstGeom>
          <a:noFill/>
        </p:spPr>
        <p:txBody>
          <a:bodyPr wrap="none" rtlCol="0">
            <a:spAutoFit/>
          </a:bodyPr>
          <a:lstStyle/>
          <a:p>
            <a:r>
              <a:rPr lang="en-US" altLang="zh-CN" dirty="0"/>
              <a:t>N</a:t>
            </a:r>
            <a:endParaRPr lang="zh-CN" altLang="en-US" dirty="0"/>
          </a:p>
        </p:txBody>
      </p:sp>
    </p:spTree>
    <p:extLst>
      <p:ext uri="{BB962C8B-B14F-4D97-AF65-F5344CB8AC3E}">
        <p14:creationId xmlns:p14="http://schemas.microsoft.com/office/powerpoint/2010/main" val="1423506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-CNN</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8" y="1142440"/>
            <a:ext cx="5592760" cy="4991454"/>
          </a:xfrm>
        </p:spPr>
        <p:txBody>
          <a:bodyPr>
            <a:normAutofit/>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CNN</a:t>
            </a:r>
            <a:r>
              <a:rPr lang="zh-CN" altLang="zh-CN" b="1" dirty="0">
                <a:latin typeface="宋体" panose="02010600030101010101" pitchFamily="2" charset="-122"/>
                <a:ea typeface="宋体" panose="02010600030101010101" pitchFamily="2" charset="-122"/>
                <a:cs typeface="Calibri" panose="020F0502020204030204" pitchFamily="34" charset="0"/>
              </a:rPr>
              <a:t>模型</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zh-CN" dirty="0">
                <a:latin typeface="宋体" panose="02010600030101010101" pitchFamily="2" charset="-122"/>
                <a:ea typeface="宋体" panose="02010600030101010101" pitchFamily="2" charset="-122"/>
                <a:cs typeface="Calibri" panose="020F0502020204030204" pitchFamily="34" charset="0"/>
              </a:rPr>
              <a:t>采用</a:t>
            </a:r>
            <a:r>
              <a:rPr lang="zh-CN" altLang="en-US" dirty="0">
                <a:latin typeface="宋体" panose="02010600030101010101" pitchFamily="2" charset="-122"/>
                <a:ea typeface="宋体" panose="02010600030101010101" pitchFamily="2" charset="-122"/>
                <a:cs typeface="Calibri" panose="020F0502020204030204" pitchFamily="34" charset="0"/>
              </a:rPr>
              <a:t>多个卷积层、归一化层以及</a:t>
            </a:r>
            <a:r>
              <a:rPr lang="en-US" altLang="zh-CN" dirty="0">
                <a:latin typeface="宋体" panose="02010600030101010101" pitchFamily="2" charset="-122"/>
                <a:ea typeface="宋体" panose="02010600030101010101" pitchFamily="2" charset="-122"/>
                <a:cs typeface="Calibri" panose="020F0502020204030204" pitchFamily="34" charset="0"/>
              </a:rPr>
              <a:t>ReLU</a:t>
            </a:r>
            <a:r>
              <a:rPr lang="zh-CN" altLang="zh-CN" dirty="0">
                <a:latin typeface="宋体" panose="02010600030101010101" pitchFamily="2" charset="-122"/>
                <a:ea typeface="宋体" panose="02010600030101010101" pitchFamily="2" charset="-122"/>
                <a:cs typeface="Calibri" panose="020F0502020204030204" pitchFamily="34" charset="0"/>
              </a:rPr>
              <a:t>函数搭建</a:t>
            </a:r>
            <a:r>
              <a:rPr lang="en-US" altLang="zh-CN" dirty="0">
                <a:latin typeface="宋体" panose="02010600030101010101" pitchFamily="2" charset="-122"/>
                <a:ea typeface="宋体" panose="02010600030101010101" pitchFamily="2" charset="-122"/>
                <a:cs typeface="Calibri" panose="020F0502020204030204" pitchFamily="34" charset="0"/>
              </a:rPr>
              <a:t>CNN</a:t>
            </a:r>
            <a:r>
              <a:rPr lang="zh-CN" altLang="zh-CN" dirty="0">
                <a:latin typeface="宋体" panose="02010600030101010101" pitchFamily="2" charset="-122"/>
                <a:ea typeface="宋体" panose="02010600030101010101" pitchFamily="2" charset="-122"/>
                <a:cs typeface="Calibri" panose="020F0502020204030204" pitchFamily="34" charset="0"/>
              </a:rPr>
              <a:t>模型。</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en-US" dirty="0">
                <a:latin typeface="宋体" panose="02010600030101010101" pitchFamily="2" charset="-122"/>
                <a:ea typeface="宋体" panose="02010600030101010101" pitchFamily="2" charset="-122"/>
                <a:cs typeface="Calibri" panose="020F0502020204030204" pitchFamily="34" charset="0"/>
              </a:rPr>
              <a:t>池化层使用平均池化，平均池化通过在局部区域内计算平均值，将输入数据的空间维度减小，从而减少计算复杂度和内存需求。这有助于处理大规模数据集时的计算负担。最后经过全连接层降维，输出预测结果。</a:t>
            </a: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sp>
        <p:nvSpPr>
          <p:cNvPr id="3" name="文本框 2">
            <a:extLst>
              <a:ext uri="{FF2B5EF4-FFF2-40B4-BE49-F238E27FC236}">
                <a16:creationId xmlns:a16="http://schemas.microsoft.com/office/drawing/2014/main" id="{AC991B9F-2957-0B89-664B-881462CA9DE8}"/>
              </a:ext>
            </a:extLst>
          </p:cNvPr>
          <p:cNvSpPr txBox="1"/>
          <p:nvPr/>
        </p:nvSpPr>
        <p:spPr>
          <a:xfrm>
            <a:off x="8889283" y="5663465"/>
            <a:ext cx="186990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CNN</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sp>
        <p:nvSpPr>
          <p:cNvPr id="83" name="矩形: 圆角 82">
            <a:extLst>
              <a:ext uri="{FF2B5EF4-FFF2-40B4-BE49-F238E27FC236}">
                <a16:creationId xmlns:a16="http://schemas.microsoft.com/office/drawing/2014/main" id="{49074736-88C9-9F12-5CBA-A408CDF96D63}"/>
              </a:ext>
            </a:extLst>
          </p:cNvPr>
          <p:cNvSpPr/>
          <p:nvPr/>
        </p:nvSpPr>
        <p:spPr>
          <a:xfrm>
            <a:off x="6835638" y="994480"/>
            <a:ext cx="2205319" cy="169305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矩形 83">
            <a:extLst>
              <a:ext uri="{FF2B5EF4-FFF2-40B4-BE49-F238E27FC236}">
                <a16:creationId xmlns:a16="http://schemas.microsoft.com/office/drawing/2014/main" id="{55FA8304-CE9D-4EC3-1A6B-F8D1A6320EA4}"/>
              </a:ext>
            </a:extLst>
          </p:cNvPr>
          <p:cNvSpPr/>
          <p:nvPr/>
        </p:nvSpPr>
        <p:spPr>
          <a:xfrm>
            <a:off x="7243533" y="1405540"/>
            <a:ext cx="1389530" cy="28957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Conv</a:t>
            </a:r>
            <a:endParaRPr lang="zh-CN" altLang="en-US" sz="1600" dirty="0"/>
          </a:p>
        </p:txBody>
      </p:sp>
      <p:sp>
        <p:nvSpPr>
          <p:cNvPr id="85" name="矩形 84">
            <a:extLst>
              <a:ext uri="{FF2B5EF4-FFF2-40B4-BE49-F238E27FC236}">
                <a16:creationId xmlns:a16="http://schemas.microsoft.com/office/drawing/2014/main" id="{186C1766-0E17-131F-C985-2B8BBFF95016}"/>
              </a:ext>
            </a:extLst>
          </p:cNvPr>
          <p:cNvSpPr/>
          <p:nvPr/>
        </p:nvSpPr>
        <p:spPr>
          <a:xfrm>
            <a:off x="7243533" y="1838087"/>
            <a:ext cx="1389530" cy="263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BatchNorm</a:t>
            </a:r>
            <a:endParaRPr lang="zh-CN" altLang="en-US" sz="1600" dirty="0"/>
          </a:p>
        </p:txBody>
      </p:sp>
      <p:sp>
        <p:nvSpPr>
          <p:cNvPr id="86" name="矩形 85">
            <a:extLst>
              <a:ext uri="{FF2B5EF4-FFF2-40B4-BE49-F238E27FC236}">
                <a16:creationId xmlns:a16="http://schemas.microsoft.com/office/drawing/2014/main" id="{692E41BD-F21A-A69A-4053-85929638D38C}"/>
              </a:ext>
            </a:extLst>
          </p:cNvPr>
          <p:cNvSpPr/>
          <p:nvPr/>
        </p:nvSpPr>
        <p:spPr>
          <a:xfrm>
            <a:off x="7243533" y="2244599"/>
            <a:ext cx="1389530" cy="26353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ReLU</a:t>
            </a:r>
            <a:endParaRPr lang="zh-CN" altLang="en-US" sz="1600" dirty="0"/>
          </a:p>
        </p:txBody>
      </p:sp>
      <p:sp>
        <p:nvSpPr>
          <p:cNvPr id="87" name="矩形 86">
            <a:extLst>
              <a:ext uri="{FF2B5EF4-FFF2-40B4-BE49-F238E27FC236}">
                <a16:creationId xmlns:a16="http://schemas.microsoft.com/office/drawing/2014/main" id="{C980764E-04E1-69BB-381D-C680305920A3}"/>
              </a:ext>
            </a:extLst>
          </p:cNvPr>
          <p:cNvSpPr/>
          <p:nvPr/>
        </p:nvSpPr>
        <p:spPr>
          <a:xfrm>
            <a:off x="7243529" y="2796886"/>
            <a:ext cx="1389530" cy="28733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AvgPool</a:t>
            </a:r>
            <a:endParaRPr lang="zh-CN" altLang="en-US" sz="1600" dirty="0"/>
          </a:p>
        </p:txBody>
      </p:sp>
      <p:cxnSp>
        <p:nvCxnSpPr>
          <p:cNvPr id="88" name="直接箭头连接符 87">
            <a:extLst>
              <a:ext uri="{FF2B5EF4-FFF2-40B4-BE49-F238E27FC236}">
                <a16:creationId xmlns:a16="http://schemas.microsoft.com/office/drawing/2014/main" id="{103A41A3-6BB2-E4C4-F828-55954B297471}"/>
              </a:ext>
            </a:extLst>
          </p:cNvPr>
          <p:cNvCxnSpPr>
            <a:cxnSpLocks/>
            <a:stCxn id="86" idx="2"/>
            <a:endCxn id="87" idx="0"/>
          </p:cNvCxnSpPr>
          <p:nvPr/>
        </p:nvCxnSpPr>
        <p:spPr>
          <a:xfrm flipH="1">
            <a:off x="7938294" y="2508138"/>
            <a:ext cx="4" cy="2887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直接箭头连接符 88">
            <a:extLst>
              <a:ext uri="{FF2B5EF4-FFF2-40B4-BE49-F238E27FC236}">
                <a16:creationId xmlns:a16="http://schemas.microsoft.com/office/drawing/2014/main" id="{5B169E4A-8EB4-8141-2E89-D569C2C9B993}"/>
              </a:ext>
            </a:extLst>
          </p:cNvPr>
          <p:cNvCxnSpPr>
            <a:cxnSpLocks/>
            <a:stCxn id="95" idx="2"/>
            <a:endCxn id="84" idx="0"/>
          </p:cNvCxnSpPr>
          <p:nvPr/>
        </p:nvCxnSpPr>
        <p:spPr>
          <a:xfrm>
            <a:off x="7938298" y="811168"/>
            <a:ext cx="0" cy="594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0" name="直接箭头连接符 89">
            <a:extLst>
              <a:ext uri="{FF2B5EF4-FFF2-40B4-BE49-F238E27FC236}">
                <a16:creationId xmlns:a16="http://schemas.microsoft.com/office/drawing/2014/main" id="{EBBD3D3A-8ECA-022A-59F2-9A6BB6E280B1}"/>
              </a:ext>
            </a:extLst>
          </p:cNvPr>
          <p:cNvCxnSpPr>
            <a:cxnSpLocks/>
            <a:stCxn id="84" idx="2"/>
            <a:endCxn id="85" idx="0"/>
          </p:cNvCxnSpPr>
          <p:nvPr/>
        </p:nvCxnSpPr>
        <p:spPr>
          <a:xfrm>
            <a:off x="7938298" y="1695113"/>
            <a:ext cx="0" cy="1429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1" name="直接箭头连接符 90">
            <a:extLst>
              <a:ext uri="{FF2B5EF4-FFF2-40B4-BE49-F238E27FC236}">
                <a16:creationId xmlns:a16="http://schemas.microsoft.com/office/drawing/2014/main" id="{3E9521EA-ACD5-FFF7-6664-847866C45AF9}"/>
              </a:ext>
            </a:extLst>
          </p:cNvPr>
          <p:cNvCxnSpPr>
            <a:cxnSpLocks/>
            <a:stCxn id="85" idx="2"/>
            <a:endCxn id="86" idx="0"/>
          </p:cNvCxnSpPr>
          <p:nvPr/>
        </p:nvCxnSpPr>
        <p:spPr>
          <a:xfrm>
            <a:off x="7938298" y="2101625"/>
            <a:ext cx="0" cy="1429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2" name="矩形 91">
            <a:extLst>
              <a:ext uri="{FF2B5EF4-FFF2-40B4-BE49-F238E27FC236}">
                <a16:creationId xmlns:a16="http://schemas.microsoft.com/office/drawing/2014/main" id="{59327214-E0A7-1E5E-8738-C83AEA1EBA44}"/>
              </a:ext>
            </a:extLst>
          </p:cNvPr>
          <p:cNvSpPr/>
          <p:nvPr/>
        </p:nvSpPr>
        <p:spPr>
          <a:xfrm>
            <a:off x="10064428" y="2749291"/>
            <a:ext cx="1389530" cy="268026"/>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sp>
        <p:nvSpPr>
          <p:cNvPr id="93" name="矩形 92">
            <a:extLst>
              <a:ext uri="{FF2B5EF4-FFF2-40B4-BE49-F238E27FC236}">
                <a16:creationId xmlns:a16="http://schemas.microsoft.com/office/drawing/2014/main" id="{2D5605AC-38B8-6C57-2548-5E827B3AC62D}"/>
              </a:ext>
            </a:extLst>
          </p:cNvPr>
          <p:cNvSpPr/>
          <p:nvPr/>
        </p:nvSpPr>
        <p:spPr>
          <a:xfrm>
            <a:off x="10064427" y="3868624"/>
            <a:ext cx="1389530" cy="268027"/>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Linear</a:t>
            </a:r>
            <a:endParaRPr lang="zh-CN" altLang="en-US" dirty="0">
              <a:solidFill>
                <a:schemeClr val="tx1"/>
              </a:solidFill>
            </a:endParaRPr>
          </a:p>
        </p:txBody>
      </p:sp>
      <p:sp>
        <p:nvSpPr>
          <p:cNvPr id="94" name="矩形 93">
            <a:extLst>
              <a:ext uri="{FF2B5EF4-FFF2-40B4-BE49-F238E27FC236}">
                <a16:creationId xmlns:a16="http://schemas.microsoft.com/office/drawing/2014/main" id="{FA1F62B2-36E3-9A64-3981-F157509F8ED6}"/>
              </a:ext>
            </a:extLst>
          </p:cNvPr>
          <p:cNvSpPr/>
          <p:nvPr/>
        </p:nvSpPr>
        <p:spPr>
          <a:xfrm>
            <a:off x="10064428" y="3308958"/>
            <a:ext cx="1389530" cy="26802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ReLU</a:t>
            </a:r>
            <a:endParaRPr lang="zh-CN" altLang="en-US" sz="1600" dirty="0"/>
          </a:p>
        </p:txBody>
      </p:sp>
      <p:sp>
        <p:nvSpPr>
          <p:cNvPr id="95" name="文本框 94">
            <a:extLst>
              <a:ext uri="{FF2B5EF4-FFF2-40B4-BE49-F238E27FC236}">
                <a16:creationId xmlns:a16="http://schemas.microsoft.com/office/drawing/2014/main" id="{12399DE0-FDFA-1F96-8045-FCF1E649E75C}"/>
              </a:ext>
            </a:extLst>
          </p:cNvPr>
          <p:cNvSpPr txBox="1"/>
          <p:nvPr/>
        </p:nvSpPr>
        <p:spPr>
          <a:xfrm>
            <a:off x="7243533" y="441836"/>
            <a:ext cx="1389530" cy="369332"/>
          </a:xfrm>
          <a:prstGeom prst="rect">
            <a:avLst/>
          </a:prstGeom>
          <a:noFill/>
        </p:spPr>
        <p:txBody>
          <a:bodyPr wrap="square" rtlCol="0">
            <a:spAutoFit/>
          </a:bodyPr>
          <a:lstStyle/>
          <a:p>
            <a:r>
              <a:rPr lang="en-US" altLang="zh-CN" dirty="0"/>
              <a:t>Inputs data</a:t>
            </a:r>
            <a:endParaRPr lang="zh-CN" altLang="en-US" dirty="0"/>
          </a:p>
        </p:txBody>
      </p:sp>
      <p:sp>
        <p:nvSpPr>
          <p:cNvPr id="96" name="文本框 95">
            <a:extLst>
              <a:ext uri="{FF2B5EF4-FFF2-40B4-BE49-F238E27FC236}">
                <a16:creationId xmlns:a16="http://schemas.microsoft.com/office/drawing/2014/main" id="{805C5C94-0F1B-4A7E-5947-662277927661}"/>
              </a:ext>
            </a:extLst>
          </p:cNvPr>
          <p:cNvSpPr txBox="1"/>
          <p:nvPr/>
        </p:nvSpPr>
        <p:spPr>
          <a:xfrm>
            <a:off x="10163187" y="4459004"/>
            <a:ext cx="1192014" cy="369332"/>
          </a:xfrm>
          <a:prstGeom prst="rect">
            <a:avLst/>
          </a:prstGeom>
          <a:noFill/>
        </p:spPr>
        <p:txBody>
          <a:bodyPr wrap="square" rtlCol="0">
            <a:spAutoFit/>
          </a:bodyPr>
          <a:lstStyle/>
          <a:p>
            <a:r>
              <a:rPr lang="en-US" altLang="zh-CN" dirty="0"/>
              <a:t>Pred data</a:t>
            </a:r>
            <a:endParaRPr lang="zh-CN" altLang="en-US" dirty="0"/>
          </a:p>
        </p:txBody>
      </p:sp>
      <p:sp>
        <p:nvSpPr>
          <p:cNvPr id="97" name="左大括号 96">
            <a:extLst>
              <a:ext uri="{FF2B5EF4-FFF2-40B4-BE49-F238E27FC236}">
                <a16:creationId xmlns:a16="http://schemas.microsoft.com/office/drawing/2014/main" id="{E613D91D-C79D-6F01-74C8-E854E50B34F3}"/>
              </a:ext>
            </a:extLst>
          </p:cNvPr>
          <p:cNvSpPr/>
          <p:nvPr/>
        </p:nvSpPr>
        <p:spPr>
          <a:xfrm>
            <a:off x="6382022" y="994479"/>
            <a:ext cx="230092" cy="4313355"/>
          </a:xfrm>
          <a:prstGeom prst="leftBrace">
            <a:avLst>
              <a:gd name="adj1" fmla="val 8333"/>
              <a:gd name="adj2" fmla="val 5030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8" name="文本框 97">
            <a:extLst>
              <a:ext uri="{FF2B5EF4-FFF2-40B4-BE49-F238E27FC236}">
                <a16:creationId xmlns:a16="http://schemas.microsoft.com/office/drawing/2014/main" id="{96E9ED83-5F14-4713-5496-0A4DC1089BF5}"/>
              </a:ext>
            </a:extLst>
          </p:cNvPr>
          <p:cNvSpPr txBox="1"/>
          <p:nvPr/>
        </p:nvSpPr>
        <p:spPr>
          <a:xfrm>
            <a:off x="6096000" y="2940556"/>
            <a:ext cx="357790" cy="369332"/>
          </a:xfrm>
          <a:prstGeom prst="rect">
            <a:avLst/>
          </a:prstGeom>
          <a:noFill/>
        </p:spPr>
        <p:txBody>
          <a:bodyPr wrap="none" rtlCol="0">
            <a:spAutoFit/>
          </a:bodyPr>
          <a:lstStyle/>
          <a:p>
            <a:r>
              <a:rPr lang="en-US" altLang="zh-CN" dirty="0"/>
              <a:t>N</a:t>
            </a:r>
            <a:endParaRPr lang="zh-CN" altLang="en-US" dirty="0"/>
          </a:p>
        </p:txBody>
      </p:sp>
      <p:sp>
        <p:nvSpPr>
          <p:cNvPr id="99" name="文本框 98">
            <a:extLst>
              <a:ext uri="{FF2B5EF4-FFF2-40B4-BE49-F238E27FC236}">
                <a16:creationId xmlns:a16="http://schemas.microsoft.com/office/drawing/2014/main" id="{07041C01-8C30-9D6D-CAEE-FC9636890B8A}"/>
              </a:ext>
            </a:extLst>
          </p:cNvPr>
          <p:cNvSpPr txBox="1"/>
          <p:nvPr/>
        </p:nvSpPr>
        <p:spPr>
          <a:xfrm>
            <a:off x="6765055" y="1061280"/>
            <a:ext cx="1248484" cy="369332"/>
          </a:xfrm>
          <a:prstGeom prst="rect">
            <a:avLst/>
          </a:prstGeom>
          <a:noFill/>
        </p:spPr>
        <p:txBody>
          <a:bodyPr wrap="square" rtlCol="0">
            <a:spAutoFit/>
          </a:bodyPr>
          <a:lstStyle/>
          <a:p>
            <a:r>
              <a:rPr lang="en-US" altLang="zh-CN" dirty="0"/>
              <a:t>Sequential</a:t>
            </a:r>
            <a:endParaRPr lang="zh-CN" altLang="en-US" dirty="0"/>
          </a:p>
        </p:txBody>
      </p:sp>
      <p:sp>
        <p:nvSpPr>
          <p:cNvPr id="100" name="矩形: 圆角 99">
            <a:extLst>
              <a:ext uri="{FF2B5EF4-FFF2-40B4-BE49-F238E27FC236}">
                <a16:creationId xmlns:a16="http://schemas.microsoft.com/office/drawing/2014/main" id="{63D89D5A-231E-90AB-7E7F-011441E94E72}"/>
              </a:ext>
            </a:extLst>
          </p:cNvPr>
          <p:cNvSpPr/>
          <p:nvPr/>
        </p:nvSpPr>
        <p:spPr>
          <a:xfrm>
            <a:off x="6835638" y="3214716"/>
            <a:ext cx="2205319" cy="38635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Sequential</a:t>
            </a:r>
            <a:endParaRPr lang="zh-CN" altLang="en-US" dirty="0">
              <a:solidFill>
                <a:schemeClr val="tx1"/>
              </a:solidFill>
            </a:endParaRPr>
          </a:p>
        </p:txBody>
      </p:sp>
      <p:cxnSp>
        <p:nvCxnSpPr>
          <p:cNvPr id="101" name="直接箭头连接符 100">
            <a:extLst>
              <a:ext uri="{FF2B5EF4-FFF2-40B4-BE49-F238E27FC236}">
                <a16:creationId xmlns:a16="http://schemas.microsoft.com/office/drawing/2014/main" id="{D0F44D2C-7156-603E-D1BD-4D960B4EB880}"/>
              </a:ext>
            </a:extLst>
          </p:cNvPr>
          <p:cNvCxnSpPr>
            <a:cxnSpLocks/>
            <a:stCxn id="87" idx="2"/>
            <a:endCxn id="100" idx="0"/>
          </p:cNvCxnSpPr>
          <p:nvPr/>
        </p:nvCxnSpPr>
        <p:spPr>
          <a:xfrm>
            <a:off x="7938294" y="3084225"/>
            <a:ext cx="4" cy="1304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2" name="矩形 101">
            <a:extLst>
              <a:ext uri="{FF2B5EF4-FFF2-40B4-BE49-F238E27FC236}">
                <a16:creationId xmlns:a16="http://schemas.microsoft.com/office/drawing/2014/main" id="{5D4E26C9-F080-5824-3AA3-54D216972385}"/>
              </a:ext>
            </a:extLst>
          </p:cNvPr>
          <p:cNvSpPr/>
          <p:nvPr/>
        </p:nvSpPr>
        <p:spPr>
          <a:xfrm>
            <a:off x="7243531" y="4470628"/>
            <a:ext cx="1389530" cy="298966"/>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AvgPool</a:t>
            </a:r>
            <a:endParaRPr lang="zh-CN" altLang="en-US" sz="1600" dirty="0"/>
          </a:p>
        </p:txBody>
      </p:sp>
      <p:sp>
        <p:nvSpPr>
          <p:cNvPr id="103" name="矩形: 圆角 102">
            <a:extLst>
              <a:ext uri="{FF2B5EF4-FFF2-40B4-BE49-F238E27FC236}">
                <a16:creationId xmlns:a16="http://schemas.microsoft.com/office/drawing/2014/main" id="{CBFB5D6B-3638-3C87-0A59-B35B5BE04C7B}"/>
              </a:ext>
            </a:extLst>
          </p:cNvPr>
          <p:cNvSpPr/>
          <p:nvPr/>
        </p:nvSpPr>
        <p:spPr>
          <a:xfrm>
            <a:off x="6835638" y="4943152"/>
            <a:ext cx="2205319" cy="369468"/>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Sequential</a:t>
            </a:r>
            <a:endParaRPr lang="zh-CN" altLang="en-US" dirty="0">
              <a:solidFill>
                <a:schemeClr val="tx1"/>
              </a:solidFill>
            </a:endParaRPr>
          </a:p>
        </p:txBody>
      </p:sp>
      <p:cxnSp>
        <p:nvCxnSpPr>
          <p:cNvPr id="104" name="直接箭头连接符 103">
            <a:extLst>
              <a:ext uri="{FF2B5EF4-FFF2-40B4-BE49-F238E27FC236}">
                <a16:creationId xmlns:a16="http://schemas.microsoft.com/office/drawing/2014/main" id="{CA386418-493B-2F9C-092E-571EB5FA1A01}"/>
              </a:ext>
            </a:extLst>
          </p:cNvPr>
          <p:cNvCxnSpPr>
            <a:cxnSpLocks/>
            <a:stCxn id="102" idx="2"/>
            <a:endCxn id="103" idx="0"/>
          </p:cNvCxnSpPr>
          <p:nvPr/>
        </p:nvCxnSpPr>
        <p:spPr>
          <a:xfrm>
            <a:off x="7938296" y="4769594"/>
            <a:ext cx="2" cy="1735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5" name="直接箭头连接符 104">
            <a:extLst>
              <a:ext uri="{FF2B5EF4-FFF2-40B4-BE49-F238E27FC236}">
                <a16:creationId xmlns:a16="http://schemas.microsoft.com/office/drawing/2014/main" id="{5474C5D3-D112-9AB4-0CAD-158B58838D54}"/>
              </a:ext>
            </a:extLst>
          </p:cNvPr>
          <p:cNvCxnSpPr>
            <a:cxnSpLocks/>
            <a:stCxn id="100" idx="2"/>
            <a:endCxn id="106" idx="0"/>
          </p:cNvCxnSpPr>
          <p:nvPr/>
        </p:nvCxnSpPr>
        <p:spPr>
          <a:xfrm flipH="1">
            <a:off x="7938296" y="3601072"/>
            <a:ext cx="2" cy="2501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6" name="文本框 105">
            <a:extLst>
              <a:ext uri="{FF2B5EF4-FFF2-40B4-BE49-F238E27FC236}">
                <a16:creationId xmlns:a16="http://schemas.microsoft.com/office/drawing/2014/main" id="{BC4266AC-1152-5B8C-C177-31CD4694D73C}"/>
              </a:ext>
            </a:extLst>
          </p:cNvPr>
          <p:cNvSpPr txBox="1"/>
          <p:nvPr/>
        </p:nvSpPr>
        <p:spPr>
          <a:xfrm>
            <a:off x="7765011" y="3851184"/>
            <a:ext cx="346570" cy="369332"/>
          </a:xfrm>
          <a:prstGeom prst="rect">
            <a:avLst/>
          </a:prstGeom>
          <a:noFill/>
        </p:spPr>
        <p:txBody>
          <a:bodyPr wrap="none" rtlCol="0">
            <a:spAutoFit/>
          </a:bodyPr>
          <a:lstStyle/>
          <a:p>
            <a:r>
              <a:rPr lang="en-US" altLang="zh-CN" dirty="0"/>
              <a:t>…</a:t>
            </a:r>
            <a:endParaRPr lang="zh-CN" altLang="en-US" dirty="0"/>
          </a:p>
        </p:txBody>
      </p:sp>
      <p:cxnSp>
        <p:nvCxnSpPr>
          <p:cNvPr id="107" name="直接箭头连接符 106">
            <a:extLst>
              <a:ext uri="{FF2B5EF4-FFF2-40B4-BE49-F238E27FC236}">
                <a16:creationId xmlns:a16="http://schemas.microsoft.com/office/drawing/2014/main" id="{4332DA57-82B3-091F-9172-4F3EBEFF5F32}"/>
              </a:ext>
            </a:extLst>
          </p:cNvPr>
          <p:cNvCxnSpPr>
            <a:cxnSpLocks/>
            <a:stCxn id="106" idx="2"/>
            <a:endCxn id="102" idx="0"/>
          </p:cNvCxnSpPr>
          <p:nvPr/>
        </p:nvCxnSpPr>
        <p:spPr>
          <a:xfrm>
            <a:off x="7938296" y="4220516"/>
            <a:ext cx="0" cy="2501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8" name="连接符: 肘形 107">
            <a:extLst>
              <a:ext uri="{FF2B5EF4-FFF2-40B4-BE49-F238E27FC236}">
                <a16:creationId xmlns:a16="http://schemas.microsoft.com/office/drawing/2014/main" id="{E6B9F55B-E486-1F61-0F12-6327DDC74E1B}"/>
              </a:ext>
            </a:extLst>
          </p:cNvPr>
          <p:cNvCxnSpPr>
            <a:cxnSpLocks/>
            <a:stCxn id="103" idx="2"/>
            <a:endCxn id="92" idx="0"/>
          </p:cNvCxnSpPr>
          <p:nvPr/>
        </p:nvCxnSpPr>
        <p:spPr>
          <a:xfrm rot="5400000" flipH="1" flipV="1">
            <a:off x="8067080" y="2620508"/>
            <a:ext cx="2563329" cy="2820895"/>
          </a:xfrm>
          <a:prstGeom prst="bentConnector5">
            <a:avLst>
              <a:gd name="adj1" fmla="val -8918"/>
              <a:gd name="adj2" fmla="val 57230"/>
              <a:gd name="adj3" fmla="val 108918"/>
            </a:avLst>
          </a:prstGeom>
          <a:ln>
            <a:tailEnd type="triangle"/>
          </a:ln>
        </p:spPr>
        <p:style>
          <a:lnRef idx="2">
            <a:schemeClr val="dk1"/>
          </a:lnRef>
          <a:fillRef idx="0">
            <a:schemeClr val="dk1"/>
          </a:fillRef>
          <a:effectRef idx="1">
            <a:schemeClr val="dk1"/>
          </a:effectRef>
          <a:fontRef idx="minor">
            <a:schemeClr val="tx1"/>
          </a:fontRef>
        </p:style>
      </p:cxnSp>
      <p:cxnSp>
        <p:nvCxnSpPr>
          <p:cNvPr id="109" name="直接箭头连接符 108">
            <a:extLst>
              <a:ext uri="{FF2B5EF4-FFF2-40B4-BE49-F238E27FC236}">
                <a16:creationId xmlns:a16="http://schemas.microsoft.com/office/drawing/2014/main" id="{AE4027AF-7E6B-4E32-547C-813C2A56861A}"/>
              </a:ext>
            </a:extLst>
          </p:cNvPr>
          <p:cNvCxnSpPr>
            <a:cxnSpLocks/>
            <a:stCxn id="92" idx="2"/>
            <a:endCxn id="94" idx="0"/>
          </p:cNvCxnSpPr>
          <p:nvPr/>
        </p:nvCxnSpPr>
        <p:spPr>
          <a:xfrm>
            <a:off x="10759193" y="3017317"/>
            <a:ext cx="0" cy="291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0" name="直接箭头连接符 109">
            <a:extLst>
              <a:ext uri="{FF2B5EF4-FFF2-40B4-BE49-F238E27FC236}">
                <a16:creationId xmlns:a16="http://schemas.microsoft.com/office/drawing/2014/main" id="{2D52930F-56B3-6CB3-6CA5-CCB1AA733A46}"/>
              </a:ext>
            </a:extLst>
          </p:cNvPr>
          <p:cNvCxnSpPr>
            <a:cxnSpLocks/>
            <a:stCxn id="94" idx="2"/>
            <a:endCxn id="93" idx="0"/>
          </p:cNvCxnSpPr>
          <p:nvPr/>
        </p:nvCxnSpPr>
        <p:spPr>
          <a:xfrm flipH="1">
            <a:off x="10759192" y="3576983"/>
            <a:ext cx="1" cy="291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1" name="直接箭头连接符 110">
            <a:extLst>
              <a:ext uri="{FF2B5EF4-FFF2-40B4-BE49-F238E27FC236}">
                <a16:creationId xmlns:a16="http://schemas.microsoft.com/office/drawing/2014/main" id="{00C2F44C-B8FD-A0F0-1F72-5A9DB49A779A}"/>
              </a:ext>
            </a:extLst>
          </p:cNvPr>
          <p:cNvCxnSpPr>
            <a:cxnSpLocks/>
            <a:stCxn id="93" idx="2"/>
            <a:endCxn id="96" idx="0"/>
          </p:cNvCxnSpPr>
          <p:nvPr/>
        </p:nvCxnSpPr>
        <p:spPr>
          <a:xfrm>
            <a:off x="10759192" y="4136651"/>
            <a:ext cx="2" cy="3223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180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-RNN</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8" y="1142440"/>
            <a:ext cx="11366936" cy="4991454"/>
          </a:xfrm>
        </p:spPr>
        <p:txBody>
          <a:bodyPr>
            <a:normAutofit/>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RNN</a:t>
            </a:r>
            <a:r>
              <a:rPr lang="zh-CN" altLang="en-US" b="1" dirty="0">
                <a:latin typeface="宋体" panose="02010600030101010101" pitchFamily="2" charset="-122"/>
                <a:ea typeface="宋体" panose="02010600030101010101" pitchFamily="2" charset="-122"/>
                <a:cs typeface="Calibri" panose="020F0502020204030204" pitchFamily="34" charset="0"/>
              </a:rPr>
              <a:t>模型</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en-US" dirty="0">
                <a:latin typeface="宋体" panose="02010600030101010101" pitchFamily="2" charset="-122"/>
                <a:ea typeface="宋体" panose="02010600030101010101" pitchFamily="2" charset="-122"/>
                <a:cs typeface="Calibri" panose="020F0502020204030204" pitchFamily="34" charset="0"/>
              </a:rPr>
              <a:t>在处理多元时序预测任务时，因其独特的循环结构，能够有效捕捉序列中的时间依赖关系和动态变化，具有很高的灵活性和通用性。</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en-US" dirty="0">
                <a:latin typeface="宋体" panose="02010600030101010101" pitchFamily="2" charset="-122"/>
                <a:ea typeface="宋体" panose="02010600030101010101" pitchFamily="2" charset="-122"/>
                <a:cs typeface="Calibri" panose="020F0502020204030204" pitchFamily="34" charset="0"/>
              </a:rPr>
              <a:t>虽然</a:t>
            </a:r>
            <a:r>
              <a:rPr lang="en-US" altLang="zh-CN" dirty="0">
                <a:latin typeface="宋体" panose="02010600030101010101" pitchFamily="2" charset="-122"/>
                <a:ea typeface="宋体" panose="02010600030101010101" pitchFamily="2" charset="-122"/>
                <a:cs typeface="Calibri" panose="020F0502020204030204" pitchFamily="34" charset="0"/>
              </a:rPr>
              <a:t>RNN</a:t>
            </a:r>
            <a:r>
              <a:rPr lang="zh-CN" altLang="en-US" dirty="0">
                <a:latin typeface="宋体" panose="02010600030101010101" pitchFamily="2" charset="-122"/>
                <a:ea typeface="宋体" panose="02010600030101010101" pitchFamily="2" charset="-122"/>
                <a:cs typeface="Calibri" panose="020F0502020204030204" pitchFamily="34" charset="0"/>
              </a:rPr>
              <a:t>在长时间序列预测任务中存在一些挑战，如梯度消失和计算复杂度问题，但其灵活性和强大的序列建模能力使其在信道预测的实际应用中非常有用。</a:t>
            </a: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pic>
        <p:nvPicPr>
          <p:cNvPr id="2" name="图片 1">
            <a:extLst>
              <a:ext uri="{FF2B5EF4-FFF2-40B4-BE49-F238E27FC236}">
                <a16:creationId xmlns:a16="http://schemas.microsoft.com/office/drawing/2014/main" id="{D423A484-217C-135A-A240-4EB39EAF18F0}"/>
              </a:ext>
            </a:extLst>
          </p:cNvPr>
          <p:cNvPicPr>
            <a:picLocks noChangeAspect="1"/>
          </p:cNvPicPr>
          <p:nvPr/>
        </p:nvPicPr>
        <p:blipFill>
          <a:blip r:embed="rId2"/>
          <a:stretch>
            <a:fillRect/>
          </a:stretch>
        </p:blipFill>
        <p:spPr>
          <a:xfrm>
            <a:off x="3142350" y="3742634"/>
            <a:ext cx="4950460" cy="1903730"/>
          </a:xfrm>
          <a:prstGeom prst="rect">
            <a:avLst/>
          </a:prstGeom>
        </p:spPr>
      </p:pic>
      <p:sp>
        <p:nvSpPr>
          <p:cNvPr id="3" name="文本框 2">
            <a:extLst>
              <a:ext uri="{FF2B5EF4-FFF2-40B4-BE49-F238E27FC236}">
                <a16:creationId xmlns:a16="http://schemas.microsoft.com/office/drawing/2014/main" id="{7F73A6A5-C86B-556B-0E3C-322D951C73D8}"/>
              </a:ext>
            </a:extLst>
          </p:cNvPr>
          <p:cNvSpPr txBox="1"/>
          <p:nvPr/>
        </p:nvSpPr>
        <p:spPr>
          <a:xfrm>
            <a:off x="5065816" y="5806027"/>
            <a:ext cx="11035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RNN</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spTree>
    <p:extLst>
      <p:ext uri="{BB962C8B-B14F-4D97-AF65-F5344CB8AC3E}">
        <p14:creationId xmlns:p14="http://schemas.microsoft.com/office/powerpoint/2010/main" val="3701280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-LSTM</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8" y="1142440"/>
            <a:ext cx="11366936" cy="4991454"/>
          </a:xfrm>
        </p:spPr>
        <p:txBody>
          <a:bodyPr>
            <a:normAutofit/>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LSTM</a:t>
            </a:r>
            <a:r>
              <a:rPr lang="zh-CN" altLang="en-US" b="1" dirty="0">
                <a:latin typeface="宋体" panose="02010600030101010101" pitchFamily="2" charset="-122"/>
                <a:ea typeface="宋体" panose="02010600030101010101" pitchFamily="2" charset="-122"/>
                <a:cs typeface="Calibri" panose="020F0502020204030204" pitchFamily="34" charset="0"/>
              </a:rPr>
              <a:t>模型</a:t>
            </a:r>
            <a:r>
              <a:rPr lang="zh-CN" altLang="en-US" dirty="0">
                <a:latin typeface="宋体" panose="02010600030101010101" pitchFamily="2" charset="-122"/>
                <a:ea typeface="宋体" panose="02010600030101010101" pitchFamily="2" charset="-122"/>
                <a:cs typeface="Calibri" panose="020F0502020204030204" pitchFamily="34" charset="0"/>
              </a:rPr>
              <a:t>通过输入门、遗忘门和输出门的门控机制选择性地更新和保留信息，其能够选择性地更新和遗忘信息，从而保留对多步预测重要的历史数据，这使得重要的历史数据能够被有效利用，而不重要的信息则被忽略。</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indent="228600" algn="just"/>
            <a:r>
              <a:rPr lang="en-US" altLang="zh-CN" dirty="0">
                <a:latin typeface="宋体" panose="02010600030101010101" pitchFamily="2" charset="-122"/>
                <a:ea typeface="宋体" panose="02010600030101010101" pitchFamily="2" charset="-122"/>
                <a:cs typeface="Calibri" panose="020F0502020204030204" pitchFamily="34" charset="0"/>
              </a:rPr>
              <a:t>LSTM</a:t>
            </a:r>
            <a:r>
              <a:rPr lang="zh-CN" altLang="en-US" dirty="0">
                <a:latin typeface="宋体" panose="02010600030101010101" pitchFamily="2" charset="-122"/>
                <a:ea typeface="宋体" panose="02010600030101010101" pitchFamily="2" charset="-122"/>
                <a:cs typeface="Calibri" panose="020F0502020204030204" pitchFamily="34" charset="0"/>
              </a:rPr>
              <a:t>解决了传统</a:t>
            </a:r>
            <a:r>
              <a:rPr lang="en-US" altLang="zh-CN" dirty="0">
                <a:latin typeface="宋体" panose="02010600030101010101" pitchFamily="2" charset="-122"/>
                <a:ea typeface="宋体" panose="02010600030101010101" pitchFamily="2" charset="-122"/>
                <a:cs typeface="Calibri" panose="020F0502020204030204" pitchFamily="34" charset="0"/>
              </a:rPr>
              <a:t>RNN</a:t>
            </a:r>
            <a:r>
              <a:rPr lang="zh-CN" altLang="en-US" dirty="0">
                <a:latin typeface="宋体" panose="02010600030101010101" pitchFamily="2" charset="-122"/>
                <a:ea typeface="宋体" panose="02010600030101010101" pitchFamily="2" charset="-122"/>
                <a:cs typeface="Calibri" panose="020F0502020204030204" pitchFamily="34" charset="0"/>
              </a:rPr>
              <a:t>在处理长时间序列时面临的梯度消失等问题。这使得它更适合用于通信中对信道状态进行长期预测的应用需求。</a:t>
            </a: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sp>
        <p:nvSpPr>
          <p:cNvPr id="5" name="文本框 4">
            <a:extLst>
              <a:ext uri="{FF2B5EF4-FFF2-40B4-BE49-F238E27FC236}">
                <a16:creationId xmlns:a16="http://schemas.microsoft.com/office/drawing/2014/main" id="{5B66B4FB-AE96-E148-E5AA-D63C20F1C35B}"/>
              </a:ext>
            </a:extLst>
          </p:cNvPr>
          <p:cNvSpPr txBox="1"/>
          <p:nvPr/>
        </p:nvSpPr>
        <p:spPr>
          <a:xfrm>
            <a:off x="5065815" y="5806027"/>
            <a:ext cx="125396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LSTM</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pic>
        <p:nvPicPr>
          <p:cNvPr id="6" name="图片 5">
            <a:extLst>
              <a:ext uri="{FF2B5EF4-FFF2-40B4-BE49-F238E27FC236}">
                <a16:creationId xmlns:a16="http://schemas.microsoft.com/office/drawing/2014/main" id="{1745B8C4-323D-1460-1434-06020C4C98E0}"/>
              </a:ext>
            </a:extLst>
          </p:cNvPr>
          <p:cNvPicPr>
            <a:picLocks noChangeAspect="1"/>
          </p:cNvPicPr>
          <p:nvPr/>
        </p:nvPicPr>
        <p:blipFill>
          <a:blip r:embed="rId2"/>
          <a:stretch>
            <a:fillRect/>
          </a:stretch>
        </p:blipFill>
        <p:spPr>
          <a:xfrm>
            <a:off x="3244235" y="3638167"/>
            <a:ext cx="4897120" cy="1875155"/>
          </a:xfrm>
          <a:prstGeom prst="rect">
            <a:avLst/>
          </a:prstGeom>
        </p:spPr>
      </p:pic>
    </p:spTree>
    <p:extLst>
      <p:ext uri="{BB962C8B-B14F-4D97-AF65-F5344CB8AC3E}">
        <p14:creationId xmlns:p14="http://schemas.microsoft.com/office/powerpoint/2010/main" val="1129020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-Transformer</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8" y="1142440"/>
            <a:ext cx="6068981" cy="4991454"/>
          </a:xfrm>
        </p:spPr>
        <p:txBody>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Transformer</a:t>
            </a:r>
            <a:r>
              <a:rPr lang="zh-CN" altLang="en-US" b="1" dirty="0">
                <a:latin typeface="宋体" panose="02010600030101010101" pitchFamily="2" charset="-122"/>
                <a:ea typeface="宋体" panose="02010600030101010101" pitchFamily="2" charset="-122"/>
                <a:cs typeface="Calibri" panose="020F0502020204030204" pitchFamily="34" charset="0"/>
              </a:rPr>
              <a:t>模型</a:t>
            </a:r>
            <a:r>
              <a:rPr lang="zh-CN" altLang="en-US" dirty="0">
                <a:latin typeface="宋体" panose="02010600030101010101" pitchFamily="2" charset="-122"/>
                <a:ea typeface="宋体" panose="02010600030101010101" pitchFamily="2" charset="-122"/>
                <a:cs typeface="Calibri" panose="020F0502020204030204" pitchFamily="34" charset="0"/>
              </a:rPr>
              <a:t>与传统的循环神经网络（</a:t>
            </a:r>
            <a:r>
              <a:rPr lang="en-US" altLang="zh-CN" dirty="0">
                <a:latin typeface="宋体" panose="02010600030101010101" pitchFamily="2" charset="-122"/>
                <a:ea typeface="宋体" panose="02010600030101010101" pitchFamily="2" charset="-122"/>
                <a:cs typeface="Calibri" panose="020F0502020204030204" pitchFamily="34" charset="0"/>
              </a:rPr>
              <a:t>RNN</a:t>
            </a:r>
            <a:r>
              <a:rPr lang="zh-CN" altLang="en-US" dirty="0">
                <a:latin typeface="宋体" panose="02010600030101010101" pitchFamily="2" charset="-122"/>
                <a:ea typeface="宋体" panose="02010600030101010101" pitchFamily="2" charset="-122"/>
                <a:cs typeface="Calibri" panose="020F0502020204030204" pitchFamily="34" charset="0"/>
              </a:rPr>
              <a:t>）或长短期记忆网络（</a:t>
            </a:r>
            <a:r>
              <a:rPr lang="en-US" altLang="zh-CN" dirty="0">
                <a:latin typeface="宋体" panose="02010600030101010101" pitchFamily="2" charset="-122"/>
                <a:ea typeface="宋体" panose="02010600030101010101" pitchFamily="2" charset="-122"/>
                <a:cs typeface="Calibri" panose="020F0502020204030204" pitchFamily="34" charset="0"/>
              </a:rPr>
              <a:t>LSTM</a:t>
            </a:r>
            <a:r>
              <a:rPr lang="zh-CN" altLang="en-US" dirty="0">
                <a:latin typeface="宋体" panose="02010600030101010101" pitchFamily="2" charset="-122"/>
                <a:ea typeface="宋体" panose="02010600030101010101" pitchFamily="2" charset="-122"/>
                <a:cs typeface="Calibri" panose="020F0502020204030204" pitchFamily="34" charset="0"/>
              </a:rPr>
              <a:t>）相比，不受限于序列的顺序处理，它能够并行处理整个序列并直接学习任意两个时间点之间的关系，从而提高了预测的准确性和效率。并且</a:t>
            </a:r>
            <a:r>
              <a:rPr lang="en-US" altLang="zh-CN" dirty="0">
                <a:latin typeface="宋体" panose="02010600030101010101" pitchFamily="2" charset="-122"/>
                <a:ea typeface="宋体" panose="02010600030101010101" pitchFamily="2" charset="-122"/>
                <a:cs typeface="Calibri" panose="020F0502020204030204" pitchFamily="34" charset="0"/>
              </a:rPr>
              <a:t>Transformer</a:t>
            </a:r>
            <a:r>
              <a:rPr lang="zh-CN" altLang="en-US" dirty="0">
                <a:latin typeface="宋体" panose="02010600030101010101" pitchFamily="2" charset="-122"/>
                <a:ea typeface="宋体" panose="02010600030101010101" pitchFamily="2" charset="-122"/>
                <a:cs typeface="Calibri" panose="020F0502020204030204" pitchFamily="34" charset="0"/>
              </a:rPr>
              <a:t>模型具备执行多步预测的能力，这使其更为契合卫星通信中对信道状态进行长期预测的应用场景需求。</a:t>
            </a:r>
            <a:endParaRPr lang="en-US" altLang="zh-CN" dirty="0">
              <a:latin typeface="宋体" panose="02010600030101010101" pitchFamily="2" charset="-122"/>
              <a:ea typeface="宋体" panose="02010600030101010101" pitchFamily="2" charset="-122"/>
              <a:cs typeface="Calibri" panose="020F0502020204030204" pitchFamily="34" charset="0"/>
            </a:endParaRPr>
          </a:p>
        </p:txBody>
      </p:sp>
      <p:sp>
        <p:nvSpPr>
          <p:cNvPr id="3" name="文本框 2">
            <a:extLst>
              <a:ext uri="{FF2B5EF4-FFF2-40B4-BE49-F238E27FC236}">
                <a16:creationId xmlns:a16="http://schemas.microsoft.com/office/drawing/2014/main" id="{AC991B9F-2957-0B89-664B-881462CA9DE8}"/>
              </a:ext>
            </a:extLst>
          </p:cNvPr>
          <p:cNvSpPr txBox="1"/>
          <p:nvPr/>
        </p:nvSpPr>
        <p:spPr>
          <a:xfrm>
            <a:off x="8123250" y="5321714"/>
            <a:ext cx="21075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Transformer</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pic>
        <p:nvPicPr>
          <p:cNvPr id="4" name="图片 3">
            <a:extLst>
              <a:ext uri="{FF2B5EF4-FFF2-40B4-BE49-F238E27FC236}">
                <a16:creationId xmlns:a16="http://schemas.microsoft.com/office/drawing/2014/main" id="{18116599-B297-9787-9E8D-3E9394048EEB}"/>
              </a:ext>
            </a:extLst>
          </p:cNvPr>
          <p:cNvPicPr>
            <a:picLocks noChangeAspect="1"/>
          </p:cNvPicPr>
          <p:nvPr/>
        </p:nvPicPr>
        <p:blipFill>
          <a:blip r:embed="rId2"/>
          <a:stretch>
            <a:fillRect/>
          </a:stretch>
        </p:blipFill>
        <p:spPr>
          <a:xfrm>
            <a:off x="6858963" y="1142440"/>
            <a:ext cx="4636135" cy="3957955"/>
          </a:xfrm>
          <a:prstGeom prst="rect">
            <a:avLst/>
          </a:prstGeom>
          <a:noFill/>
          <a:ln>
            <a:noFill/>
          </a:ln>
        </p:spPr>
      </p:pic>
    </p:spTree>
    <p:extLst>
      <p:ext uri="{BB962C8B-B14F-4D97-AF65-F5344CB8AC3E}">
        <p14:creationId xmlns:p14="http://schemas.microsoft.com/office/powerpoint/2010/main" val="597388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-Informer</a:t>
            </a:r>
            <a:endParaRPr lang="zh-CN" altLang="en-US" dirty="0"/>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a:xfrm>
            <a:off x="381368" y="1142440"/>
            <a:ext cx="5969883" cy="4991454"/>
          </a:xfrm>
        </p:spPr>
        <p:txBody>
          <a:bodyPr/>
          <a:lstStyle/>
          <a:p>
            <a:pPr indent="228600" algn="just"/>
            <a:r>
              <a:rPr lang="en-US" altLang="zh-CN" b="1" dirty="0">
                <a:latin typeface="宋体" panose="02010600030101010101" pitchFamily="2" charset="-122"/>
                <a:ea typeface="宋体" panose="02010600030101010101" pitchFamily="2" charset="-122"/>
                <a:cs typeface="Calibri" panose="020F0502020204030204" pitchFamily="34" charset="0"/>
              </a:rPr>
              <a:t>Informer</a:t>
            </a:r>
            <a:r>
              <a:rPr lang="zh-CN" altLang="en-US" b="1" dirty="0">
                <a:latin typeface="宋体" panose="02010600030101010101" pitchFamily="2" charset="-122"/>
                <a:ea typeface="宋体" panose="02010600030101010101" pitchFamily="2" charset="-122"/>
                <a:cs typeface="Calibri" panose="020F0502020204030204" pitchFamily="34" charset="0"/>
              </a:rPr>
              <a:t>模型</a:t>
            </a:r>
            <a:r>
              <a:rPr lang="zh-CN" altLang="en-US" dirty="0">
                <a:latin typeface="宋体" panose="02010600030101010101" pitchFamily="2" charset="-122"/>
                <a:ea typeface="宋体" panose="02010600030101010101" pitchFamily="2" charset="-122"/>
                <a:cs typeface="Calibri" panose="020F0502020204030204" pitchFamily="34" charset="0"/>
              </a:rPr>
              <a:t>中对注意力机制进行了优化，实际上全注意力机制中大部分注意力权重都为一个很小的值，于是引入了概率稀疏自注意力机制（</a:t>
            </a:r>
            <a:r>
              <a:rPr lang="en-US" altLang="zh-CN" dirty="0" err="1">
                <a:latin typeface="宋体" panose="02010600030101010101" pitchFamily="2" charset="-122"/>
                <a:ea typeface="宋体" panose="02010600030101010101" pitchFamily="2" charset="-122"/>
                <a:cs typeface="Calibri" panose="020F0502020204030204" pitchFamily="34" charset="0"/>
              </a:rPr>
              <a:t>ProbSparse</a:t>
            </a:r>
            <a:r>
              <a:rPr lang="en-US" altLang="zh-CN" dirty="0">
                <a:latin typeface="宋体" panose="02010600030101010101" pitchFamily="2" charset="-122"/>
                <a:ea typeface="宋体" panose="02010600030101010101" pitchFamily="2" charset="-122"/>
                <a:cs typeface="Calibri" panose="020F0502020204030204" pitchFamily="34" charset="0"/>
              </a:rPr>
              <a:t> Self-attention</a:t>
            </a:r>
            <a:r>
              <a:rPr lang="zh-CN" altLang="en-US" dirty="0">
                <a:latin typeface="宋体" panose="02010600030101010101" pitchFamily="2" charset="-122"/>
                <a:ea typeface="宋体" panose="02010600030101010101" pitchFamily="2" charset="-122"/>
                <a:cs typeface="Calibri" panose="020F0502020204030204" pitchFamily="34" charset="0"/>
              </a:rPr>
              <a:t>），只计算较高注意力权重的值，大大减少了无关注意力消耗的运算资源，提高了模型预测的速度，使其更加适合于处理卫星通信中的大规模时序数据。</a:t>
            </a: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sp>
        <p:nvSpPr>
          <p:cNvPr id="3" name="文本框 2">
            <a:extLst>
              <a:ext uri="{FF2B5EF4-FFF2-40B4-BE49-F238E27FC236}">
                <a16:creationId xmlns:a16="http://schemas.microsoft.com/office/drawing/2014/main" id="{AC991B9F-2957-0B89-664B-881462CA9DE8}"/>
              </a:ext>
            </a:extLst>
          </p:cNvPr>
          <p:cNvSpPr txBox="1"/>
          <p:nvPr/>
        </p:nvSpPr>
        <p:spPr>
          <a:xfrm>
            <a:off x="8441381" y="5015379"/>
            <a:ext cx="176083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Informer</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a:t>
            </a:r>
          </a:p>
        </p:txBody>
      </p:sp>
      <p:pic>
        <p:nvPicPr>
          <p:cNvPr id="4" name="图片 3">
            <a:extLst>
              <a:ext uri="{FF2B5EF4-FFF2-40B4-BE49-F238E27FC236}">
                <a16:creationId xmlns:a16="http://schemas.microsoft.com/office/drawing/2014/main" id="{538CD61D-98BA-B25E-EE54-742CA3042853}"/>
              </a:ext>
            </a:extLst>
          </p:cNvPr>
          <p:cNvPicPr>
            <a:picLocks noChangeAspect="1"/>
          </p:cNvPicPr>
          <p:nvPr/>
        </p:nvPicPr>
        <p:blipFill>
          <a:blip r:embed="rId2"/>
          <a:stretch>
            <a:fillRect/>
          </a:stretch>
        </p:blipFill>
        <p:spPr>
          <a:xfrm>
            <a:off x="6351251" y="1147705"/>
            <a:ext cx="5265420" cy="3641090"/>
          </a:xfrm>
          <a:prstGeom prst="rect">
            <a:avLst/>
          </a:prstGeom>
          <a:noFill/>
          <a:ln>
            <a:noFill/>
          </a:ln>
        </p:spPr>
      </p:pic>
    </p:spTree>
    <p:extLst>
      <p:ext uri="{BB962C8B-B14F-4D97-AF65-F5344CB8AC3E}">
        <p14:creationId xmlns:p14="http://schemas.microsoft.com/office/powerpoint/2010/main" val="393280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三、模型结构</a:t>
            </a:r>
            <a:r>
              <a:rPr lang="en-US" altLang="zh-CN" dirty="0"/>
              <a:t>-</a:t>
            </a:r>
            <a:r>
              <a:rPr lang="zh-CN" altLang="en-US" dirty="0"/>
              <a:t>训练策略</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marL="0" indent="0" algn="just">
              <a:buNone/>
            </a:pPr>
            <a:r>
              <a:rPr lang="zh-CN" altLang="zh-CN" b="1" dirty="0">
                <a:latin typeface="宋体" panose="02010600030101010101" pitchFamily="2" charset="-122"/>
                <a:ea typeface="宋体" panose="02010600030101010101" pitchFamily="2" charset="-122"/>
                <a:cs typeface="Calibri" panose="020F0502020204030204" pitchFamily="34" charset="0"/>
              </a:rPr>
              <a:t>训练策略</a:t>
            </a:r>
          </a:p>
          <a:p>
            <a:pPr indent="0" algn="just">
              <a:buNone/>
            </a:pPr>
            <a:r>
              <a:rPr lang="zh-CN" altLang="zh-CN" sz="2200" dirty="0">
                <a:latin typeface="宋体" panose="02010600030101010101" pitchFamily="2" charset="-122"/>
                <a:ea typeface="宋体" panose="02010600030101010101" pitchFamily="2" charset="-122"/>
                <a:cs typeface="Calibri" panose="020F0502020204030204" pitchFamily="34" charset="0"/>
              </a:rPr>
              <a:t>在实际训练过程中</a:t>
            </a:r>
            <a:r>
              <a:rPr lang="en-US" altLang="zh-CN" sz="2200" dirty="0">
                <a:latin typeface="宋体" panose="02010600030101010101" pitchFamily="2" charset="-122"/>
                <a:ea typeface="宋体" panose="02010600030101010101" pitchFamily="2" charset="-122"/>
                <a:cs typeface="Calibri" panose="020F0502020204030204" pitchFamily="34" charset="0"/>
              </a:rPr>
              <a:t>,</a:t>
            </a:r>
            <a:r>
              <a:rPr lang="zh-CN" altLang="zh-CN" sz="2200" dirty="0">
                <a:latin typeface="宋体" panose="02010600030101010101" pitchFamily="2" charset="-122"/>
                <a:ea typeface="宋体" panose="02010600030101010101" pitchFamily="2" charset="-122"/>
                <a:cs typeface="Calibri" panose="020F0502020204030204" pitchFamily="34" charset="0"/>
              </a:rPr>
              <a:t> </a:t>
            </a:r>
            <a:r>
              <a:rPr lang="zh-CN" altLang="en-US" sz="2200" dirty="0">
                <a:latin typeface="宋体" panose="02010600030101010101" pitchFamily="2" charset="-122"/>
                <a:ea typeface="宋体" panose="02010600030101010101" pitchFamily="2" charset="-122"/>
                <a:cs typeface="Calibri" panose="020F0502020204030204" pitchFamily="34" charset="0"/>
              </a:rPr>
              <a:t>设置多个观察窗口和预测窗口的大小来对模型进行训练，使用不同的训练策略对信道进行预测</a:t>
            </a:r>
            <a:r>
              <a:rPr lang="zh-CN" altLang="zh-CN" sz="2200" dirty="0">
                <a:latin typeface="宋体" panose="02010600030101010101" pitchFamily="2" charset="-122"/>
                <a:ea typeface="宋体" panose="02010600030101010101" pitchFamily="2" charset="-122"/>
                <a:cs typeface="Calibri" panose="020F0502020204030204" pitchFamily="34" charset="0"/>
              </a:rPr>
              <a:t>：</a:t>
            </a:r>
          </a:p>
          <a:p>
            <a:pPr marL="826755" lvl="1" indent="-342900" algn="just">
              <a:tabLst>
                <a:tab pos="457200" algn="l"/>
              </a:tabLst>
            </a:pPr>
            <a:r>
              <a:rPr lang="zh-CN" altLang="en-US"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dirty="0">
                <a:latin typeface="宋体" panose="02010600030101010101" pitchFamily="2" charset="-122"/>
                <a:ea typeface="宋体" panose="02010600030101010101" pitchFamily="2" charset="-122"/>
                <a:cs typeface="Calibri" panose="020F0502020204030204" pitchFamily="34" charset="0"/>
              </a:rPr>
              <a:t>32</a:t>
            </a:r>
            <a:r>
              <a:rPr lang="zh-CN" altLang="en-US" dirty="0">
                <a:latin typeface="宋体" panose="02010600030101010101" pitchFamily="2" charset="-122"/>
                <a:ea typeface="宋体" panose="02010600030101010101" pitchFamily="2" charset="-122"/>
                <a:cs typeface="Calibri" panose="020F0502020204030204" pitchFamily="34" charset="0"/>
              </a:rPr>
              <a:t>，预测窗口大小为</a:t>
            </a:r>
            <a:r>
              <a:rPr lang="en-US" altLang="zh-CN" dirty="0">
                <a:latin typeface="宋体" panose="02010600030101010101" pitchFamily="2" charset="-122"/>
                <a:ea typeface="宋体" panose="02010600030101010101" pitchFamily="2" charset="-122"/>
                <a:cs typeface="Calibri" panose="020F0502020204030204" pitchFamily="34" charset="0"/>
              </a:rPr>
              <a:t>4</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8</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16</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32-&gt;4 32-&gt;8 32-&gt;16</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zh-CN" altLang="zh-CN" dirty="0">
                <a:latin typeface="宋体" panose="02010600030101010101" pitchFamily="2" charset="-122"/>
                <a:ea typeface="宋体" panose="02010600030101010101" pitchFamily="2" charset="-122"/>
                <a:cs typeface="Calibri" panose="020F0502020204030204" pitchFamily="34" charset="0"/>
              </a:rPr>
              <a:t>。</a:t>
            </a:r>
          </a:p>
          <a:p>
            <a:pPr marL="826755" lvl="1" indent="-342900" algn="just">
              <a:tabLst>
                <a:tab pos="457200" algn="l"/>
              </a:tabLst>
            </a:pPr>
            <a:r>
              <a:rPr lang="zh-CN" altLang="en-US"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dirty="0">
                <a:latin typeface="宋体" panose="02010600030101010101" pitchFamily="2" charset="-122"/>
                <a:ea typeface="宋体" panose="02010600030101010101" pitchFamily="2" charset="-122"/>
                <a:cs typeface="Calibri" panose="020F0502020204030204" pitchFamily="34" charset="0"/>
              </a:rPr>
              <a:t>5</a:t>
            </a:r>
            <a:r>
              <a:rPr lang="zh-CN" altLang="en-US" dirty="0">
                <a:latin typeface="宋体" panose="02010600030101010101" pitchFamily="2" charset="-122"/>
                <a:ea typeface="宋体" panose="02010600030101010101" pitchFamily="2" charset="-122"/>
                <a:cs typeface="Calibri" panose="020F0502020204030204" pitchFamily="34" charset="0"/>
              </a:rPr>
              <a:t>，预测窗口大小为</a:t>
            </a:r>
            <a:r>
              <a:rPr lang="en-US" altLang="zh-CN" dirty="0">
                <a:latin typeface="宋体" panose="02010600030101010101" pitchFamily="2" charset="-122"/>
                <a:ea typeface="宋体" panose="02010600030101010101" pitchFamily="2" charset="-122"/>
                <a:cs typeface="Calibri" panose="020F0502020204030204" pitchFamily="34" charset="0"/>
              </a:rPr>
              <a:t>1</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3</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5</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5-&gt;1 5-&gt;3 5-&gt;5</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zh-CN" altLang="zh-CN" dirty="0">
                <a:latin typeface="宋体" panose="02010600030101010101" pitchFamily="2" charset="-122"/>
                <a:ea typeface="宋体" panose="02010600030101010101" pitchFamily="2" charset="-122"/>
                <a:cs typeface="Calibri" panose="020F0502020204030204" pitchFamily="34" charset="0"/>
              </a:rPr>
              <a:t> 。</a:t>
            </a:r>
          </a:p>
          <a:p>
            <a:pPr marL="826755" lvl="1" indent="-342900" algn="just">
              <a:tabLst>
                <a:tab pos="457200" algn="l"/>
              </a:tabLst>
            </a:pPr>
            <a:r>
              <a:rPr lang="zh-CN" altLang="en-US"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dirty="0">
                <a:latin typeface="宋体" panose="02010600030101010101" pitchFamily="2" charset="-122"/>
                <a:ea typeface="宋体" panose="02010600030101010101" pitchFamily="2" charset="-122"/>
                <a:cs typeface="Calibri" panose="020F0502020204030204" pitchFamily="34" charset="0"/>
              </a:rPr>
              <a:t>8</a:t>
            </a:r>
            <a:r>
              <a:rPr lang="zh-CN" altLang="en-US" dirty="0">
                <a:latin typeface="宋体" panose="02010600030101010101" pitchFamily="2" charset="-122"/>
                <a:ea typeface="宋体" panose="02010600030101010101" pitchFamily="2" charset="-122"/>
                <a:cs typeface="Calibri" panose="020F0502020204030204" pitchFamily="34" charset="0"/>
              </a:rPr>
              <a:t>，预测窗口大小为</a:t>
            </a:r>
            <a:r>
              <a:rPr lang="en-US" altLang="zh-CN" dirty="0">
                <a:latin typeface="宋体" panose="02010600030101010101" pitchFamily="2" charset="-122"/>
                <a:ea typeface="宋体" panose="02010600030101010101" pitchFamily="2" charset="-122"/>
                <a:cs typeface="Calibri" panose="020F0502020204030204" pitchFamily="34" charset="0"/>
              </a:rPr>
              <a:t>1</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2</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4</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en-US" altLang="zh-CN" dirty="0">
                <a:latin typeface="宋体" panose="02010600030101010101" pitchFamily="2" charset="-122"/>
                <a:ea typeface="宋体" panose="02010600030101010101" pitchFamily="2" charset="-122"/>
                <a:cs typeface="Calibri" panose="020F0502020204030204" pitchFamily="34" charset="0"/>
              </a:rPr>
              <a:t>8-&gt;1 8-&gt;2 8-&gt;4</a:t>
            </a:r>
            <a:r>
              <a:rPr lang="zh-CN" altLang="en-US" dirty="0">
                <a:latin typeface="宋体" panose="02010600030101010101" pitchFamily="2" charset="-122"/>
                <a:ea typeface="宋体" panose="02010600030101010101" pitchFamily="2" charset="-122"/>
                <a:cs typeface="Calibri" panose="020F0502020204030204" pitchFamily="34" charset="0"/>
              </a:rPr>
              <a:t>）</a:t>
            </a:r>
            <a:r>
              <a:rPr lang="zh-CN" altLang="zh-CN" dirty="0">
                <a:latin typeface="宋体" panose="02010600030101010101" pitchFamily="2" charset="-122"/>
                <a:ea typeface="宋体" panose="02010600030101010101" pitchFamily="2" charset="-122"/>
                <a:cs typeface="Calibri" panose="020F0502020204030204" pitchFamily="34" charset="0"/>
              </a:rPr>
              <a:t>。</a:t>
            </a:r>
            <a:endParaRPr lang="en-US" altLang="zh-CN" dirty="0">
              <a:latin typeface="宋体" panose="02010600030101010101" pitchFamily="2" charset="-122"/>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33792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四、数据集</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normAutofit/>
          </a:bodyPr>
          <a:lstStyle/>
          <a:p>
            <a:pPr>
              <a:defRPr/>
            </a:pPr>
            <a:r>
              <a:rPr lang="zh-CN" altLang="en-US" dirty="0">
                <a:latin typeface="宋体" panose="02010600030101010101" pitchFamily="2" charset="-122"/>
                <a:ea typeface="宋体" panose="02010600030101010101" pitchFamily="2" charset="-122"/>
                <a:cs typeface="Calibri" panose="020F0502020204030204" pitchFamily="34" charset="0"/>
              </a:rPr>
              <a:t>数据维度大小为</a:t>
            </a:r>
            <a:r>
              <a:rPr lang="en-US" altLang="zh-CN" dirty="0">
                <a:latin typeface="宋体" panose="02010600030101010101" pitchFamily="2" charset="-122"/>
                <a:ea typeface="宋体" panose="02010600030101010101" pitchFamily="2" charset="-122"/>
                <a:cs typeface="Calibri" panose="020F0502020204030204" pitchFamily="34" charset="0"/>
              </a:rPr>
              <a:t>5000*64</a:t>
            </a:r>
            <a:r>
              <a:rPr lang="zh-CN" altLang="en-US" dirty="0">
                <a:latin typeface="宋体" panose="02010600030101010101" pitchFamily="2" charset="-122"/>
                <a:ea typeface="宋体" panose="02010600030101010101" pitchFamily="2" charset="-122"/>
                <a:cs typeface="Calibri" panose="020F0502020204030204" pitchFamily="34" charset="0"/>
              </a:rPr>
              <a:t>，其中每一行代表一个时间戳，且每一行的前</a:t>
            </a:r>
            <a:r>
              <a:rPr lang="en-US" altLang="zh-CN" dirty="0">
                <a:latin typeface="宋体" panose="02010600030101010101" pitchFamily="2" charset="-122"/>
                <a:ea typeface="宋体" panose="02010600030101010101" pitchFamily="2" charset="-122"/>
                <a:cs typeface="Calibri" panose="020F0502020204030204" pitchFamily="34" charset="0"/>
              </a:rPr>
              <a:t>32</a:t>
            </a:r>
            <a:r>
              <a:rPr lang="zh-CN" altLang="en-US" dirty="0">
                <a:latin typeface="宋体" panose="02010600030101010101" pitchFamily="2" charset="-122"/>
                <a:ea typeface="宋体" panose="02010600030101010101" pitchFamily="2" charset="-122"/>
                <a:cs typeface="Calibri" panose="020F0502020204030204" pitchFamily="34" charset="0"/>
              </a:rPr>
              <a:t>个值是当前时间戳复数的实部，后</a:t>
            </a:r>
            <a:r>
              <a:rPr lang="en-US" altLang="zh-CN" dirty="0">
                <a:latin typeface="宋体" panose="02010600030101010101" pitchFamily="2" charset="-122"/>
                <a:ea typeface="宋体" panose="02010600030101010101" pitchFamily="2" charset="-122"/>
                <a:cs typeface="Calibri" panose="020F0502020204030204" pitchFamily="34" charset="0"/>
              </a:rPr>
              <a:t>32</a:t>
            </a:r>
            <a:r>
              <a:rPr lang="zh-CN" altLang="en-US" dirty="0">
                <a:latin typeface="宋体" panose="02010600030101010101" pitchFamily="2" charset="-122"/>
                <a:ea typeface="宋体" panose="02010600030101010101" pitchFamily="2" charset="-122"/>
                <a:cs typeface="Calibri" panose="020F0502020204030204" pitchFamily="34" charset="0"/>
              </a:rPr>
              <a:t>个值是复数的虚部。</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a:defRPr/>
            </a:pPr>
            <a:r>
              <a:rPr lang="en-US" altLang="zh-CN" b="1" dirty="0">
                <a:latin typeface="宋体" panose="02010600030101010101" pitchFamily="2" charset="-122"/>
                <a:ea typeface="宋体" panose="02010600030101010101" pitchFamily="2" charset="-122"/>
                <a:cs typeface="Calibri" panose="020F0502020204030204" pitchFamily="34" charset="0"/>
              </a:rPr>
              <a:t>Case1</a:t>
            </a:r>
            <a:r>
              <a:rPr lang="zh-CN" altLang="en-US" b="1" dirty="0">
                <a:latin typeface="宋体" panose="02010600030101010101" pitchFamily="2" charset="-122"/>
                <a:ea typeface="宋体" panose="02010600030101010101" pitchFamily="2" charset="-122"/>
                <a:cs typeface="Calibri" panose="020F0502020204030204" pitchFamily="34" charset="0"/>
              </a:rPr>
              <a:t>：</a:t>
            </a:r>
            <a:r>
              <a:rPr lang="zh-CN" altLang="en-US" dirty="0">
                <a:latin typeface="宋体" panose="02010600030101010101" pitchFamily="2" charset="-122"/>
                <a:ea typeface="宋体" panose="02010600030101010101" pitchFamily="2" charset="-122"/>
                <a:cs typeface="Calibri" panose="020F0502020204030204" pitchFamily="34" charset="0"/>
              </a:rPr>
              <a:t>室外环境下，接收端与发射端间距</a:t>
            </a:r>
            <a:r>
              <a:rPr lang="en-US" altLang="zh-CN" dirty="0">
                <a:latin typeface="宋体" panose="02010600030101010101" pitchFamily="2" charset="-122"/>
                <a:ea typeface="宋体" panose="02010600030101010101" pitchFamily="2" charset="-122"/>
                <a:cs typeface="Calibri" panose="020F0502020204030204" pitchFamily="34" charset="0"/>
              </a:rPr>
              <a:t>20</a:t>
            </a:r>
            <a:r>
              <a:rPr lang="zh-CN" altLang="en-US" dirty="0">
                <a:latin typeface="宋体" panose="02010600030101010101" pitchFamily="2" charset="-122"/>
                <a:ea typeface="宋体" panose="02010600030101010101" pitchFamily="2" charset="-122"/>
                <a:cs typeface="Calibri" panose="020F0502020204030204" pitchFamily="34" charset="0"/>
              </a:rPr>
              <a:t>米测得的信道数据。</a:t>
            </a:r>
            <a:endParaRPr kumimoji="0" lang="en-US" altLang="zh-CN" sz="25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endParaRPr>
          </a:p>
          <a:p>
            <a:pPr marL="241927" marR="0" lvl="0" indent="-241927" algn="l" defTabSz="967710" rtl="0" eaLnBrk="1" fontAlgn="auto" latinLnBrk="0" hangingPunct="1">
              <a:lnSpc>
                <a:spcPct val="120000"/>
              </a:lnSpc>
              <a:spcBef>
                <a:spcPts val="1058"/>
              </a:spcBef>
              <a:spcAft>
                <a:spcPts val="0"/>
              </a:spcAft>
              <a:buClrTx/>
              <a:buSzTx/>
              <a:buFontTx/>
              <a:buBlip>
                <a:blip r:embed="rId2"/>
              </a:buBlip>
              <a:tabLst/>
              <a:defRPr/>
            </a:pPr>
            <a:r>
              <a:rPr lang="en-US" altLang="zh-CN" b="1" dirty="0">
                <a:latin typeface="宋体" panose="02010600030101010101" pitchFamily="2" charset="-122"/>
                <a:ea typeface="宋体" panose="02010600030101010101" pitchFamily="2" charset="-122"/>
                <a:cs typeface="Calibri" panose="020F0502020204030204" pitchFamily="34" charset="0"/>
              </a:rPr>
              <a:t>Case2</a:t>
            </a:r>
            <a:r>
              <a:rPr lang="zh-CN" altLang="en-US" b="1" dirty="0">
                <a:latin typeface="宋体" panose="02010600030101010101" pitchFamily="2" charset="-122"/>
                <a:ea typeface="宋体" panose="02010600030101010101" pitchFamily="2" charset="-122"/>
                <a:cs typeface="Calibri" panose="020F0502020204030204" pitchFamily="34" charset="0"/>
              </a:rPr>
              <a:t>：</a:t>
            </a:r>
            <a:r>
              <a:rPr lang="zh-CN" altLang="en-US" dirty="0">
                <a:latin typeface="宋体" panose="02010600030101010101" pitchFamily="2" charset="-122"/>
                <a:ea typeface="宋体" panose="02010600030101010101" pitchFamily="2" charset="-122"/>
                <a:cs typeface="Calibri" panose="020F0502020204030204" pitchFamily="34" charset="0"/>
              </a:rPr>
              <a:t>室内环境下，接收端与发射端间距</a:t>
            </a:r>
            <a:r>
              <a:rPr lang="en-US" altLang="zh-CN" dirty="0">
                <a:latin typeface="宋体" panose="02010600030101010101" pitchFamily="2" charset="-122"/>
                <a:ea typeface="宋体" panose="02010600030101010101" pitchFamily="2" charset="-122"/>
                <a:cs typeface="Calibri" panose="020F0502020204030204" pitchFamily="34" charset="0"/>
              </a:rPr>
              <a:t>20</a:t>
            </a:r>
            <a:r>
              <a:rPr lang="zh-CN" altLang="en-US" dirty="0">
                <a:latin typeface="宋体" panose="02010600030101010101" pitchFamily="2" charset="-122"/>
                <a:ea typeface="宋体" panose="02010600030101010101" pitchFamily="2" charset="-122"/>
                <a:cs typeface="Calibri" panose="020F0502020204030204" pitchFamily="34" charset="0"/>
              </a:rPr>
              <a:t>米测得的信道数据</a:t>
            </a:r>
            <a:endParaRPr kumimoji="0" lang="en-US" altLang="zh-CN" sz="25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endParaRPr>
          </a:p>
          <a:p>
            <a:pPr marL="241927" marR="0" lvl="0" indent="-241927" algn="l" defTabSz="967710" rtl="0" eaLnBrk="1" fontAlgn="auto" latinLnBrk="0" hangingPunct="1">
              <a:lnSpc>
                <a:spcPct val="120000"/>
              </a:lnSpc>
              <a:spcBef>
                <a:spcPts val="1058"/>
              </a:spcBef>
              <a:spcAft>
                <a:spcPts val="0"/>
              </a:spcAft>
              <a:buClrTx/>
              <a:buSzTx/>
              <a:buFontTx/>
              <a:buBlip>
                <a:blip r:embed="rId2"/>
              </a:buBlip>
              <a:tabLst/>
              <a:defRPr/>
            </a:pPr>
            <a:r>
              <a:rPr lang="en-US" altLang="zh-CN" b="1" dirty="0">
                <a:latin typeface="宋体" panose="02010600030101010101" pitchFamily="2" charset="-122"/>
                <a:ea typeface="宋体" panose="02010600030101010101" pitchFamily="2" charset="-122"/>
                <a:cs typeface="Calibri" panose="020F0502020204030204" pitchFamily="34" charset="0"/>
              </a:rPr>
              <a:t>Case3</a:t>
            </a:r>
            <a:r>
              <a:rPr lang="zh-CN" altLang="en-US" b="1" dirty="0">
                <a:latin typeface="宋体" panose="02010600030101010101" pitchFamily="2" charset="-122"/>
                <a:ea typeface="宋体" panose="02010600030101010101" pitchFamily="2" charset="-122"/>
                <a:cs typeface="Calibri" panose="020F0502020204030204" pitchFamily="34" charset="0"/>
              </a:rPr>
              <a:t>：</a:t>
            </a:r>
            <a:r>
              <a:rPr lang="zh-CN" altLang="en-US" dirty="0">
                <a:latin typeface="宋体" panose="02010600030101010101" pitchFamily="2" charset="-122"/>
                <a:ea typeface="宋体" panose="02010600030101010101" pitchFamily="2" charset="-122"/>
                <a:cs typeface="Calibri" panose="020F0502020204030204" pitchFamily="34" charset="0"/>
              </a:rPr>
              <a:t>室内环境下，接收端与发射端间距</a:t>
            </a:r>
            <a:r>
              <a:rPr lang="en-US" altLang="zh-CN" dirty="0">
                <a:latin typeface="宋体" panose="02010600030101010101" pitchFamily="2" charset="-122"/>
                <a:ea typeface="宋体" panose="02010600030101010101" pitchFamily="2" charset="-122"/>
                <a:cs typeface="Calibri" panose="020F0502020204030204" pitchFamily="34" charset="0"/>
              </a:rPr>
              <a:t>30</a:t>
            </a:r>
            <a:r>
              <a:rPr lang="zh-CN" altLang="en-US" dirty="0">
                <a:latin typeface="宋体" panose="02010600030101010101" pitchFamily="2" charset="-122"/>
                <a:ea typeface="宋体" panose="02010600030101010101" pitchFamily="2" charset="-122"/>
                <a:cs typeface="Calibri" panose="020F0502020204030204" pitchFamily="34" charset="0"/>
              </a:rPr>
              <a:t>米测得的信道数据</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marL="0" marR="0" lvl="0" indent="0" algn="l" defTabSz="967710" rtl="0" eaLnBrk="1" fontAlgn="auto" latinLnBrk="0" hangingPunct="1">
              <a:lnSpc>
                <a:spcPct val="120000"/>
              </a:lnSpc>
              <a:spcBef>
                <a:spcPts val="1058"/>
              </a:spcBef>
              <a:spcAft>
                <a:spcPts val="0"/>
              </a:spcAft>
              <a:buClrTx/>
              <a:buSzTx/>
              <a:buNone/>
              <a:tabLst/>
              <a:defRPr/>
            </a:pPr>
            <a:endParaRPr lang="en-US" altLang="zh-CN" dirty="0">
              <a:latin typeface="宋体" panose="02010600030101010101" pitchFamily="2" charset="-122"/>
              <a:ea typeface="宋体" panose="02010600030101010101" pitchFamily="2" charset="-122"/>
              <a:cs typeface="Calibri" panose="020F0502020204030204" pitchFamily="34" charset="0"/>
            </a:endParaRPr>
          </a:p>
          <a:p>
            <a:pPr marL="0" marR="0" lvl="0" indent="0" algn="l" defTabSz="967710" rtl="0" eaLnBrk="1" fontAlgn="auto" latinLnBrk="0" hangingPunct="1">
              <a:lnSpc>
                <a:spcPct val="120000"/>
              </a:lnSpc>
              <a:spcBef>
                <a:spcPts val="1058"/>
              </a:spcBef>
              <a:spcAft>
                <a:spcPts val="0"/>
              </a:spcAft>
              <a:buClrTx/>
              <a:buSzTx/>
              <a:buNone/>
              <a:tabLst/>
              <a:defRPr/>
            </a:pPr>
            <a:endParaRPr kumimoji="0" lang="en-US" altLang="zh-CN" sz="25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endParaRPr>
          </a:p>
          <a:p>
            <a:pPr indent="0" algn="just">
              <a:buNone/>
            </a:pPr>
            <a:endParaRPr lang="zh-CN" altLang="en-US" dirty="0">
              <a:latin typeface="宋体" panose="02010600030101010101" pitchFamily="2" charset="-122"/>
              <a:ea typeface="宋体" panose="02010600030101010101" pitchFamily="2" charset="-122"/>
              <a:cs typeface="Calibri" panose="020F0502020204030204" pitchFamily="34" charset="0"/>
            </a:endParaRPr>
          </a:p>
          <a:p>
            <a:pPr indent="0" algn="just">
              <a:buNone/>
            </a:pPr>
            <a:endParaRPr lang="en-US" altLang="zh-CN" b="1" dirty="0">
              <a:latin typeface="宋体" panose="02010600030101010101" pitchFamily="2" charset="-122"/>
              <a:ea typeface="宋体" panose="02010600030101010101" pitchFamily="2" charset="-122"/>
              <a:cs typeface="Calibri" panose="020F0502020204030204" pitchFamily="34" charset="0"/>
            </a:endParaRPr>
          </a:p>
        </p:txBody>
      </p:sp>
      <p:pic>
        <p:nvPicPr>
          <p:cNvPr id="2" name="图片 1">
            <a:extLst>
              <a:ext uri="{FF2B5EF4-FFF2-40B4-BE49-F238E27FC236}">
                <a16:creationId xmlns:a16="http://schemas.microsoft.com/office/drawing/2014/main" id="{0E64324E-EBFD-DC8C-0203-870025DE97B9}"/>
              </a:ext>
            </a:extLst>
          </p:cNvPr>
          <p:cNvPicPr>
            <a:picLocks noChangeAspect="1"/>
          </p:cNvPicPr>
          <p:nvPr/>
        </p:nvPicPr>
        <p:blipFill>
          <a:blip r:embed="rId3"/>
          <a:stretch>
            <a:fillRect/>
          </a:stretch>
        </p:blipFill>
        <p:spPr>
          <a:xfrm>
            <a:off x="381368" y="3923780"/>
            <a:ext cx="3124711" cy="2343924"/>
          </a:xfrm>
          <a:prstGeom prst="rect">
            <a:avLst/>
          </a:prstGeom>
        </p:spPr>
      </p:pic>
      <p:pic>
        <p:nvPicPr>
          <p:cNvPr id="5" name="图片 4">
            <a:extLst>
              <a:ext uri="{FF2B5EF4-FFF2-40B4-BE49-F238E27FC236}">
                <a16:creationId xmlns:a16="http://schemas.microsoft.com/office/drawing/2014/main" id="{18213E97-4C19-A96D-9EE3-C2514FC60A63}"/>
              </a:ext>
            </a:extLst>
          </p:cNvPr>
          <p:cNvPicPr>
            <a:picLocks noChangeAspect="1"/>
          </p:cNvPicPr>
          <p:nvPr/>
        </p:nvPicPr>
        <p:blipFill>
          <a:blip r:embed="rId4"/>
          <a:stretch>
            <a:fillRect/>
          </a:stretch>
        </p:blipFill>
        <p:spPr>
          <a:xfrm>
            <a:off x="3713695" y="3923779"/>
            <a:ext cx="3125748" cy="2343924"/>
          </a:xfrm>
          <a:prstGeom prst="rect">
            <a:avLst/>
          </a:prstGeom>
        </p:spPr>
      </p:pic>
      <p:pic>
        <p:nvPicPr>
          <p:cNvPr id="6" name="图片 5">
            <a:extLst>
              <a:ext uri="{FF2B5EF4-FFF2-40B4-BE49-F238E27FC236}">
                <a16:creationId xmlns:a16="http://schemas.microsoft.com/office/drawing/2014/main" id="{5D072F70-ACF5-3500-C62D-41252D33672E}"/>
              </a:ext>
            </a:extLst>
          </p:cNvPr>
          <p:cNvPicPr>
            <a:picLocks noChangeAspect="1"/>
          </p:cNvPicPr>
          <p:nvPr/>
        </p:nvPicPr>
        <p:blipFill>
          <a:blip r:embed="rId5"/>
          <a:stretch>
            <a:fillRect/>
          </a:stretch>
        </p:blipFill>
        <p:spPr>
          <a:xfrm>
            <a:off x="7046021" y="3923777"/>
            <a:ext cx="3125231" cy="2343924"/>
          </a:xfrm>
          <a:prstGeom prst="rect">
            <a:avLst/>
          </a:prstGeom>
        </p:spPr>
      </p:pic>
    </p:spTree>
    <p:extLst>
      <p:ext uri="{BB962C8B-B14F-4D97-AF65-F5344CB8AC3E}">
        <p14:creationId xmlns:p14="http://schemas.microsoft.com/office/powerpoint/2010/main" val="2504558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normAutofit fontScale="92500" lnSpcReduction="20000"/>
          </a:bodyPr>
          <a:lstStyle/>
          <a:p>
            <a:pPr indent="228600" algn="just"/>
            <a:r>
              <a:rPr lang="zh-CN" altLang="en-US" b="1" dirty="0">
                <a:latin typeface="宋体" panose="02010600030101010101" pitchFamily="2" charset="-122"/>
                <a:ea typeface="宋体" panose="02010600030101010101" pitchFamily="2" charset="-122"/>
                <a:cs typeface="Calibri" panose="020F0502020204030204" pitchFamily="34" charset="0"/>
              </a:rPr>
              <a:t>评估指标</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1" indent="0" algn="just">
              <a:buNone/>
            </a:pPr>
            <a:r>
              <a:rPr lang="en-US" altLang="zh-CN" sz="1734" dirty="0">
                <a:latin typeface="宋体" panose="02010600030101010101" pitchFamily="2" charset="-122"/>
                <a:ea typeface="宋体" panose="02010600030101010101" pitchFamily="2" charset="-122"/>
                <a:cs typeface="Calibri" panose="020F0502020204030204" pitchFamily="34" charset="0"/>
              </a:rPr>
              <a:t>MAE</a:t>
            </a:r>
            <a:r>
              <a:rPr lang="zh-CN" altLang="en-US" sz="1734" dirty="0">
                <a:latin typeface="宋体" panose="02010600030101010101" pitchFamily="2" charset="-122"/>
                <a:ea typeface="宋体" panose="02010600030101010101" pitchFamily="2" charset="-122"/>
                <a:cs typeface="Calibri" panose="020F0502020204030204" pitchFamily="34" charset="0"/>
              </a:rPr>
              <a:t>（</a:t>
            </a:r>
            <a:r>
              <a:rPr lang="en-US" altLang="zh-CN" sz="1734" dirty="0">
                <a:latin typeface="宋体" panose="02010600030101010101" pitchFamily="2" charset="-122"/>
                <a:ea typeface="宋体" panose="02010600030101010101" pitchFamily="2" charset="-122"/>
                <a:cs typeface="Calibri" panose="020F0502020204030204" pitchFamily="34" charset="0"/>
              </a:rPr>
              <a:t>Mean Absolute Error</a:t>
            </a:r>
            <a:r>
              <a:rPr lang="zh-CN" altLang="en-US" sz="1734" dirty="0">
                <a:latin typeface="宋体" panose="02010600030101010101" pitchFamily="2" charset="-122"/>
                <a:ea typeface="宋体" panose="02010600030101010101" pitchFamily="2" charset="-122"/>
                <a:cs typeface="Calibri" panose="020F0502020204030204" pitchFamily="34" charset="0"/>
              </a:rPr>
              <a:t>，均值绝对误差）；</a:t>
            </a:r>
            <a:endParaRPr lang="en-US" altLang="zh-CN" sz="1734" dirty="0">
              <a:latin typeface="宋体" panose="02010600030101010101" pitchFamily="2" charset="-122"/>
              <a:ea typeface="宋体" panose="02010600030101010101" pitchFamily="2" charset="-122"/>
              <a:cs typeface="Calibri" panose="020F0502020204030204" pitchFamily="34" charset="0"/>
            </a:endParaRPr>
          </a:p>
          <a:p>
            <a:pPr lvl="1" indent="0" algn="just">
              <a:buNone/>
            </a:pPr>
            <a:r>
              <a:rPr lang="en-US" altLang="zh-CN" sz="1734" dirty="0">
                <a:latin typeface="宋体" panose="02010600030101010101" pitchFamily="2" charset="-122"/>
                <a:ea typeface="宋体" panose="02010600030101010101" pitchFamily="2" charset="-122"/>
                <a:cs typeface="Calibri" panose="020F0502020204030204" pitchFamily="34" charset="0"/>
              </a:rPr>
              <a:t>RMSE</a:t>
            </a:r>
            <a:r>
              <a:rPr lang="zh-CN" altLang="en-US" sz="1734" dirty="0">
                <a:latin typeface="宋体" panose="02010600030101010101" pitchFamily="2" charset="-122"/>
                <a:ea typeface="宋体" panose="02010600030101010101" pitchFamily="2" charset="-122"/>
                <a:cs typeface="Calibri" panose="020F0502020204030204" pitchFamily="34" charset="0"/>
              </a:rPr>
              <a:t>（</a:t>
            </a:r>
            <a:r>
              <a:rPr lang="en-US" altLang="zh-CN" sz="1734" dirty="0">
                <a:latin typeface="宋体" panose="02010600030101010101" pitchFamily="2" charset="-122"/>
                <a:ea typeface="宋体" panose="02010600030101010101" pitchFamily="2" charset="-122"/>
                <a:cs typeface="Calibri" panose="020F0502020204030204" pitchFamily="34" charset="0"/>
              </a:rPr>
              <a:t>Root Mean Squared Error</a:t>
            </a:r>
            <a:r>
              <a:rPr lang="zh-CN" altLang="en-US" sz="1734" dirty="0">
                <a:latin typeface="宋体" panose="02010600030101010101" pitchFamily="2" charset="-122"/>
                <a:ea typeface="宋体" panose="02010600030101010101" pitchFamily="2" charset="-122"/>
                <a:cs typeface="Calibri" panose="020F0502020204030204" pitchFamily="34" charset="0"/>
              </a:rPr>
              <a:t>，均方根误差）；</a:t>
            </a:r>
            <a:endParaRPr lang="en-US" altLang="zh-CN" sz="1734" dirty="0">
              <a:latin typeface="宋体" panose="02010600030101010101" pitchFamily="2" charset="-122"/>
              <a:ea typeface="宋体" panose="02010600030101010101" pitchFamily="2" charset="-122"/>
              <a:cs typeface="Calibri" panose="020F0502020204030204" pitchFamily="34" charset="0"/>
            </a:endParaRPr>
          </a:p>
          <a:p>
            <a:pPr lvl="1" indent="0" algn="just">
              <a:buNone/>
            </a:pPr>
            <a:r>
              <a:rPr lang="en-US" altLang="zh-CN" sz="1734" dirty="0">
                <a:latin typeface="宋体" panose="02010600030101010101" pitchFamily="2" charset="-122"/>
                <a:ea typeface="宋体" panose="02010600030101010101" pitchFamily="2" charset="-122"/>
                <a:cs typeface="Calibri" panose="020F0502020204030204" pitchFamily="34" charset="0"/>
              </a:rPr>
              <a:t>Flops</a:t>
            </a:r>
            <a:r>
              <a:rPr lang="zh-CN" altLang="en-US" sz="1734" dirty="0">
                <a:latin typeface="宋体" panose="02010600030101010101" pitchFamily="2" charset="-122"/>
                <a:ea typeface="宋体" panose="02010600030101010101" pitchFamily="2" charset="-122"/>
                <a:cs typeface="Calibri" panose="020F0502020204030204" pitchFamily="34" charset="0"/>
              </a:rPr>
              <a:t>（</a:t>
            </a:r>
            <a:r>
              <a:rPr lang="en-US" altLang="zh-CN" sz="1734" dirty="0">
                <a:latin typeface="宋体" panose="02010600030101010101" pitchFamily="2" charset="-122"/>
                <a:ea typeface="宋体" panose="02010600030101010101" pitchFamily="2" charset="-122"/>
                <a:cs typeface="Calibri" panose="020F0502020204030204" pitchFamily="34" charset="0"/>
              </a:rPr>
              <a:t>Floating Point Operations Per Second</a:t>
            </a:r>
            <a:r>
              <a:rPr lang="zh-CN" altLang="en-US" sz="1734" dirty="0">
                <a:latin typeface="宋体" panose="02010600030101010101" pitchFamily="2" charset="-122"/>
                <a:ea typeface="宋体" panose="02010600030101010101" pitchFamily="2" charset="-122"/>
                <a:cs typeface="Calibri" panose="020F0502020204030204" pitchFamily="34" charset="0"/>
              </a:rPr>
              <a:t>，浮点运算每秒）；</a:t>
            </a:r>
            <a:endParaRPr lang="en-US" altLang="zh-CN" sz="1734" dirty="0">
              <a:latin typeface="宋体" panose="02010600030101010101" pitchFamily="2" charset="-122"/>
              <a:ea typeface="宋体" panose="02010600030101010101" pitchFamily="2" charset="-122"/>
              <a:cs typeface="Calibri" panose="020F0502020204030204" pitchFamily="34" charset="0"/>
            </a:endParaRPr>
          </a:p>
          <a:p>
            <a:pPr lvl="1" indent="0" algn="just">
              <a:buNone/>
            </a:pPr>
            <a:r>
              <a:rPr lang="en-US" altLang="zh-CN" sz="1734" dirty="0">
                <a:latin typeface="宋体" panose="02010600030101010101" pitchFamily="2" charset="-122"/>
                <a:ea typeface="宋体" panose="02010600030101010101" pitchFamily="2" charset="-122"/>
                <a:cs typeface="Calibri" panose="020F0502020204030204" pitchFamily="34" charset="0"/>
              </a:rPr>
              <a:t>Params</a:t>
            </a:r>
            <a:r>
              <a:rPr lang="zh-CN" altLang="en-US" sz="1734" dirty="0">
                <a:latin typeface="宋体" panose="02010600030101010101" pitchFamily="2" charset="-122"/>
                <a:ea typeface="宋体" panose="02010600030101010101" pitchFamily="2" charset="-122"/>
                <a:cs typeface="Calibri" panose="020F0502020204030204" pitchFamily="34" charset="0"/>
              </a:rPr>
              <a:t>（</a:t>
            </a:r>
            <a:r>
              <a:rPr lang="en-US" altLang="zh-CN" sz="1734" dirty="0">
                <a:latin typeface="宋体" panose="02010600030101010101" pitchFamily="2" charset="-122"/>
                <a:ea typeface="宋体" panose="02010600030101010101" pitchFamily="2" charset="-122"/>
                <a:cs typeface="Calibri" panose="020F0502020204030204" pitchFamily="34" charset="0"/>
              </a:rPr>
              <a:t>parameters</a:t>
            </a:r>
            <a:r>
              <a:rPr lang="zh-CN" altLang="en-US" sz="1734" dirty="0">
                <a:latin typeface="宋体" panose="02010600030101010101" pitchFamily="2" charset="-122"/>
                <a:ea typeface="宋体" panose="02010600030101010101" pitchFamily="2" charset="-122"/>
                <a:cs typeface="Calibri" panose="020F0502020204030204" pitchFamily="34" charset="0"/>
              </a:rPr>
              <a:t>，参数量）；</a:t>
            </a:r>
            <a:endParaRPr lang="en-US" altLang="zh-CN" sz="1734" dirty="0">
              <a:latin typeface="宋体" panose="02010600030101010101" pitchFamily="2" charset="-122"/>
              <a:ea typeface="宋体" panose="02010600030101010101" pitchFamily="2" charset="-122"/>
              <a:cs typeface="Calibri" panose="020F0502020204030204" pitchFamily="34" charset="0"/>
            </a:endParaRPr>
          </a:p>
          <a:p>
            <a:pPr lvl="1" indent="0" algn="just">
              <a:buNone/>
            </a:pPr>
            <a:r>
              <a:rPr lang="en-US" altLang="zh-CN" sz="1734" dirty="0">
                <a:latin typeface="宋体" panose="02010600030101010101" pitchFamily="2" charset="-122"/>
                <a:ea typeface="宋体" panose="02010600030101010101" pitchFamily="2" charset="-122"/>
                <a:cs typeface="Calibri" panose="020F0502020204030204" pitchFamily="34" charset="0"/>
              </a:rPr>
              <a:t>SGCS</a:t>
            </a:r>
            <a:r>
              <a:rPr lang="zh-CN" altLang="en-US" sz="1734" dirty="0">
                <a:latin typeface="宋体" panose="02010600030101010101" pitchFamily="2" charset="-122"/>
                <a:ea typeface="宋体" panose="02010600030101010101" pitchFamily="2" charset="-122"/>
                <a:cs typeface="Calibri" panose="020F0502020204030204" pitchFamily="34" charset="0"/>
              </a:rPr>
              <a:t>（</a:t>
            </a:r>
            <a:r>
              <a:rPr lang="en-US" altLang="zh-CN" sz="1734" dirty="0">
                <a:latin typeface="宋体" panose="02010600030101010101" pitchFamily="2" charset="-122"/>
                <a:ea typeface="宋体" panose="02010600030101010101" pitchFamily="2" charset="-122"/>
                <a:cs typeface="Calibri" panose="020F0502020204030204" pitchFamily="34" charset="0"/>
              </a:rPr>
              <a:t>Self-Gating Cosine Similarity</a:t>
            </a:r>
            <a:r>
              <a:rPr lang="zh-CN" altLang="en-US" sz="1734" dirty="0">
                <a:latin typeface="宋体" panose="02010600030101010101" pitchFamily="2" charset="-122"/>
                <a:ea typeface="宋体" panose="02010600030101010101" pitchFamily="2" charset="-122"/>
                <a:cs typeface="Calibri" panose="020F0502020204030204" pitchFamily="34" charset="0"/>
              </a:rPr>
              <a:t>，余弦相似度）。</a:t>
            </a:r>
            <a:endParaRPr lang="en-US" altLang="zh-CN" sz="1734" dirty="0">
              <a:latin typeface="宋体" panose="02010600030101010101" pitchFamily="2" charset="-122"/>
              <a:ea typeface="宋体" panose="02010600030101010101" pitchFamily="2" charset="-122"/>
              <a:cs typeface="Calibri" panose="020F0502020204030204" pitchFamily="34" charset="0"/>
            </a:endParaRPr>
          </a:p>
          <a:p>
            <a:pPr indent="228600" algn="just"/>
            <a:r>
              <a:rPr lang="zh-CN" altLang="en-US" b="1" dirty="0">
                <a:latin typeface="宋体" panose="02010600030101010101" pitchFamily="2" charset="-122"/>
                <a:ea typeface="宋体" panose="02010600030101010101" pitchFamily="2" charset="-122"/>
                <a:cs typeface="Calibri" panose="020F0502020204030204" pitchFamily="34" charset="0"/>
              </a:rPr>
              <a:t>模型命名</a:t>
            </a:r>
            <a:r>
              <a:rPr lang="zh-CN" altLang="zh-CN" b="1" dirty="0">
                <a:latin typeface="宋体" panose="02010600030101010101" pitchFamily="2" charset="-122"/>
                <a:ea typeface="宋体" panose="02010600030101010101" pitchFamily="2" charset="-122"/>
                <a:cs typeface="Calibri" panose="020F0502020204030204" pitchFamily="34" charset="0"/>
              </a:rPr>
              <a:t>：</a:t>
            </a: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MLP</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CNN</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endParaRPr lang="zh-CN" altLang="zh-CN" dirty="0">
              <a:latin typeface="宋体" panose="02010600030101010101" pitchFamily="2" charset="-122"/>
              <a:ea typeface="宋体" panose="02010600030101010101" pitchFamily="2" charset="-122"/>
              <a:cs typeface="Calibri" panose="020F0502020204030204" pitchFamily="34" charset="0"/>
            </a:endParaRP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CNN</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CNN</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r>
              <a:rPr lang="zh-CN" altLang="zh-CN" dirty="0">
                <a:latin typeface="宋体" panose="02010600030101010101" pitchFamily="2" charset="-122"/>
                <a:ea typeface="宋体" panose="02010600030101010101" pitchFamily="2" charset="-122"/>
                <a:cs typeface="Calibri" panose="020F0502020204030204" pitchFamily="34" charset="0"/>
              </a:rPr>
              <a:t>；</a:t>
            </a: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RNN</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RNN</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r>
              <a:rPr lang="zh-CN" altLang="zh-CN" dirty="0">
                <a:latin typeface="宋体" panose="02010600030101010101" pitchFamily="2" charset="-122"/>
                <a:ea typeface="宋体" panose="02010600030101010101" pitchFamily="2" charset="-122"/>
                <a:cs typeface="Calibri" panose="020F0502020204030204" pitchFamily="34" charset="0"/>
              </a:rPr>
              <a:t>；</a:t>
            </a: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LSTM</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LSTM</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endParaRPr lang="en-US" altLang="zh-CN" dirty="0">
              <a:latin typeface="宋体" panose="02010600030101010101" pitchFamily="2" charset="-122"/>
              <a:ea typeface="宋体" panose="02010600030101010101" pitchFamily="2" charset="-122"/>
              <a:cs typeface="Calibri" panose="020F0502020204030204" pitchFamily="34" charset="0"/>
            </a:endParaRP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Transformer</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Transformer</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p>
          <a:p>
            <a:pPr marL="826755" lvl="1" indent="-342900" algn="just">
              <a:tabLst>
                <a:tab pos="457200" algn="l"/>
              </a:tabLst>
            </a:pPr>
            <a:r>
              <a:rPr lang="en-US" altLang="zh-CN" dirty="0">
                <a:latin typeface="宋体" panose="02010600030101010101" pitchFamily="2" charset="-122"/>
                <a:ea typeface="宋体" panose="02010600030101010101" pitchFamily="2" charset="-122"/>
                <a:cs typeface="Calibri" panose="020F0502020204030204" pitchFamily="34" charset="0"/>
              </a:rPr>
              <a:t>Informer</a:t>
            </a:r>
            <a:r>
              <a:rPr lang="zh-CN" altLang="en-US" dirty="0">
                <a:latin typeface="宋体" panose="02010600030101010101" pitchFamily="2" charset="-122"/>
                <a:ea typeface="宋体" panose="02010600030101010101" pitchFamily="2" charset="-122"/>
                <a:cs typeface="Calibri" panose="020F0502020204030204" pitchFamily="34" charset="0"/>
              </a:rPr>
              <a:t>为使用</a:t>
            </a:r>
            <a:r>
              <a:rPr lang="en-US" altLang="zh-CN" dirty="0">
                <a:latin typeface="宋体" panose="02010600030101010101" pitchFamily="2" charset="-122"/>
                <a:ea typeface="宋体" panose="02010600030101010101" pitchFamily="2" charset="-122"/>
                <a:cs typeface="Calibri" panose="020F0502020204030204" pitchFamily="34" charset="0"/>
              </a:rPr>
              <a:t>Informer</a:t>
            </a:r>
            <a:r>
              <a:rPr lang="zh-CN" altLang="en-US" dirty="0">
                <a:latin typeface="宋体" panose="02010600030101010101" pitchFamily="2" charset="-122"/>
                <a:ea typeface="宋体" panose="02010600030101010101" pitchFamily="2" charset="-122"/>
                <a:cs typeface="Calibri" panose="020F0502020204030204" pitchFamily="34" charset="0"/>
              </a:rPr>
              <a:t>预测模型进行预测的结果。</a:t>
            </a:r>
          </a:p>
          <a:p>
            <a:pPr marL="826755" lvl="1" indent="-342900" algn="just">
              <a:tabLst>
                <a:tab pos="457200" algn="l"/>
              </a:tabLst>
            </a:pPr>
            <a:endParaRPr lang="zh-CN" altLang="zh-CN" dirty="0">
              <a:latin typeface="宋体" panose="02010600030101010101" pitchFamily="2" charset="-122"/>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51638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(1)Case1</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(a)</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32</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4</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16</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3540821930"/>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32-&gt;4</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0.035023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0.043632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163.84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4227.84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0.99933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0.05588</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0.069652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633.856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5345.536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0.998189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0.03607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0.045022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300.544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0.999322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0.045114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0.055157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333.824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0.998936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0.131094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0.166066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86448.7997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0.992526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0.58035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0.706751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86043.263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0.683285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2707150104"/>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32-&gt;16</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0.040863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0.050743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555.9419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16811.52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0.998981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0.065206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0.081082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657.1151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6132.736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0.039544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0.049383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312.2063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821.248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0.999138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0.045885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0.056551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339.2881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592.896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0.998866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0.148824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0.201033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97936.9984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0.988156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0.68515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0.812659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97531.4616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0.524225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971691163"/>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32-&gt;8</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0.037278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0.04635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294.3222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8422.4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0.999213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0.05914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0.073648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640.7639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5607.936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0.997913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0.037406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0.04667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304.0307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558.592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0.999265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0.045445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0.055703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335.2003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461.312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0.998902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0.116276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0.161595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90278.1993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0.992702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0.619891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0.749966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89872.6625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0.618094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826141"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16</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8</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40036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(1)Case1</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(b)</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5</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3</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5</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3843529925"/>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5-&gt;1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0.10741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0.133164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10.4025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197.184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0.992736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0.099161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0.124851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84.7157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1478.72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0.111265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0.132165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48.0955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0.992832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0.14653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0.174135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53.183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0.987868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0.07564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0.095577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13866.6312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0.997609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0.160552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0.202292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15746.7279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0.988704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1221066392"/>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-&gt;5</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0.110331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0.136596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31.192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0.992028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0.124813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0.156101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92.9912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1741.12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0.99163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0.145828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0.174212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52.2304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460.096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0.987808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0.163069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0.194411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55.2359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411.968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0.985253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0.157842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0.201167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17696.0307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0.98928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0.203311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0.25579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19576.1275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0.981227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3278426111"/>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-&gt;3</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0.109576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0.135748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20.8051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524.992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0.992253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0.114977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0.144086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88.8767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0.993058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0.126482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0.151184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50.176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394.432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0.991043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0.128616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0.15492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54.2232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379.072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0.990695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0.118082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0.148533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15781.3309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0.191301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0.241385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17661.4277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0.983219</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5</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3</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3545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(1)Case1</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(c)</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2</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4</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1508252715"/>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0.055157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0.068685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16.6357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295.488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0.998116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0.095012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0.119373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160.8988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2003.008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0.995302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0.110397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0.130268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76.2905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0.993518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0.163865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0.194211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84.7383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0.984812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0.070955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0.089537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21612.1999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0.997884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0.155884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0.196132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22820.4216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0.989398</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2000211046"/>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8-&gt;4</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0.05764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0.071743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41.5894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1082.112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0.997799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0.10491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0.131398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167.1372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2199.808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0.994231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0.104057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0.127138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79.4097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0.993974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0.174804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0.206409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86.2979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0.982856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0.124573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0.156738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24484.2496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0.993439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0.212631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0.267391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25692.4713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0.979264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314974356"/>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8-&gt;2</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0.056774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0.070722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24.9536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557.696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0.097641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0.122549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162.9783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2068.608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0.995018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0.110153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77.3302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0.993246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0.157717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0.189073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85.2582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362.624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0.986462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0.082111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0.103261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22569.5498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0.997183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0.173892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0.218961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23777.7715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0.986581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2</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5423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(2)Case2</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(a)</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32</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4</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16</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1088922117"/>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32-&gt;4</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0.037535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0.047761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163.84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4227.84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0.998078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0.055465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0.069631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633.856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5345.536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0.995895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0.039987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0.050879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300.544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0.99781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0.04374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0.055457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333.824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0.997408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0.210853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0.266662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86448.7997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0.981912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0.671055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0.807031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86043.263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0.593183</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3544562125"/>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32-&gt;16</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0.037963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0.048301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555.9419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16811.52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0.998041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0.053633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0.067394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657.1151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6132.736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0.996137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0.050771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312.2063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821.248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0.997835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0.044047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0.055811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339.2881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592.896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0.997358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0.277853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0.351855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97936.9984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0.96532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0.750827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0.885602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97531.4616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0.464131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1631100056"/>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32-&gt;8</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0.037575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0.047849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294.3222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8422.4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0.998068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0.054391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0.068274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640.7639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5607.936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0.996041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0.039681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0.050515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304.0307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558.592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0.997842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0.043981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0.055772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335.2003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461.312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0.997373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0.187169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0.246849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90278.1993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0.984429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0.692631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0.831542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89872.6625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0.552648</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826141"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16</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8</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98995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(2)Case2</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(b)</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5</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3</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5</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2833336143"/>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5-&gt;1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0.177706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0.217441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10.4025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197.184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0.93768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0.094015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0.117983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84.7157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1478.72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0.988359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0.087511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0.108754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48.0955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0.989472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0.109063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0.135441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53.183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0.983043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0.120538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0.158151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13866.6312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0.993835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0.202819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0.258088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15746.7279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0.982556</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586992963"/>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-&gt;5</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0.179058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0.219423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31.192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0.937118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0.134648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0.167554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92.9912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1741.12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0.971797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0.119679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0.14863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52.2304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460.096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0.975753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0.159248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0.196634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55.2359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411.968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0.952088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0.227439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0.289271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17696.0307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0.979052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0.238631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0.302252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19576.1275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0.975174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3990193760"/>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-&gt;3</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0.178302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0.218129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20.8051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524.992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0.938051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0.117974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0.147276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88.8767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0.980291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0.114655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0.142473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50.176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394.432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0.978682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0.139875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0.172508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54.2232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379.072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0.970417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0.174818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0.22415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15781.3309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0.987414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0.225475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0.286495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17661.4277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0.97788</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5</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3</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4183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(2)Case2</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(c)</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2</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4</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extLst>
              <p:ext uri="{D42A27DB-BD31-4B8C-83A1-F6EECF244321}">
                <p14:modId xmlns:p14="http://schemas.microsoft.com/office/powerpoint/2010/main" val="3073070655"/>
              </p:ext>
            </p:extLst>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0.109607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0.135626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16.6357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295.488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0.977792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0.096739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0.121125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160.8988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2003.008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0.079689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0.098895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76.2905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0.990912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0.12601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0.156389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84.7383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0.976175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0.116869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0.153714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21612.1999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0.994139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0.200293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0.253837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22820.4216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0.983212</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extLst>
              <p:ext uri="{D42A27DB-BD31-4B8C-83A1-F6EECF244321}">
                <p14:modId xmlns:p14="http://schemas.microsoft.com/office/powerpoint/2010/main" val="2939411235"/>
              </p:ext>
            </p:extLst>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8-&gt;4</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0.108467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0.134185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41.5894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1082.112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0.978787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0.109207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0.136878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167.1372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2199.808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0.983268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0.111871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0.138279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79.4097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0.979519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0.162961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0.201634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86.2979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0.954469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0.191703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0.243484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24484.2496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0.985037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0.25727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0.325488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25692.4713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0.970735</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extLst>
              <p:ext uri="{D42A27DB-BD31-4B8C-83A1-F6EECF244321}">
                <p14:modId xmlns:p14="http://schemas.microsoft.com/office/powerpoint/2010/main" val="3992494429"/>
              </p:ext>
            </p:extLst>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8-&gt;2</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0.112943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0.139536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24.9536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557.696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0.976518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0.100161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0.125483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162.9783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2068.608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0.986336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0.106319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0.130054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77.3302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0.983687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0.150262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0.186341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85.2582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362.624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0.966291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0.129172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0.168015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22569.5498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0.993003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0.214746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0.272462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23777.7715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0.98027</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2</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06942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(3)Case3</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(a)</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32</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4</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16</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32-&gt;4</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0.035023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0.043632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163.84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4227.84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0.99933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0.05588</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0.069652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633.856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5345.536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0.998189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0.03607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0.045022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300.544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0.999322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0.045114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0.055157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333.824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0.998936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0.131094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0.166066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86448.7997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0.992526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0.58035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0.706751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86043.263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0.683285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32-&gt;16</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0.040863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0.050743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555.9419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16811.52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0.998981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0.065206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0.081082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657.1151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6132.736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0.039544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0.049383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312.2063</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821.248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0.999138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0.045885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0.056551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339.2881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592.896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0.998866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0.148824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0.201033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97936.9984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0.988156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0.68515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0.812659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97531.4616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0.524225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32-&gt;8</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0.037278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0.04635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294.3222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8422.4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0.999213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0.05914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0.073648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640.7639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5607.936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0.997913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0.037406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0.04667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304.0307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558.592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0.999265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0.045445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0.055703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335.2003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461.312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0.998902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0.116276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0.161595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90278.1993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0.992702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0.619891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0.749966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89872.6625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0.618094</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826141"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16</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8</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14704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(3)Case3</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(b)</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5</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3</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5</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5-&gt;1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0.10741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0.133164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10.4025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197.184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0.992736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0.099161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0.124851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84.7157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1478.72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0.111265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0.132165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48.0955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0.992832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0.14653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0.174135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53.183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0.987868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0.07564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0.095577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13866.6312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0.997609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0.160552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0.202292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15746.7279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0.988704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-&gt;5</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0.110331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0.136596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31.192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0.992028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0.124813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0.156101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92.9912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1741.12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0.99163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0.145828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0.174212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52.2304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460.096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0.987808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0.163069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0.194411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55.2359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411.968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0.985253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0.157842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0.201167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17696.0307</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0.98928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0.203311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0.25579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19576.1275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0.981227</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sz="1100" kern="100" dirty="0">
                          <a:effectLst/>
                          <a:latin typeface="宋体" panose="02010600030101010101" pitchFamily="2" charset="-122"/>
                          <a:ea typeface="宋体" panose="02010600030101010101" pitchFamily="2" charset="-122"/>
                          <a:cs typeface="Times New Roman" panose="02020603050405020304" pitchFamily="18" charset="0"/>
                        </a:rPr>
                        <a:t>5</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-&gt;3</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0.109576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0.135748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20.8051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524.992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0.992253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0.114977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0.144086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88.8767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1609.92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0.993058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0.126482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0.151184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50.176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394.432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0.991043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0.128616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0.15492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54.2232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379.072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0.990695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0.118082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0.148533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15781.3309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0.191301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0.241385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17661.4277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0.983219</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5</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3</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20095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(3)Case3</a:t>
            </a:r>
            <a:r>
              <a:rPr lang="zh-CN" altLang="zh-CN" b="1" dirty="0">
                <a:latin typeface="宋体" panose="02010600030101010101" pitchFamily="2" charset="-122"/>
                <a:ea typeface="宋体" panose="02010600030101010101" pitchFamily="2" charset="-122"/>
                <a:cs typeface="Calibri" panose="020F0502020204030204" pitchFamily="34" charset="0"/>
              </a:rPr>
              <a:t>数据集</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en-US" altLang="zh-CN" sz="2000" dirty="0">
                <a:latin typeface="宋体" panose="02010600030101010101" pitchFamily="2" charset="-122"/>
                <a:ea typeface="宋体" panose="02010600030101010101" pitchFamily="2" charset="-122"/>
                <a:cs typeface="Calibri" panose="020F0502020204030204" pitchFamily="34" charset="0"/>
              </a:rPr>
              <a:t>(c)</a:t>
            </a:r>
            <a:r>
              <a:rPr lang="zh-CN" altLang="en-US" sz="2000" dirty="0">
                <a:latin typeface="宋体" panose="02010600030101010101" pitchFamily="2" charset="-122"/>
                <a:ea typeface="宋体" panose="02010600030101010101" pitchFamily="2" charset="-122"/>
                <a:cs typeface="Calibri" panose="020F0502020204030204" pitchFamily="34" charset="0"/>
              </a:rPr>
              <a:t>观察窗口大小为</a:t>
            </a:r>
            <a:r>
              <a:rPr lang="en-US" altLang="zh-CN" sz="2000" b="1" dirty="0">
                <a:latin typeface="宋体" panose="02010600030101010101" pitchFamily="2" charset="-122"/>
                <a:ea typeface="宋体" panose="02010600030101010101" pitchFamily="2" charset="-122"/>
                <a:cs typeface="Calibri" panose="020F0502020204030204" pitchFamily="34" charset="0"/>
              </a:rPr>
              <a:t>8</a:t>
            </a:r>
            <a:r>
              <a:rPr lang="zh-CN" altLang="en-US" sz="2000" dirty="0">
                <a:latin typeface="宋体" panose="02010600030101010101" pitchFamily="2" charset="-122"/>
                <a:ea typeface="宋体" panose="02010600030101010101" pitchFamily="2" charset="-122"/>
                <a:cs typeface="Calibri" panose="020F0502020204030204" pitchFamily="34" charset="0"/>
              </a:rPr>
              <a:t>训练策略</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预测窗口大小分别设置为</a:t>
            </a:r>
            <a:r>
              <a:rPr lang="en-US" altLang="zh-CN" sz="2000" dirty="0">
                <a:latin typeface="宋体" panose="02010600030101010101" pitchFamily="2" charset="-122"/>
                <a:ea typeface="宋体" panose="02010600030101010101" pitchFamily="2" charset="-122"/>
                <a:cs typeface="Calibri" panose="020F0502020204030204" pitchFamily="34" charset="0"/>
              </a:rPr>
              <a:t>1</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2</a:t>
            </a:r>
            <a:r>
              <a:rPr lang="zh-CN" altLang="en-US" sz="2000" dirty="0">
                <a:latin typeface="宋体" panose="02010600030101010101" pitchFamily="2" charset="-122"/>
                <a:ea typeface="宋体" panose="02010600030101010101" pitchFamily="2" charset="-122"/>
                <a:cs typeface="Calibri" panose="020F0502020204030204" pitchFamily="34" charset="0"/>
              </a:rPr>
              <a:t>、</a:t>
            </a:r>
            <a:r>
              <a:rPr lang="en-US" altLang="zh-CN" sz="2000" dirty="0">
                <a:latin typeface="宋体" panose="02010600030101010101" pitchFamily="2" charset="-122"/>
                <a:ea typeface="宋体" panose="02010600030101010101" pitchFamily="2" charset="-122"/>
                <a:cs typeface="Calibri" panose="020F0502020204030204" pitchFamily="34" charset="0"/>
              </a:rPr>
              <a:t>4</a:t>
            </a:r>
          </a:p>
          <a:p>
            <a:pPr lvl="0" indent="0" algn="just">
              <a:spcAft>
                <a:spcPts val="1300"/>
              </a:spcAft>
              <a:buNone/>
            </a:pPr>
            <a:r>
              <a:rPr lang="zh-CN" altLang="en-US" sz="2000" dirty="0">
                <a:latin typeface="宋体" panose="02010600030101010101" pitchFamily="2" charset="-122"/>
                <a:ea typeface="宋体" panose="02010600030101010101" pitchFamily="2" charset="-122"/>
                <a:cs typeface="Calibri" panose="020F0502020204030204" pitchFamily="34" charset="0"/>
              </a:rPr>
              <a:t>各评价指标如表所示</a:t>
            </a:r>
            <a:endParaRPr lang="en-US" altLang="zh-CN" sz="2000" dirty="0">
              <a:latin typeface="宋体" panose="02010600030101010101" pitchFamily="2" charset="-122"/>
              <a:ea typeface="宋体" panose="02010600030101010101" pitchFamily="2" charset="-122"/>
              <a:cs typeface="Calibri" panose="020F0502020204030204" pitchFamily="34" charset="0"/>
            </a:endParaRPr>
          </a:p>
          <a:p>
            <a:pPr lvl="0" indent="0" algn="just">
              <a:spcAft>
                <a:spcPts val="1300"/>
              </a:spcAft>
              <a:buNone/>
            </a:pPr>
            <a:endParaRPr lang="zh-CN" altLang="zh-CN" sz="2000" dirty="0">
              <a:latin typeface="宋体" panose="02010600030101010101" pitchFamily="2" charset="-122"/>
              <a:ea typeface="宋体" panose="02010600030101010101" pitchFamily="2" charset="-122"/>
              <a:cs typeface="Calibri" panose="020F0502020204030204" pitchFamily="34" charset="0"/>
            </a:endParaRPr>
          </a:p>
        </p:txBody>
      </p:sp>
      <p:graphicFrame>
        <p:nvGraphicFramePr>
          <p:cNvPr id="4" name="表格 3">
            <a:extLst>
              <a:ext uri="{FF2B5EF4-FFF2-40B4-BE49-F238E27FC236}">
                <a16:creationId xmlns:a16="http://schemas.microsoft.com/office/drawing/2014/main" id="{9820CE59-7E27-5D5B-F463-E5044257A3CB}"/>
              </a:ext>
            </a:extLst>
          </p:cNvPr>
          <p:cNvGraphicFramePr>
            <a:graphicFrameLocks noGrp="1"/>
          </p:cNvGraphicFramePr>
          <p:nvPr/>
        </p:nvGraphicFramePr>
        <p:xfrm>
          <a:off x="759298" y="4119681"/>
          <a:ext cx="4506385" cy="2151587"/>
        </p:xfrm>
        <a:graphic>
          <a:graphicData uri="http://schemas.openxmlformats.org/drawingml/2006/table">
            <a:tbl>
              <a:tblPr firstRow="1" firstCol="1" bandRow="1">
                <a:tableStyleId>{5C22544A-7EE6-4342-B048-85BDC9FD1C3A}</a:tableStyleId>
              </a:tblPr>
              <a:tblGrid>
                <a:gridCol w="1019876">
                  <a:extLst>
                    <a:ext uri="{9D8B030D-6E8A-4147-A177-3AD203B41FA5}">
                      <a16:colId xmlns:a16="http://schemas.microsoft.com/office/drawing/2014/main" val="3269984984"/>
                    </a:ext>
                  </a:extLst>
                </a:gridCol>
                <a:gridCol w="594312">
                  <a:extLst>
                    <a:ext uri="{9D8B030D-6E8A-4147-A177-3AD203B41FA5}">
                      <a16:colId xmlns:a16="http://schemas.microsoft.com/office/drawing/2014/main" val="3489816777"/>
                    </a:ext>
                  </a:extLst>
                </a:gridCol>
                <a:gridCol w="594312">
                  <a:extLst>
                    <a:ext uri="{9D8B030D-6E8A-4147-A177-3AD203B41FA5}">
                      <a16:colId xmlns:a16="http://schemas.microsoft.com/office/drawing/2014/main" val="1839330083"/>
                    </a:ext>
                  </a:extLst>
                </a:gridCol>
                <a:gridCol w="732077">
                  <a:extLst>
                    <a:ext uri="{9D8B030D-6E8A-4147-A177-3AD203B41FA5}">
                      <a16:colId xmlns:a16="http://schemas.microsoft.com/office/drawing/2014/main" val="4143573175"/>
                    </a:ext>
                  </a:extLst>
                </a:gridCol>
                <a:gridCol w="799862">
                  <a:extLst>
                    <a:ext uri="{9D8B030D-6E8A-4147-A177-3AD203B41FA5}">
                      <a16:colId xmlns:a16="http://schemas.microsoft.com/office/drawing/2014/main" val="2653627806"/>
                    </a:ext>
                  </a:extLst>
                </a:gridCol>
                <a:gridCol w="765946">
                  <a:extLst>
                    <a:ext uri="{9D8B030D-6E8A-4147-A177-3AD203B41FA5}">
                      <a16:colId xmlns:a16="http://schemas.microsoft.com/office/drawing/2014/main" val="22566753"/>
                    </a:ext>
                  </a:extLst>
                </a:gridCol>
              </a:tblGrid>
              <a:tr h="326195">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8-&gt;1</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19532">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0.055157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0.068685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16.6357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295.488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0.998116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2151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0.095012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0.119373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160.8988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2003.008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0.995302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309607">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0.110397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0.130268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76.2905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328.768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0.993518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309607">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0.163865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0.194211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84.7383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346.176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0.984812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79837">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0.070955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0.089537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21612.1999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0.997884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85294">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0.155884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0.196132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22820.4216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0.989398</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3" name="表格 2">
            <a:extLst>
              <a:ext uri="{FF2B5EF4-FFF2-40B4-BE49-F238E27FC236}">
                <a16:creationId xmlns:a16="http://schemas.microsoft.com/office/drawing/2014/main" id="{EEE0CC56-230A-CAD1-7006-326AB5295A5B}"/>
              </a:ext>
            </a:extLst>
          </p:cNvPr>
          <p:cNvGraphicFramePr>
            <a:graphicFrameLocks noGrp="1"/>
          </p:cNvGraphicFramePr>
          <p:nvPr/>
        </p:nvGraphicFramePr>
        <p:xfrm>
          <a:off x="5800113" y="4119681"/>
          <a:ext cx="4283511" cy="2092434"/>
        </p:xfrm>
        <a:graphic>
          <a:graphicData uri="http://schemas.openxmlformats.org/drawingml/2006/table">
            <a:tbl>
              <a:tblPr firstRow="1" firstCol="1" bandRow="1">
                <a:tableStyleId>{5C22544A-7EE6-4342-B048-85BDC9FD1C3A}</a:tableStyleId>
              </a:tblPr>
              <a:tblGrid>
                <a:gridCol w="969436">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8-&gt;4</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0.05764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0.071743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41.5894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1082.112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0.997799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6">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0.10491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0.131398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167.1372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2199.808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0.994231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0.104057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0.127138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79.4097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427.264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0.993974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0.174804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0.206409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86.2979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395.52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0.982856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0.124573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0.156738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24484.2496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0.993439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0.212631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0.267391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25692.4713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0.979264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graphicFrame>
        <p:nvGraphicFramePr>
          <p:cNvPr id="7" name="表格 6">
            <a:extLst>
              <a:ext uri="{FF2B5EF4-FFF2-40B4-BE49-F238E27FC236}">
                <a16:creationId xmlns:a16="http://schemas.microsoft.com/office/drawing/2014/main" id="{AFCB9CC8-4CB7-EF29-AF96-FA6BB141CD82}"/>
              </a:ext>
            </a:extLst>
          </p:cNvPr>
          <p:cNvGraphicFramePr>
            <a:graphicFrameLocks noGrp="1"/>
          </p:cNvGraphicFramePr>
          <p:nvPr/>
        </p:nvGraphicFramePr>
        <p:xfrm>
          <a:off x="5800113" y="1731213"/>
          <a:ext cx="4283510" cy="2092433"/>
        </p:xfrm>
        <a:graphic>
          <a:graphicData uri="http://schemas.openxmlformats.org/drawingml/2006/table">
            <a:tbl>
              <a:tblPr firstRow="1" firstCol="1" bandRow="1">
                <a:tableStyleId>{5C22544A-7EE6-4342-B048-85BDC9FD1C3A}</a:tableStyleId>
              </a:tblPr>
              <a:tblGrid>
                <a:gridCol w="969435">
                  <a:extLst>
                    <a:ext uri="{9D8B030D-6E8A-4147-A177-3AD203B41FA5}">
                      <a16:colId xmlns:a16="http://schemas.microsoft.com/office/drawing/2014/main" val="3269984984"/>
                    </a:ext>
                  </a:extLst>
                </a:gridCol>
                <a:gridCol w="564919">
                  <a:extLst>
                    <a:ext uri="{9D8B030D-6E8A-4147-A177-3AD203B41FA5}">
                      <a16:colId xmlns:a16="http://schemas.microsoft.com/office/drawing/2014/main" val="3489816777"/>
                    </a:ext>
                  </a:extLst>
                </a:gridCol>
                <a:gridCol w="564919">
                  <a:extLst>
                    <a:ext uri="{9D8B030D-6E8A-4147-A177-3AD203B41FA5}">
                      <a16:colId xmlns:a16="http://schemas.microsoft.com/office/drawing/2014/main" val="1839330083"/>
                    </a:ext>
                  </a:extLst>
                </a:gridCol>
                <a:gridCol w="695870">
                  <a:extLst>
                    <a:ext uri="{9D8B030D-6E8A-4147-A177-3AD203B41FA5}">
                      <a16:colId xmlns:a16="http://schemas.microsoft.com/office/drawing/2014/main" val="4143573175"/>
                    </a:ext>
                  </a:extLst>
                </a:gridCol>
                <a:gridCol w="760303">
                  <a:extLst>
                    <a:ext uri="{9D8B030D-6E8A-4147-A177-3AD203B41FA5}">
                      <a16:colId xmlns:a16="http://schemas.microsoft.com/office/drawing/2014/main" val="2653627806"/>
                    </a:ext>
                  </a:extLst>
                </a:gridCol>
                <a:gridCol w="728064">
                  <a:extLst>
                    <a:ext uri="{9D8B030D-6E8A-4147-A177-3AD203B41FA5}">
                      <a16:colId xmlns:a16="http://schemas.microsoft.com/office/drawing/2014/main" val="22566753"/>
                    </a:ext>
                  </a:extLst>
                </a:gridCol>
              </a:tblGrid>
              <a:tr h="257059">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sz="1100" kern="100" dirty="0">
                          <a:effectLst/>
                          <a:latin typeface="宋体" panose="02010600030101010101" pitchFamily="2" charset="-122"/>
                          <a:ea typeface="宋体" panose="02010600030101010101" pitchFamily="2" charset="-122"/>
                        </a:rPr>
                        <a:t> </a:t>
                      </a: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8-&gt;2</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rPr>
                        <a:t>Mae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err="1">
                          <a:effectLst/>
                          <a:latin typeface="宋体" panose="02010600030101010101" pitchFamily="2" charset="-122"/>
                          <a:ea typeface="宋体" panose="02010600030101010101" pitchFamily="2" charset="-122"/>
                        </a:rPr>
                        <a:t>Rmse</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dirty="0">
                          <a:effectLst/>
                          <a:latin typeface="宋体" panose="02010600030101010101" pitchFamily="2" charset="-122"/>
                          <a:ea typeface="宋体" panose="02010600030101010101" pitchFamily="2" charset="-122"/>
                        </a:rPr>
                        <a:t>Flops(M)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Params(K)</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67710" rtl="0" eaLnBrk="1" fontAlgn="auto" latinLnBrk="0" hangingPunct="1">
                        <a:lnSpc>
                          <a:spcPct val="100000"/>
                        </a:lnSpc>
                        <a:spcBef>
                          <a:spcPts val="0"/>
                        </a:spcBef>
                        <a:spcAft>
                          <a:spcPts val="0"/>
                        </a:spcAft>
                        <a:buClrTx/>
                        <a:buSzTx/>
                        <a:buFontTx/>
                        <a:buNone/>
                        <a:tabLst/>
                        <a:defRPr/>
                      </a:pP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SGCS</a:t>
                      </a:r>
                      <a:endParaRPr lang="zh-CN"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5417202"/>
                  </a:ext>
                </a:extLst>
              </a:tr>
              <a:tr h="307587">
                <a:tc>
                  <a:txBody>
                    <a:bodyPr/>
                    <a:lstStyle/>
                    <a:p>
                      <a:pPr algn="ctr"/>
                      <a:r>
                        <a:rPr lang="en-US" sz="1100" kern="100" dirty="0">
                          <a:effectLst/>
                          <a:latin typeface="宋体" panose="02010600030101010101" pitchFamily="2" charset="-122"/>
                          <a:ea typeface="宋体" panose="02010600030101010101" pitchFamily="2" charset="-122"/>
                        </a:rPr>
                        <a:t>MLP</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0.056774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0.070722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24.9536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557.696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0.99791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566422165"/>
                  </a:ext>
                </a:extLst>
              </a:tr>
              <a:tr h="309495">
                <a:tc>
                  <a:txBody>
                    <a:bodyPr/>
                    <a:lstStyle/>
                    <a:p>
                      <a:pPr algn="ctr"/>
                      <a:r>
                        <a:rPr lang="en-US" sz="1100" kern="100" dirty="0">
                          <a:effectLst/>
                          <a:latin typeface="宋体" panose="02010600030101010101" pitchFamily="2" charset="-122"/>
                          <a:ea typeface="宋体" panose="02010600030101010101" pitchFamily="2" charset="-122"/>
                        </a:rPr>
                        <a:t>CNN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0.097641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0.122549</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162.9783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2068.608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0.995018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935266563"/>
                  </a:ext>
                </a:extLst>
              </a:tr>
              <a:tr h="298033">
                <a:tc>
                  <a:txBody>
                    <a:bodyPr/>
                    <a:lstStyle/>
                    <a:p>
                      <a:pPr algn="ctr"/>
                      <a:r>
                        <a:rPr lang="en-US" sz="1100" kern="100" dirty="0">
                          <a:effectLst/>
                          <a:latin typeface="宋体" panose="02010600030101010101" pitchFamily="2" charset="-122"/>
                          <a:ea typeface="宋体" panose="02010600030101010101" pitchFamily="2" charset="-122"/>
                        </a:rPr>
                        <a:t>RNN</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0.110153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0.131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77.3302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361.6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0.993246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198149742"/>
                  </a:ext>
                </a:extLst>
              </a:tr>
              <a:tr h="298033">
                <a:tc>
                  <a:txBody>
                    <a:bodyPr/>
                    <a:lstStyle/>
                    <a:p>
                      <a:pPr algn="ctr"/>
                      <a:r>
                        <a:rPr lang="en-US" sz="1100" kern="100" dirty="0">
                          <a:effectLst/>
                          <a:latin typeface="宋体" panose="02010600030101010101" pitchFamily="2" charset="-122"/>
                          <a:ea typeface="宋体" panose="02010600030101010101" pitchFamily="2" charset="-122"/>
                        </a:rPr>
                        <a:t>LSTM</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0.157717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0.189073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85.2582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362.624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0.986462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024941588"/>
                  </a:ext>
                </a:extLst>
              </a:tr>
              <a:tr h="269376">
                <a:tc>
                  <a:txBody>
                    <a:bodyPr/>
                    <a:lstStyle/>
                    <a:p>
                      <a:pPr algn="ctr"/>
                      <a:r>
                        <a:rPr lang="en-US" sz="1100" kern="100" dirty="0">
                          <a:effectLst/>
                          <a:latin typeface="宋体" panose="02010600030101010101" pitchFamily="2" charset="-122"/>
                          <a:ea typeface="宋体" panose="02010600030101010101" pitchFamily="2" charset="-122"/>
                        </a:rPr>
                        <a:t>Transformer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0.082111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0.103261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22569.5498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80688.192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0.997183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249875460"/>
                  </a:ext>
                </a:extLst>
              </a:tr>
              <a:tr h="274629">
                <a:tc>
                  <a:txBody>
                    <a:bodyPr/>
                    <a:lstStyle/>
                    <a:p>
                      <a:pPr algn="ctr"/>
                      <a:r>
                        <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rPr>
                        <a:t>Informer</a:t>
                      </a:r>
                      <a:endParaRPr lang="zh-CN" sz="11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0.173892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0.218961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23777.7715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a:effectLst/>
                          <a:latin typeface="Times New Roman" panose="02020603050405020304" pitchFamily="18" charset="0"/>
                          <a:ea typeface="等线" panose="02010600030101010101" pitchFamily="2" charset="-122"/>
                          <a:cs typeface="Times New Roman" panose="02020603050405020304" pitchFamily="18" charset="0"/>
                        </a:rPr>
                        <a:t>93277.248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tc>
                  <a:txBody>
                    <a:bodyPr/>
                    <a:lstStyle/>
                    <a:p>
                      <a:pPr algn="ctr">
                        <a:lnSpc>
                          <a:spcPct val="115000"/>
                        </a:lnSpc>
                        <a:spcAft>
                          <a:spcPts val="1000"/>
                        </a:spcAft>
                      </a:pPr>
                      <a:r>
                        <a:rPr lang="en-US" sz="1100" kern="0" dirty="0">
                          <a:effectLst/>
                          <a:latin typeface="Times New Roman" panose="02020603050405020304" pitchFamily="18" charset="0"/>
                          <a:ea typeface="等线" panose="02010600030101010101" pitchFamily="2" charset="-122"/>
                          <a:cs typeface="Times New Roman" panose="02020603050405020304" pitchFamily="18" charset="0"/>
                        </a:rPr>
                        <a:t>0.986581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tc>
                <a:extLst>
                  <a:ext uri="{0D108BD9-81ED-4DB2-BD59-A6C34878D82A}">
                    <a16:rowId xmlns:a16="http://schemas.microsoft.com/office/drawing/2014/main" val="1496083834"/>
                  </a:ext>
                </a:extLst>
              </a:tr>
            </a:tbl>
          </a:graphicData>
        </a:graphic>
      </p:graphicFrame>
      <p:sp>
        <p:nvSpPr>
          <p:cNvPr id="2" name="文本框 1">
            <a:extLst>
              <a:ext uri="{FF2B5EF4-FFF2-40B4-BE49-F238E27FC236}">
                <a16:creationId xmlns:a16="http://schemas.microsoft.com/office/drawing/2014/main" id="{5023A54F-C5D4-2C32-8D20-C105BB107E46}"/>
              </a:ext>
            </a:extLst>
          </p:cNvPr>
          <p:cNvSpPr txBox="1"/>
          <p:nvPr/>
        </p:nvSpPr>
        <p:spPr>
          <a:xfrm>
            <a:off x="2153016" y="618593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1</a:t>
            </a:r>
            <a:endParaRPr lang="zh-CN" altLang="en-US" sz="1600"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BDE04C-5EDE-3B99-CCDF-BE98A6CED568}"/>
              </a:ext>
            </a:extLst>
          </p:cNvPr>
          <p:cNvSpPr txBox="1"/>
          <p:nvPr/>
        </p:nvSpPr>
        <p:spPr>
          <a:xfrm>
            <a:off x="7080093" y="6169596"/>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4</a:t>
            </a:r>
            <a:endParaRPr lang="zh-CN" altLang="en-US" sz="1600"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5DD71F53-CCE0-8871-85E7-9CB9FC8CF2DC}"/>
              </a:ext>
            </a:extLst>
          </p:cNvPr>
          <p:cNvSpPr txBox="1"/>
          <p:nvPr/>
        </p:nvSpPr>
        <p:spPr>
          <a:xfrm>
            <a:off x="7080093" y="3730220"/>
            <a:ext cx="1723549" cy="338554"/>
          </a:xfrm>
          <a:prstGeom prst="rect">
            <a:avLst/>
          </a:prstGeom>
          <a:noFill/>
        </p:spPr>
        <p:txBody>
          <a:bodyPr wrap="none" rtlCol="0">
            <a:spAutoFit/>
          </a:bodyPr>
          <a:lstStyle/>
          <a:p>
            <a:r>
              <a:rPr lang="zh-CN" altLang="en-US" sz="1600" dirty="0">
                <a:latin typeface="宋体" panose="02010600030101010101" pitchFamily="2" charset="-122"/>
                <a:ea typeface="宋体" panose="02010600030101010101" pitchFamily="2" charset="-122"/>
              </a:rPr>
              <a:t>预测窗口大小为</a:t>
            </a:r>
            <a:r>
              <a:rPr lang="en-US" altLang="zh-CN" sz="1600" dirty="0">
                <a:latin typeface="宋体" panose="02010600030101010101" pitchFamily="2" charset="-122"/>
                <a:ea typeface="宋体" panose="02010600030101010101" pitchFamily="2" charset="-122"/>
              </a:rPr>
              <a:t>2</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0263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(4)</a:t>
            </a:r>
            <a:r>
              <a:rPr lang="zh-CN" altLang="en-US" b="1" dirty="0">
                <a:latin typeface="宋体" panose="02010600030101010101" pitchFamily="2" charset="-122"/>
                <a:ea typeface="宋体" panose="02010600030101010101" pitchFamily="2" charset="-122"/>
                <a:cs typeface="Calibri" panose="020F0502020204030204" pitchFamily="34" charset="0"/>
              </a:rPr>
              <a:t>预测趋势和模型对比</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marL="241927" marR="0" lvl="0" indent="0" algn="just" defTabSz="967710" rtl="0" eaLnBrk="1" fontAlgn="auto" latinLnBrk="0" hangingPunct="1">
              <a:lnSpc>
                <a:spcPct val="120000"/>
              </a:lnSpc>
              <a:spcBef>
                <a:spcPts val="1058"/>
              </a:spcBef>
              <a:spcAft>
                <a:spcPts val="130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(a)</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预测趋势</a:t>
            </a:r>
            <a:endParaRPr lang="en-US" altLang="zh-CN" b="1" dirty="0">
              <a:latin typeface="宋体" panose="02010600030101010101" pitchFamily="2" charset="-122"/>
              <a:ea typeface="宋体" panose="02010600030101010101" pitchFamily="2" charset="-122"/>
              <a:cs typeface="Calibri" panose="020F0502020204030204" pitchFamily="34" charset="0"/>
            </a:endParaRPr>
          </a:p>
        </p:txBody>
      </p:sp>
      <p:pic>
        <p:nvPicPr>
          <p:cNvPr id="8" name="图片 7">
            <a:extLst>
              <a:ext uri="{FF2B5EF4-FFF2-40B4-BE49-F238E27FC236}">
                <a16:creationId xmlns:a16="http://schemas.microsoft.com/office/drawing/2014/main" id="{37D9F52E-8B78-26FF-4E77-BD0558F54CBE}"/>
              </a:ext>
            </a:extLst>
          </p:cNvPr>
          <p:cNvPicPr>
            <a:picLocks noChangeAspect="1"/>
          </p:cNvPicPr>
          <p:nvPr/>
        </p:nvPicPr>
        <p:blipFill>
          <a:blip r:embed="rId2"/>
          <a:stretch>
            <a:fillRect/>
          </a:stretch>
        </p:blipFill>
        <p:spPr>
          <a:xfrm>
            <a:off x="4492416" y="2626885"/>
            <a:ext cx="3426374" cy="2569780"/>
          </a:xfrm>
          <a:prstGeom prst="rect">
            <a:avLst/>
          </a:prstGeom>
        </p:spPr>
      </p:pic>
      <p:pic>
        <p:nvPicPr>
          <p:cNvPr id="9" name="图片 8">
            <a:extLst>
              <a:ext uri="{FF2B5EF4-FFF2-40B4-BE49-F238E27FC236}">
                <a16:creationId xmlns:a16="http://schemas.microsoft.com/office/drawing/2014/main" id="{6868E82B-484C-6496-C0B2-8B5F9D06F778}"/>
              </a:ext>
            </a:extLst>
          </p:cNvPr>
          <p:cNvPicPr>
            <a:picLocks noChangeAspect="1"/>
          </p:cNvPicPr>
          <p:nvPr/>
        </p:nvPicPr>
        <p:blipFill>
          <a:blip r:embed="rId3"/>
          <a:stretch>
            <a:fillRect/>
          </a:stretch>
        </p:blipFill>
        <p:spPr>
          <a:xfrm>
            <a:off x="669049" y="2626677"/>
            <a:ext cx="3426374" cy="2569988"/>
          </a:xfrm>
          <a:prstGeom prst="rect">
            <a:avLst/>
          </a:prstGeom>
        </p:spPr>
      </p:pic>
      <p:pic>
        <p:nvPicPr>
          <p:cNvPr id="11" name="图片 10">
            <a:extLst>
              <a:ext uri="{FF2B5EF4-FFF2-40B4-BE49-F238E27FC236}">
                <a16:creationId xmlns:a16="http://schemas.microsoft.com/office/drawing/2014/main" id="{983A741D-F2A6-E1E7-AFCA-832069FD4F1E}"/>
              </a:ext>
            </a:extLst>
          </p:cNvPr>
          <p:cNvPicPr>
            <a:picLocks noChangeAspect="1"/>
          </p:cNvPicPr>
          <p:nvPr/>
        </p:nvPicPr>
        <p:blipFill>
          <a:blip r:embed="rId4"/>
          <a:stretch>
            <a:fillRect/>
          </a:stretch>
        </p:blipFill>
        <p:spPr>
          <a:xfrm>
            <a:off x="8315783" y="2661219"/>
            <a:ext cx="3380045" cy="2535446"/>
          </a:xfrm>
          <a:prstGeom prst="rect">
            <a:avLst/>
          </a:prstGeom>
        </p:spPr>
      </p:pic>
    </p:spTree>
    <p:extLst>
      <p:ext uri="{BB962C8B-B14F-4D97-AF65-F5344CB8AC3E}">
        <p14:creationId xmlns:p14="http://schemas.microsoft.com/office/powerpoint/2010/main" val="100124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a:extLst>
              <a:ext uri="{FF2B5EF4-FFF2-40B4-BE49-F238E27FC236}">
                <a16:creationId xmlns:a16="http://schemas.microsoft.com/office/drawing/2014/main" id="{A048031C-ACCD-4F47-AC1D-F55A1029665D}"/>
              </a:ext>
            </a:extLst>
          </p:cNvPr>
          <p:cNvSpPr>
            <a:spLocks noGrp="1"/>
          </p:cNvSpPr>
          <p:nvPr>
            <p:ph type="title"/>
          </p:nvPr>
        </p:nvSpPr>
        <p:spPr/>
        <p:txBody>
          <a:bodyPr/>
          <a:lstStyle/>
          <a:p>
            <a:r>
              <a:rPr lang="zh-CN" altLang="en-US" dirty="0"/>
              <a:t>五、实验结果</a:t>
            </a:r>
          </a:p>
        </p:txBody>
      </p:sp>
      <p:sp>
        <p:nvSpPr>
          <p:cNvPr id="24" name="内容占位符 23">
            <a:extLst>
              <a:ext uri="{FF2B5EF4-FFF2-40B4-BE49-F238E27FC236}">
                <a16:creationId xmlns:a16="http://schemas.microsoft.com/office/drawing/2014/main" id="{DD1CC97B-827D-430E-B8C4-D5CB49F6B127}"/>
              </a:ext>
            </a:extLst>
          </p:cNvPr>
          <p:cNvSpPr>
            <a:spLocks noGrp="1"/>
          </p:cNvSpPr>
          <p:nvPr>
            <p:ph sz="quarter" idx="10"/>
          </p:nvPr>
        </p:nvSpPr>
        <p:spPr/>
        <p:txBody>
          <a:bodyPr/>
          <a:lstStyle/>
          <a:p>
            <a:pPr lvl="0" indent="0" algn="just">
              <a:spcAft>
                <a:spcPts val="1300"/>
              </a:spcAft>
              <a:buNone/>
            </a:pPr>
            <a:r>
              <a:rPr lang="en-US" altLang="zh-CN" b="1" dirty="0">
                <a:latin typeface="宋体" panose="02010600030101010101" pitchFamily="2" charset="-122"/>
                <a:ea typeface="宋体" panose="02010600030101010101" pitchFamily="2" charset="-122"/>
                <a:cs typeface="Calibri" panose="020F0502020204030204" pitchFamily="34" charset="0"/>
              </a:rPr>
              <a:t>(4)</a:t>
            </a:r>
            <a:r>
              <a:rPr lang="zh-CN" altLang="en-US" b="1" dirty="0">
                <a:latin typeface="宋体" panose="02010600030101010101" pitchFamily="2" charset="-122"/>
                <a:ea typeface="宋体" panose="02010600030101010101" pitchFamily="2" charset="-122"/>
                <a:cs typeface="Calibri" panose="020F0502020204030204" pitchFamily="34" charset="0"/>
              </a:rPr>
              <a:t>预测趋势和模型对比</a:t>
            </a:r>
            <a:endParaRPr lang="en-US" altLang="zh-CN" b="1" dirty="0">
              <a:latin typeface="宋体" panose="02010600030101010101" pitchFamily="2" charset="-122"/>
              <a:ea typeface="宋体" panose="02010600030101010101" pitchFamily="2" charset="-122"/>
              <a:cs typeface="Calibri" panose="020F0502020204030204" pitchFamily="34" charset="0"/>
            </a:endParaRPr>
          </a:p>
          <a:p>
            <a:pPr marL="241927" marR="0" lvl="0" indent="0" algn="just" defTabSz="967710" rtl="0" eaLnBrk="1" fontAlgn="auto" latinLnBrk="0" hangingPunct="1">
              <a:lnSpc>
                <a:spcPct val="120000"/>
              </a:lnSpc>
              <a:spcBef>
                <a:spcPts val="1058"/>
              </a:spcBef>
              <a:spcAft>
                <a:spcPts val="130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(b)</a:t>
            </a:r>
            <a:r>
              <a:rPr kumimoji="0" lang="zh-CN" altLang="en-US" sz="2000" b="0"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Calibri" panose="020F0502020204030204" pitchFamily="34" charset="0"/>
              </a:rPr>
              <a:t>模型对比</a:t>
            </a:r>
            <a:endParaRPr lang="en-US" altLang="zh-CN" b="1" dirty="0">
              <a:latin typeface="宋体" panose="02010600030101010101" pitchFamily="2" charset="-122"/>
              <a:ea typeface="宋体" panose="02010600030101010101" pitchFamily="2" charset="-122"/>
              <a:cs typeface="Calibri" panose="020F0502020204030204" pitchFamily="34" charset="0"/>
            </a:endParaRPr>
          </a:p>
        </p:txBody>
      </p:sp>
      <p:pic>
        <p:nvPicPr>
          <p:cNvPr id="3" name="图片 2">
            <a:extLst>
              <a:ext uri="{FF2B5EF4-FFF2-40B4-BE49-F238E27FC236}">
                <a16:creationId xmlns:a16="http://schemas.microsoft.com/office/drawing/2014/main" id="{A450801C-EB22-EF4C-0C13-2A873BF8EA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24488" y="2420693"/>
            <a:ext cx="3786143" cy="2366226"/>
          </a:xfrm>
          <a:prstGeom prst="rect">
            <a:avLst/>
          </a:prstGeom>
          <a:noFill/>
          <a:ln>
            <a:noFill/>
          </a:ln>
        </p:spPr>
      </p:pic>
      <p:pic>
        <p:nvPicPr>
          <p:cNvPr id="4" name="图片 3">
            <a:extLst>
              <a:ext uri="{FF2B5EF4-FFF2-40B4-BE49-F238E27FC236}">
                <a16:creationId xmlns:a16="http://schemas.microsoft.com/office/drawing/2014/main" id="{BF1D03E5-B941-1D56-0940-8EFDA87912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65832" y="2420693"/>
            <a:ext cx="3786143" cy="2366226"/>
          </a:xfrm>
          <a:prstGeom prst="rect">
            <a:avLst/>
          </a:prstGeom>
          <a:noFill/>
          <a:ln>
            <a:noFill/>
          </a:ln>
        </p:spPr>
      </p:pic>
      <p:pic>
        <p:nvPicPr>
          <p:cNvPr id="5" name="图片 4">
            <a:extLst>
              <a:ext uri="{FF2B5EF4-FFF2-40B4-BE49-F238E27FC236}">
                <a16:creationId xmlns:a16="http://schemas.microsoft.com/office/drawing/2014/main" id="{11A75B0C-A252-542C-315C-E89A6BAFA38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1368" y="2449316"/>
            <a:ext cx="3698646" cy="2311542"/>
          </a:xfrm>
          <a:prstGeom prst="rect">
            <a:avLst/>
          </a:prstGeom>
          <a:noFill/>
          <a:ln>
            <a:noFill/>
          </a:ln>
        </p:spPr>
      </p:pic>
    </p:spTree>
    <p:extLst>
      <p:ext uri="{BB962C8B-B14F-4D97-AF65-F5344CB8AC3E}">
        <p14:creationId xmlns:p14="http://schemas.microsoft.com/office/powerpoint/2010/main" val="3941796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4C87E0C-764E-46DC-8EB7-C02C2FA09B3B}"/>
              </a:ext>
            </a:extLst>
          </p:cNvPr>
          <p:cNvSpPr>
            <a:spLocks noGrp="1"/>
          </p:cNvSpPr>
          <p:nvPr>
            <p:ph type="body" sz="quarter" idx="11"/>
          </p:nvPr>
        </p:nvSpPr>
        <p:spPr/>
        <p:txBody>
          <a:bodyPr/>
          <a:lstStyle/>
          <a:p>
            <a:r>
              <a:rPr lang="en-US" altLang="zh-CN" dirty="0"/>
              <a:t>Thank You</a:t>
            </a:r>
            <a:endParaRPr lang="zh-CN" altLang="en-US" dirty="0"/>
          </a:p>
        </p:txBody>
      </p:sp>
    </p:spTree>
    <p:extLst>
      <p:ext uri="{BB962C8B-B14F-4D97-AF65-F5344CB8AC3E}">
        <p14:creationId xmlns:p14="http://schemas.microsoft.com/office/powerpoint/2010/main" val="103722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SJTU-2021">
      <a:dk1>
        <a:srgbClr val="000000"/>
      </a:dk1>
      <a:lt1>
        <a:srgbClr val="FFFFFF"/>
      </a:lt1>
      <a:dk2>
        <a:srgbClr val="C8161E"/>
      </a:dk2>
      <a:lt2>
        <a:srgbClr val="DBDBDB"/>
      </a:lt2>
      <a:accent1>
        <a:srgbClr val="0051EB"/>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鸿蒙">
      <a:majorFont>
        <a:latin typeface="Segoe UI"/>
        <a:ea typeface="HarmonyOS Sans SC Black"/>
        <a:cs typeface=""/>
      </a:majorFont>
      <a:minorFont>
        <a:latin typeface="Segoe UI"/>
        <a:ea typeface="HarmonyOS Sans SC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ysClr val="window" lastClr="FFFFFF"/>
        </a:solidFill>
        <a:ln w="12700" cap="flat" cmpd="sng" algn="ctr">
          <a:noFill/>
          <a:prstDash val="solid"/>
          <a:miter lim="800000"/>
        </a:ln>
        <a:effectLst/>
      </a:spPr>
      <a:bodyPr rtlCol="0" anchor="ctr"/>
      <a:lstStyle>
        <a:defPPr algn="just">
          <a:defRPr dirty="0"/>
        </a:defPPr>
      </a:lstStyle>
    </a:spDef>
  </a:objectDefaults>
  <a:extraClrSchemeLst/>
  <a:extLst>
    <a:ext uri="{05A4C25C-085E-4340-85A3-A5531E510DB2}">
      <thm15:themeFamily xmlns:thm15="http://schemas.microsoft.com/office/thememl/2012/main" name="演示文稿1" id="{58207EA5-DF65-41EA-AC31-C4A3CCF3DB63}" vid="{ECDA9F49-FF6D-42F4-A480-1F82BD0E4C8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847</TotalTime>
  <Words>3015</Words>
  <Application>Microsoft Office PowerPoint</Application>
  <PresentationFormat>宽屏</PresentationFormat>
  <Paragraphs>1316</Paragraphs>
  <Slides>25</Slides>
  <Notes>2</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25</vt:i4>
      </vt:variant>
    </vt:vector>
  </HeadingPairs>
  <TitlesOfParts>
    <vt:vector size="33" baseType="lpstr">
      <vt:lpstr>等线</vt:lpstr>
      <vt:lpstr>等线 Light</vt:lpstr>
      <vt:lpstr>宋体</vt:lpstr>
      <vt:lpstr>Arial</vt:lpstr>
      <vt:lpstr>Cambria Math</vt:lpstr>
      <vt:lpstr>Times New Roman</vt:lpstr>
      <vt:lpstr>Office 主题​​</vt:lpstr>
      <vt:lpstr>自定义设计方案</vt:lpstr>
      <vt:lpstr>PowerPoint 演示文稿</vt:lpstr>
      <vt:lpstr>信道预测任务</vt:lpstr>
      <vt:lpstr>一、研究背景</vt:lpstr>
      <vt:lpstr>二、研究方法</vt:lpstr>
      <vt:lpstr>三、模型结构-MLP</vt:lpstr>
      <vt:lpstr>三、模型结构-CNN</vt:lpstr>
      <vt:lpstr>三、模型结构-RNN</vt:lpstr>
      <vt:lpstr>三、模型结构-LSTM</vt:lpstr>
      <vt:lpstr>三、模型结构-Transformer</vt:lpstr>
      <vt:lpstr>三、模型结构-Informer</vt:lpstr>
      <vt:lpstr>三、模型结构-训练策略</vt:lpstr>
      <vt:lpstr>四、数据集</vt:lpstr>
      <vt:lpstr>五、实验结果</vt:lpstr>
      <vt:lpstr>五、实验结果</vt:lpstr>
      <vt:lpstr>五、实验结果</vt:lpstr>
      <vt:lpstr>五、实验结果</vt:lpstr>
      <vt:lpstr>五、实验结果</vt:lpstr>
      <vt:lpstr>五、实验结果</vt:lpstr>
      <vt:lpstr>五、实验结果</vt:lpstr>
      <vt:lpstr>五、实验结果</vt:lpstr>
      <vt:lpstr>五、实验结果</vt:lpstr>
      <vt:lpstr>五、实验结果</vt:lpstr>
      <vt:lpstr>五、实验结果</vt:lpstr>
      <vt:lpstr>五、实验结果</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伯涛 吴</dc:creator>
  <cp:lastModifiedBy>伯涛 吴</cp:lastModifiedBy>
  <cp:revision>125</cp:revision>
  <dcterms:created xsi:type="dcterms:W3CDTF">2024-08-27T08:35:13Z</dcterms:created>
  <dcterms:modified xsi:type="dcterms:W3CDTF">2024-09-02T13:49:16Z</dcterms:modified>
</cp:coreProperties>
</file>